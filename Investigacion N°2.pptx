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6"/>
      <p:bold r:id="rId17"/>
      <p:italic r:id="rId18"/>
      <p:boldItalic r:id="rId19"/>
    </p:embeddedFont>
    <p:embeddedFont>
      <p:font typeface="Fira Sans Condensed" panose="020B0503050000020004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Montserrat ExtraBold" panose="00000900000000000000" pitchFamily="2" charset="0"/>
      <p:bold r:id="rId28"/>
      <p:boldItalic r:id="rId29"/>
    </p:embeddedFont>
    <p:embeddedFont>
      <p:font typeface="Montserrat Light" panose="00000400000000000000" pitchFamily="2" charset="0"/>
      <p:regular r:id="rId30"/>
      <p:bold r:id="rId31"/>
      <p:italic r:id="rId32"/>
      <p:boldItalic r:id="rId33"/>
    </p:embeddedFont>
    <p:embeddedFont>
      <p:font typeface="Ubuntu" panose="020B0504030602030204" pitchFamily="34" charset="0"/>
      <p:regular r:id="rId34"/>
      <p:bold r:id="rId35"/>
      <p:italic r:id="rId36"/>
      <p:boldItalic r:id="rId37"/>
    </p:embeddedFont>
    <p:embeddedFont>
      <p:font typeface="Yanone Kaffeesatz" panose="020B0604020202020204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BC8D2BF-0462-4FAD-9FAC-F96ABD9794CF}">
  <a:tblStyle styleId="{FBC8D2BF-0462-4FAD-9FAC-F96ABD9794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52cab6e55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52cab6e55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6ed1775e4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6ed1775e4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afb59caa63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afb59caa63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afb59caa63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afb59caa63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6ed1775e42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6ed1775e42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6f078010ed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6f078010ed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6f078010ed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6f078010ed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6f0744aa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6f0744aa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afb59caa63_0_1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afb59caa63_0_1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6f0744aa7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6f0744aa7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6f0744aa72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6f0744aa72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6f0744aa72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6f0744aa72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1700" y="1779300"/>
            <a:ext cx="8520600" cy="9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sz="3000" b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43050" y="2888250"/>
            <a:ext cx="365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7513150" y="0"/>
            <a:ext cx="1668900" cy="51435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FFFFFF">
                  <a:alpha val="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6672" y="-827887"/>
            <a:ext cx="6153101" cy="679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112425" y="2227050"/>
            <a:ext cx="2876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5112425" y="1027125"/>
            <a:ext cx="2445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5112425" y="3194925"/>
            <a:ext cx="3156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 rot="-7199997">
            <a:off x="4531704" y="539794"/>
            <a:ext cx="5918750" cy="654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686700" y="1076275"/>
            <a:ext cx="76845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AutoNum type="arabicPeriod"/>
              <a:defRPr sz="1250"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lphaLcPeriod"/>
              <a:defRPr sz="125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romanLcPeriod"/>
              <a:defRPr sz="125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rabicPeriod"/>
              <a:defRPr sz="125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lphaLcPeriod"/>
              <a:defRPr sz="125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romanLcPeriod"/>
              <a:defRPr sz="125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rabicPeriod"/>
              <a:defRPr sz="125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lphaLcPeriod"/>
              <a:defRPr sz="125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Muli"/>
              <a:buAutoNum type="romanLcPeriod"/>
              <a:defRPr sz="125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1781425" y="378225"/>
            <a:ext cx="65898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 r="8215"/>
          <a:stretch/>
        </p:blipFill>
        <p:spPr>
          <a:xfrm>
            <a:off x="658750" y="-1397100"/>
            <a:ext cx="7826501" cy="743729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2400850" y="378225"/>
            <a:ext cx="59703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1008350" y="146045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1008350" y="2183050"/>
            <a:ext cx="3015900" cy="1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647114" y="1532427"/>
            <a:ext cx="6751897" cy="224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3192424" y="1047350"/>
            <a:ext cx="12336426" cy="409614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4998775" y="1276500"/>
            <a:ext cx="33552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4998775" y="2110500"/>
            <a:ext cx="3355200" cy="16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r="8215"/>
          <a:stretch/>
        </p:blipFill>
        <p:spPr>
          <a:xfrm>
            <a:off x="658750" y="-1397100"/>
            <a:ext cx="7826501" cy="743729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702450" y="1773225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702450" y="207030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2"/>
          </p:nvPr>
        </p:nvSpPr>
        <p:spPr>
          <a:xfrm>
            <a:off x="3598650" y="1773225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3"/>
          </p:nvPr>
        </p:nvSpPr>
        <p:spPr>
          <a:xfrm>
            <a:off x="3598650" y="207030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4"/>
          </p:nvPr>
        </p:nvSpPr>
        <p:spPr>
          <a:xfrm>
            <a:off x="6494850" y="1773225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5"/>
          </p:nvPr>
        </p:nvSpPr>
        <p:spPr>
          <a:xfrm>
            <a:off x="6494850" y="207030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6"/>
          </p:nvPr>
        </p:nvSpPr>
        <p:spPr>
          <a:xfrm>
            <a:off x="5039900" y="3501280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7"/>
          </p:nvPr>
        </p:nvSpPr>
        <p:spPr>
          <a:xfrm>
            <a:off x="5039888" y="379823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8"/>
          </p:nvPr>
        </p:nvSpPr>
        <p:spPr>
          <a:xfrm>
            <a:off x="2157425" y="3501280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9"/>
          </p:nvPr>
        </p:nvSpPr>
        <p:spPr>
          <a:xfrm>
            <a:off x="2157413" y="379823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3" hasCustomPrompt="1"/>
          </p:nvPr>
        </p:nvSpPr>
        <p:spPr>
          <a:xfrm>
            <a:off x="1139400" y="128332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4" hasCustomPrompt="1"/>
          </p:nvPr>
        </p:nvSpPr>
        <p:spPr>
          <a:xfrm>
            <a:off x="4035600" y="128332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5" hasCustomPrompt="1"/>
          </p:nvPr>
        </p:nvSpPr>
        <p:spPr>
          <a:xfrm>
            <a:off x="6931800" y="128332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16" hasCustomPrompt="1"/>
          </p:nvPr>
        </p:nvSpPr>
        <p:spPr>
          <a:xfrm>
            <a:off x="5476850" y="3007778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7" hasCustomPrompt="1"/>
          </p:nvPr>
        </p:nvSpPr>
        <p:spPr>
          <a:xfrm>
            <a:off x="2594375" y="301551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SECTION_TITLE_AND_DESCRIPTION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2400850" y="378225"/>
            <a:ext cx="59703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 idx="2" hasCustomPrompt="1"/>
          </p:nvPr>
        </p:nvSpPr>
        <p:spPr>
          <a:xfrm>
            <a:off x="2477100" y="1022775"/>
            <a:ext cx="657000" cy="7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Barlow"/>
              <a:buNone/>
              <a:defRPr sz="24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 flipH="1">
            <a:off x="3139506" y="1259025"/>
            <a:ext cx="1779300" cy="2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veat"/>
              <a:buNone/>
              <a:defRPr sz="20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3"/>
          </p:nvPr>
        </p:nvSpPr>
        <p:spPr>
          <a:xfrm>
            <a:off x="5152806" y="1220900"/>
            <a:ext cx="32013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title" idx="4" hasCustomPrompt="1"/>
          </p:nvPr>
        </p:nvSpPr>
        <p:spPr>
          <a:xfrm>
            <a:off x="2477100" y="1772447"/>
            <a:ext cx="657000" cy="7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Barlow"/>
              <a:buNone/>
              <a:defRPr sz="24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>
            <a:r>
              <a:t>xx%</a:t>
            </a:r>
          </a:p>
        </p:txBody>
      </p:sp>
      <p:sp>
        <p:nvSpPr>
          <p:cNvPr id="75" name="Google Shape;75;p14"/>
          <p:cNvSpPr txBox="1">
            <a:spLocks noGrp="1"/>
          </p:cNvSpPr>
          <p:nvPr>
            <p:ph type="subTitle" idx="5"/>
          </p:nvPr>
        </p:nvSpPr>
        <p:spPr>
          <a:xfrm flipH="1">
            <a:off x="3139506" y="2008700"/>
            <a:ext cx="1777200" cy="2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veat"/>
              <a:buNone/>
              <a:defRPr sz="20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ubTitle" idx="6"/>
          </p:nvPr>
        </p:nvSpPr>
        <p:spPr>
          <a:xfrm>
            <a:off x="5146886" y="1970580"/>
            <a:ext cx="32064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title" idx="7" hasCustomPrompt="1"/>
          </p:nvPr>
        </p:nvSpPr>
        <p:spPr>
          <a:xfrm>
            <a:off x="2477100" y="2522122"/>
            <a:ext cx="657000" cy="7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Barlow"/>
              <a:buNone/>
              <a:defRPr sz="24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4"/>
          <p:cNvSpPr txBox="1">
            <a:spLocks noGrp="1"/>
          </p:cNvSpPr>
          <p:nvPr>
            <p:ph type="subTitle" idx="8"/>
          </p:nvPr>
        </p:nvSpPr>
        <p:spPr>
          <a:xfrm flipH="1">
            <a:off x="3139506" y="2759849"/>
            <a:ext cx="1779300" cy="2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veat"/>
              <a:buNone/>
              <a:defRPr sz="20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ubTitle" idx="9"/>
          </p:nvPr>
        </p:nvSpPr>
        <p:spPr>
          <a:xfrm>
            <a:off x="5143119" y="2721733"/>
            <a:ext cx="32013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title" idx="13" hasCustomPrompt="1"/>
          </p:nvPr>
        </p:nvSpPr>
        <p:spPr>
          <a:xfrm>
            <a:off x="2477100" y="3275277"/>
            <a:ext cx="657000" cy="7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Barlow"/>
              <a:buNone/>
              <a:defRPr sz="24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14"/>
          </p:nvPr>
        </p:nvSpPr>
        <p:spPr>
          <a:xfrm flipH="1">
            <a:off x="3139506" y="3511527"/>
            <a:ext cx="1777200" cy="2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veat"/>
              <a:buNone/>
              <a:defRPr sz="20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5"/>
          </p:nvPr>
        </p:nvSpPr>
        <p:spPr>
          <a:xfrm>
            <a:off x="5142250" y="3473428"/>
            <a:ext cx="32064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 idx="16" hasCustomPrompt="1"/>
          </p:nvPr>
        </p:nvSpPr>
        <p:spPr>
          <a:xfrm>
            <a:off x="2477100" y="4021475"/>
            <a:ext cx="657000" cy="7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Barlow"/>
              <a:buNone/>
              <a:defRPr sz="24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0"/>
              <a:buFont typeface="Yanone Kaffeesatz"/>
              <a:buNone/>
              <a:defRPr sz="10000">
                <a:solidFill>
                  <a:schemeClr val="accent2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17"/>
          </p:nvPr>
        </p:nvSpPr>
        <p:spPr>
          <a:xfrm flipH="1">
            <a:off x="3139506" y="4257750"/>
            <a:ext cx="1777200" cy="2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veat"/>
              <a:buNone/>
              <a:defRPr sz="20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Condensed"/>
              <a:buNone/>
              <a:defRPr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ubTitle" idx="18"/>
          </p:nvPr>
        </p:nvSpPr>
        <p:spPr>
          <a:xfrm>
            <a:off x="5142250" y="4219650"/>
            <a:ext cx="32064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86" name="Google Shape;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2739" y="1960725"/>
            <a:ext cx="1888727" cy="3164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1">
  <p:cSld name="CUSTOM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5"/>
          <p:cNvPicPr preferRelativeResize="0"/>
          <p:nvPr/>
        </p:nvPicPr>
        <p:blipFill rotWithShape="1">
          <a:blip r:embed="rId2">
            <a:alphaModFix/>
          </a:blip>
          <a:srcRect l="30" r="30"/>
          <a:stretch/>
        </p:blipFill>
        <p:spPr>
          <a:xfrm rot="10800000">
            <a:off x="886002" y="137500"/>
            <a:ext cx="8702104" cy="486849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1396950" y="1650313"/>
            <a:ext cx="6350100" cy="128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80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1887750" y="2908788"/>
            <a:ext cx="53685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3758000" y="378225"/>
            <a:ext cx="46131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 rot="-1365984">
            <a:off x="-1511771" y="-174252"/>
            <a:ext cx="5918748" cy="6540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>
            <a:spLocks noGrp="1"/>
          </p:cNvSpPr>
          <p:nvPr>
            <p:ph type="title"/>
          </p:nvPr>
        </p:nvSpPr>
        <p:spPr>
          <a:xfrm>
            <a:off x="3229175" y="378225"/>
            <a:ext cx="5142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" y="2801493"/>
            <a:ext cx="9144003" cy="3036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434928" y="-827887"/>
            <a:ext cx="6153101" cy="679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2444022" y="-827887"/>
            <a:ext cx="6153101" cy="6799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6672" y="-827887"/>
            <a:ext cx="6153101" cy="6799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00237D"/>
            </a:gs>
            <a:gs pos="100000">
              <a:srgbClr val="01144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ExtraBold"/>
              <a:buNone/>
              <a:defRPr sz="28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Char char="●"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5" r:id="rId6"/>
    <p:sldLayoutId id="2147483658" r:id="rId7"/>
    <p:sldLayoutId id="2147483659" r:id="rId8"/>
    <p:sldLayoutId id="2147483660" r:id="rId9"/>
    <p:sldLayoutId id="2147483661" r:id="rId10"/>
    <p:sldLayoutId id="2147483669" r:id="rId11"/>
    <p:sldLayoutId id="2147483670" r:id="rId12"/>
    <p:sldLayoutId id="2147483691" r:id="rId13"/>
    <p:sldLayoutId id="2147483692" r:id="rId14"/>
    <p:sldLayoutId id="214748369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slide" Target="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37D"/>
            </a:gs>
            <a:gs pos="100000">
              <a:srgbClr val="01144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862CB9C-540F-BDBA-7A79-B59037A11C74}"/>
              </a:ext>
            </a:extLst>
          </p:cNvPr>
          <p:cNvSpPr/>
          <p:nvPr/>
        </p:nvSpPr>
        <p:spPr>
          <a:xfrm>
            <a:off x="8477250" y="8658860"/>
            <a:ext cx="1806575" cy="484505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A"/>
          </a:p>
        </p:txBody>
      </p:sp>
      <p:pic>
        <p:nvPicPr>
          <p:cNvPr id="3073" name="Image 1" descr="Descripción: FISC">
            <a:extLst>
              <a:ext uri="{FF2B5EF4-FFF2-40B4-BE49-F238E27FC236}">
                <a16:creationId xmlns:a16="http://schemas.microsoft.com/office/drawing/2014/main" id="{AE9BFAF1-1D38-2F41-4425-4B40CEFA6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-1020763" y="457200"/>
            <a:ext cx="928688" cy="113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2">
            <a:extLst>
              <a:ext uri="{FF2B5EF4-FFF2-40B4-BE49-F238E27FC236}">
                <a16:creationId xmlns:a16="http://schemas.microsoft.com/office/drawing/2014/main" id="{0604249E-F483-61AF-72D8-E9CBF3349733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2569403" y="278296"/>
            <a:ext cx="4005193" cy="467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Universidad </a:t>
            </a:r>
            <a:r>
              <a:rPr kumimoji="0" lang="en-US" altLang="es-PA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Tecnológica</a:t>
            </a: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Panamá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Facultad</a:t>
            </a: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</a:t>
            </a:r>
            <a:r>
              <a:rPr kumimoji="0" lang="en-US" altLang="es-PA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Sistemas</a:t>
            </a: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s-PA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Computacionales</a:t>
            </a:r>
            <a:endParaRPr kumimoji="0" lang="en-US" altLang="es-PA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Carrera </a:t>
            </a:r>
            <a:r>
              <a:rPr kumimoji="0" lang="en-US" altLang="es-PA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Lic</a:t>
            </a: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En </a:t>
            </a:r>
            <a:r>
              <a:rPr kumimoji="0" lang="en-US" altLang="es-PA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Ciberseguridad</a:t>
            </a: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</a:t>
            </a: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Itmar Castillo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Profesora</a:t>
            </a: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s-PA" sz="1600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Geiner</a:t>
            </a:r>
            <a:r>
              <a:rPr lang="en-US" altLang="es-PA" sz="16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Miranda</a:t>
            </a:r>
            <a:endParaRPr kumimoji="0" lang="en-US" altLang="es-PA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Materia: </a:t>
            </a: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s-PA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Cibeseguridad</a:t>
            </a:r>
            <a:r>
              <a:rPr lang="en-US" altLang="es-PA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Salón: </a:t>
            </a: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1S3231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Asignación</a:t>
            </a: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Tarea</a:t>
            </a: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N°2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Año</a:t>
            </a: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s-PA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lectivo</a:t>
            </a: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endParaRPr kumimoji="0" lang="en-US" altLang="es-PA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2026</a:t>
            </a:r>
            <a:endParaRPr kumimoji="0" lang="en-US" altLang="es-PA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5CD544C-300B-C682-CDFF-2568E9F8E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P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2F7B0E-78F3-9BB8-4D0A-67F829165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P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6" name="Google Shape;296;p51"/>
          <p:cNvCxnSpPr>
            <a:stCxn id="297" idx="0"/>
          </p:cNvCxnSpPr>
          <p:nvPr/>
        </p:nvCxnSpPr>
        <p:spPr>
          <a:xfrm rot="10800000">
            <a:off x="789775" y="-6911"/>
            <a:ext cx="0" cy="646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51"/>
          <p:cNvSpPr txBox="1">
            <a:spLocks noGrp="1"/>
          </p:cNvSpPr>
          <p:nvPr>
            <p:ph type="body" idx="1"/>
          </p:nvPr>
        </p:nvSpPr>
        <p:spPr>
          <a:xfrm>
            <a:off x="289135" y="810917"/>
            <a:ext cx="3468809" cy="38053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sz="1100" b="1" dirty="0"/>
              <a:t>Análisis del problema</a:t>
            </a:r>
          </a:p>
          <a:p>
            <a:pPr marL="158750" indent="0">
              <a:buNone/>
            </a:pPr>
            <a:r>
              <a:rPr lang="es-MX" sz="1050" dirty="0"/>
              <a:t>Los dispositivos móviles actuales ya no solo almacenan información, sino que funcionan como </a:t>
            </a:r>
            <a:r>
              <a:rPr lang="es-MX" sz="1050" b="1" dirty="0"/>
              <a:t>centros de control</a:t>
            </a:r>
            <a:r>
              <a:rPr lang="es-MX" sz="1050" dirty="0"/>
              <a:t> para sistemas de </a:t>
            </a:r>
            <a:r>
              <a:rPr lang="es-MX" sz="1050" dirty="0" err="1"/>
              <a:t>IoT</a:t>
            </a:r>
            <a:r>
              <a:rPr lang="es-MX" sz="1050" dirty="0"/>
              <a:t> (cámaras, cerraduras inteligentes, sensores, </a:t>
            </a:r>
            <a:r>
              <a:rPr lang="es-MX" sz="1050" dirty="0" err="1"/>
              <a:t>routers</a:t>
            </a:r>
            <a:r>
              <a:rPr lang="es-MX" sz="1050" dirty="0"/>
              <a:t>, autos inteligentes, asistentes de voz). Además, con el avance de la IA, los móviles ejecutan: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/>
              <a:t>Reconocimiento facial y biometría avanzada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/>
              <a:t>Asistentes inteligentes (IA generativa)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/>
              <a:t>Automatización de decisiones (rutinas, accesos, pagos)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/>
              <a:t>Procesamiento de datos sensibles (voz, imágenes, ubicación) </a:t>
            </a:r>
          </a:p>
          <a:p>
            <a:pPr marL="158750" indent="0">
              <a:buNone/>
            </a:pPr>
            <a:r>
              <a:rPr lang="es-MX" sz="1050" dirty="0"/>
              <a:t>Esto incrementa la superficie de ataque, porque ahora el móvil se convierte en una puerta de entrada hacia una red </a:t>
            </a:r>
            <a:r>
              <a:rPr lang="es-MX" sz="1050" dirty="0" err="1"/>
              <a:t>IoT</a:t>
            </a:r>
            <a:r>
              <a:rPr lang="es-MX" sz="1050" dirty="0"/>
              <a:t> completa.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250" dirty="0"/>
          </a:p>
        </p:txBody>
      </p:sp>
      <p:sp>
        <p:nvSpPr>
          <p:cNvPr id="299" name="Google Shape;299;p51"/>
          <p:cNvSpPr txBox="1">
            <a:spLocks noGrp="1"/>
          </p:cNvSpPr>
          <p:nvPr>
            <p:ph type="title"/>
          </p:nvPr>
        </p:nvSpPr>
        <p:spPr>
          <a:xfrm>
            <a:off x="789774" y="169039"/>
            <a:ext cx="8101338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Seguridad en dispositivos móviles orientados a IA e </a:t>
            </a:r>
            <a:r>
              <a:rPr lang="es-PA" dirty="0" err="1"/>
              <a:t>IoT</a:t>
            </a:r>
            <a:endParaRPr dirty="0"/>
          </a:p>
        </p:txBody>
      </p:sp>
      <p:sp>
        <p:nvSpPr>
          <p:cNvPr id="301" name="Google Shape;301;p51">
            <a:hlinkClick r:id="" action="ppaction://hlinkshowjump?jump=previousslide"/>
          </p:cNvPr>
          <p:cNvSpPr/>
          <p:nvPr/>
        </p:nvSpPr>
        <p:spPr>
          <a:xfrm rot="10800000">
            <a:off x="745722" y="380661"/>
            <a:ext cx="88200" cy="882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51">
            <a:hlinkClick r:id="" action="ppaction://hlinkshowjump?jump=nextslide"/>
          </p:cNvPr>
          <p:cNvSpPr/>
          <p:nvPr/>
        </p:nvSpPr>
        <p:spPr>
          <a:xfrm>
            <a:off x="745525" y="639889"/>
            <a:ext cx="88500" cy="885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D0BB694-EB25-4423-FBF0-CA5028DE14D1}"/>
              </a:ext>
            </a:extLst>
          </p:cNvPr>
          <p:cNvSpPr txBox="1"/>
          <p:nvPr/>
        </p:nvSpPr>
        <p:spPr>
          <a:xfrm>
            <a:off x="3945834" y="639889"/>
            <a:ext cx="5198165" cy="445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/>
                </a:solidFill>
              </a:rPr>
              <a:t>Solución y mitigación </a:t>
            </a:r>
          </a:p>
          <a:p>
            <a:endParaRPr lang="es-MX" sz="1050" b="1" dirty="0">
              <a:solidFill>
                <a:schemeClr val="bg1"/>
              </a:solidFill>
            </a:endParaRPr>
          </a:p>
          <a:p>
            <a:r>
              <a:rPr lang="es-MX" sz="1050" b="1" dirty="0">
                <a:solidFill>
                  <a:schemeClr val="bg1"/>
                </a:solidFill>
              </a:rPr>
              <a:t>Seguridad del dispositivo móvil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Activar </a:t>
            </a:r>
            <a:r>
              <a:rPr lang="es-MX" sz="1050" b="1" dirty="0">
                <a:solidFill>
                  <a:schemeClr val="bg1"/>
                </a:solidFill>
              </a:rPr>
              <a:t>cifrado completo del dispositivo</a:t>
            </a:r>
            <a:r>
              <a:rPr lang="es-MX" sz="1050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Bloqueo con </a:t>
            </a:r>
            <a:r>
              <a:rPr lang="es-MX" sz="1050" b="1" dirty="0">
                <a:solidFill>
                  <a:schemeClr val="bg1"/>
                </a:solidFill>
              </a:rPr>
              <a:t>PIN fuerte</a:t>
            </a:r>
            <a:r>
              <a:rPr lang="es-MX" sz="1050" dirty="0">
                <a:solidFill>
                  <a:schemeClr val="bg1"/>
                </a:solidFill>
              </a:rPr>
              <a:t> (mínimo 8 dígitos) + biometría.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Activar borrado remoto (</a:t>
            </a:r>
            <a:r>
              <a:rPr lang="es-MX" sz="1050" dirty="0" err="1">
                <a:solidFill>
                  <a:schemeClr val="bg1"/>
                </a:solidFill>
              </a:rPr>
              <a:t>Find</a:t>
            </a:r>
            <a:r>
              <a:rPr lang="es-MX" sz="1050" dirty="0">
                <a:solidFill>
                  <a:schemeClr val="bg1"/>
                </a:solidFill>
              </a:rPr>
              <a:t> </a:t>
            </a:r>
            <a:r>
              <a:rPr lang="es-MX" sz="1050" dirty="0" err="1">
                <a:solidFill>
                  <a:schemeClr val="bg1"/>
                </a:solidFill>
              </a:rPr>
              <a:t>My</a:t>
            </a:r>
            <a:r>
              <a:rPr lang="es-MX" sz="1050" dirty="0">
                <a:solidFill>
                  <a:schemeClr val="bg1"/>
                </a:solidFill>
              </a:rPr>
              <a:t> iPhone / </a:t>
            </a:r>
            <a:r>
              <a:rPr lang="es-MX" sz="1050" dirty="0" err="1">
                <a:solidFill>
                  <a:schemeClr val="bg1"/>
                </a:solidFill>
              </a:rPr>
              <a:t>Find</a:t>
            </a:r>
            <a:r>
              <a:rPr lang="es-MX" sz="1050" dirty="0">
                <a:solidFill>
                  <a:schemeClr val="bg1"/>
                </a:solidFill>
              </a:rPr>
              <a:t> </a:t>
            </a:r>
            <a:r>
              <a:rPr lang="es-MX" sz="1050" dirty="0" err="1">
                <a:solidFill>
                  <a:schemeClr val="bg1"/>
                </a:solidFill>
              </a:rPr>
              <a:t>My</a:t>
            </a:r>
            <a:r>
              <a:rPr lang="es-MX" sz="1050" dirty="0">
                <a:solidFill>
                  <a:schemeClr val="bg1"/>
                </a:solidFill>
              </a:rPr>
              <a:t> </a:t>
            </a:r>
            <a:r>
              <a:rPr lang="es-MX" sz="1050" dirty="0" err="1">
                <a:solidFill>
                  <a:schemeClr val="bg1"/>
                </a:solidFill>
              </a:rPr>
              <a:t>Device</a:t>
            </a:r>
            <a:r>
              <a:rPr lang="es-MX" sz="1050" dirty="0">
                <a:solidFill>
                  <a:schemeClr val="bg1"/>
                </a:solidFill>
              </a:rPr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Activar bloqueo de SIM (PIN SIM).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Mantener sistema operativo siempre actualizado.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Deshabilitar instalación desde “orígenes desconocidos”. </a:t>
            </a:r>
          </a:p>
          <a:p>
            <a:endParaRPr lang="es-MX" sz="1050" dirty="0">
              <a:solidFill>
                <a:schemeClr val="bg1"/>
              </a:solidFill>
            </a:endParaRPr>
          </a:p>
          <a:p>
            <a:r>
              <a:rPr lang="es-MX" sz="1050" b="1" dirty="0">
                <a:solidFill>
                  <a:schemeClr val="bg1"/>
                </a:solidFill>
              </a:rPr>
              <a:t>Seguridad orientada a 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Evitar compartir datos privados con apps de IA (documentos, claves, fotos íntimas).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Revisar permisos de apps IA (micrófono, cámara, almacenamiento).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No autorizar modelos IA que pidan permisos excesivos.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Desactivar “mejoras de IA” en teclado si guarda historial sensible. 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050" dirty="0">
              <a:solidFill>
                <a:schemeClr val="bg1"/>
              </a:solidFill>
            </a:endParaRPr>
          </a:p>
          <a:p>
            <a:r>
              <a:rPr lang="es-MX" sz="1050" b="1" dirty="0">
                <a:solidFill>
                  <a:schemeClr val="bg1"/>
                </a:solidFill>
              </a:rPr>
              <a:t> Seguridad </a:t>
            </a:r>
            <a:r>
              <a:rPr lang="es-MX" sz="1050" b="1" dirty="0" err="1">
                <a:solidFill>
                  <a:schemeClr val="bg1"/>
                </a:solidFill>
              </a:rPr>
              <a:t>IoT</a:t>
            </a:r>
            <a:r>
              <a:rPr lang="es-MX" sz="1050" b="1" dirty="0">
                <a:solidFill>
                  <a:schemeClr val="bg1"/>
                </a:solidFill>
              </a:rPr>
              <a:t> controlada desde el móvil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Separar la red </a:t>
            </a:r>
            <a:r>
              <a:rPr lang="es-MX" sz="1050" dirty="0" err="1">
                <a:solidFill>
                  <a:schemeClr val="bg1"/>
                </a:solidFill>
              </a:rPr>
              <a:t>IoT</a:t>
            </a:r>
            <a:r>
              <a:rPr lang="es-MX" sz="1050" dirty="0">
                <a:solidFill>
                  <a:schemeClr val="bg1"/>
                </a:solidFill>
              </a:rPr>
              <a:t> en una red diferente (</a:t>
            </a:r>
            <a:r>
              <a:rPr lang="es-MX" sz="1050" dirty="0" err="1">
                <a:solidFill>
                  <a:schemeClr val="bg1"/>
                </a:solidFill>
              </a:rPr>
              <a:t>IoT</a:t>
            </a:r>
            <a:r>
              <a:rPr lang="es-MX" sz="1050" dirty="0">
                <a:solidFill>
                  <a:schemeClr val="bg1"/>
                </a:solidFill>
              </a:rPr>
              <a:t> VLAN o red de invitados).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Cambiar credenciales por defecto de todos los </a:t>
            </a:r>
            <a:r>
              <a:rPr lang="es-MX" sz="1050" dirty="0" err="1">
                <a:solidFill>
                  <a:schemeClr val="bg1"/>
                </a:solidFill>
              </a:rPr>
              <a:t>IoT</a:t>
            </a:r>
            <a:r>
              <a:rPr lang="es-MX" sz="1050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Activar autenticación MFA en apps de control </a:t>
            </a:r>
            <a:r>
              <a:rPr lang="es-MX" sz="1050" dirty="0" err="1">
                <a:solidFill>
                  <a:schemeClr val="bg1"/>
                </a:solidFill>
              </a:rPr>
              <a:t>IoT</a:t>
            </a:r>
            <a:r>
              <a:rPr lang="es-MX" sz="1050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No abrir puertos para cámaras (usar VPN). 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050" dirty="0">
              <a:solidFill>
                <a:schemeClr val="bg1"/>
              </a:solidFill>
            </a:endParaRPr>
          </a:p>
          <a:p>
            <a:r>
              <a:rPr lang="es-MX" sz="1050" b="1" dirty="0">
                <a:solidFill>
                  <a:schemeClr val="bg1"/>
                </a:solidFill>
              </a:rPr>
              <a:t> Seguridad de datos (privacidad avanzada)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Configurar permisos por app (solo cuando se usa).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Desactivar acceso a ubicación permanente.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bg1"/>
                </a:solidFill>
              </a:rPr>
              <a:t>Usar DNS seguro (</a:t>
            </a:r>
            <a:r>
              <a:rPr lang="es-MX" sz="1050" dirty="0" err="1">
                <a:solidFill>
                  <a:schemeClr val="bg1"/>
                </a:solidFill>
              </a:rPr>
              <a:t>DoH</a:t>
            </a:r>
            <a:r>
              <a:rPr lang="es-MX" sz="1050" dirty="0">
                <a:solidFill>
                  <a:schemeClr val="bg1"/>
                </a:solidFill>
              </a:rPr>
              <a:t>/</a:t>
            </a:r>
            <a:r>
              <a:rPr lang="es-MX" sz="1050" dirty="0" err="1">
                <a:solidFill>
                  <a:schemeClr val="bg1"/>
                </a:solidFill>
              </a:rPr>
              <a:t>DoT</a:t>
            </a:r>
            <a:r>
              <a:rPr lang="es-MX" sz="1050" dirty="0">
                <a:solidFill>
                  <a:schemeClr val="bg1"/>
                </a:solidFill>
              </a:rPr>
              <a:t>).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3">
            <a:hlinkClick r:id="rId3" action="ppaction://hlinksldjump"/>
          </p:cNvPr>
          <p:cNvSpPr txBox="1">
            <a:spLocks noGrp="1"/>
          </p:cNvSpPr>
          <p:nvPr>
            <p:ph type="title" idx="13"/>
          </p:nvPr>
        </p:nvSpPr>
        <p:spPr>
          <a:xfrm>
            <a:off x="1139400" y="128332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6" name="Google Shape;316;p53"/>
          <p:cNvSpPr txBox="1">
            <a:spLocks noGrp="1"/>
          </p:cNvSpPr>
          <p:nvPr>
            <p:ph type="title"/>
          </p:nvPr>
        </p:nvSpPr>
        <p:spPr>
          <a:xfrm>
            <a:off x="662726" y="1874749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br>
              <a:rPr lang="es-PA" b="1" dirty="0"/>
            </a:br>
            <a:r>
              <a:rPr lang="es-PA" b="1" dirty="0"/>
              <a:t>Protección y escaneo:</a:t>
            </a:r>
            <a:endParaRPr dirty="0"/>
          </a:p>
        </p:txBody>
      </p:sp>
      <p:sp>
        <p:nvSpPr>
          <p:cNvPr id="317" name="Google Shape;317;p53"/>
          <p:cNvSpPr txBox="1">
            <a:spLocks noGrp="1"/>
          </p:cNvSpPr>
          <p:nvPr>
            <p:ph type="subTitle" idx="1"/>
          </p:nvPr>
        </p:nvSpPr>
        <p:spPr>
          <a:xfrm>
            <a:off x="208123" y="2127985"/>
            <a:ext cx="2597331" cy="17279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PA" sz="1400" dirty="0" err="1"/>
              <a:t>Bitdefender</a:t>
            </a:r>
            <a:r>
              <a:rPr lang="es-PA" sz="1400" dirty="0"/>
              <a:t> Mobile Security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PA" sz="1400" dirty="0" err="1"/>
              <a:t>Malwarebytes</a:t>
            </a:r>
            <a:r>
              <a:rPr lang="es-PA" sz="1400" dirty="0"/>
              <a:t> Mobile Security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PA" sz="1400" dirty="0"/>
              <a:t>Kaspersky Mobile </a:t>
            </a:r>
          </a:p>
        </p:txBody>
      </p:sp>
      <p:sp>
        <p:nvSpPr>
          <p:cNvPr id="318" name="Google Shape;318;p53"/>
          <p:cNvSpPr txBox="1">
            <a:spLocks noGrp="1"/>
          </p:cNvSpPr>
          <p:nvPr>
            <p:ph type="title" idx="2"/>
          </p:nvPr>
        </p:nvSpPr>
        <p:spPr>
          <a:xfrm>
            <a:off x="3598650" y="1773224"/>
            <a:ext cx="1946700" cy="7233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PA" sz="1600" b="1" dirty="0"/>
              <a:t>Gestión de contraseñas:</a:t>
            </a:r>
            <a:br>
              <a:rPr lang="es-PA" sz="1600" dirty="0"/>
            </a:br>
            <a:endParaRPr dirty="0"/>
          </a:p>
        </p:txBody>
      </p:sp>
      <p:sp>
        <p:nvSpPr>
          <p:cNvPr id="319" name="Google Shape;319;p53"/>
          <p:cNvSpPr txBox="1">
            <a:spLocks noGrp="1"/>
          </p:cNvSpPr>
          <p:nvPr>
            <p:ph type="subTitle" idx="3"/>
          </p:nvPr>
        </p:nvSpPr>
        <p:spPr>
          <a:xfrm>
            <a:off x="3326802" y="2120602"/>
            <a:ext cx="3276314" cy="11851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s-PA" sz="1400" dirty="0" err="1"/>
              <a:t>Bitwarden</a:t>
            </a:r>
            <a:r>
              <a:rPr lang="es-PA" sz="1400" dirty="0"/>
              <a:t> (recomendado) </a:t>
            </a:r>
          </a:p>
          <a:p>
            <a:pPr marL="114300" indent="0" algn="l"/>
            <a:r>
              <a:rPr lang="es-PA" sz="1400" dirty="0"/>
              <a:t>1Password </a:t>
            </a:r>
          </a:p>
          <a:p>
            <a:pPr marL="114300" indent="0" algn="l"/>
            <a:r>
              <a:rPr lang="es-PA" sz="1400" dirty="0" err="1"/>
              <a:t>KeePassXC</a:t>
            </a:r>
            <a:r>
              <a:rPr lang="es-PA" sz="1400" dirty="0"/>
              <a:t> (manual)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0" name="Google Shape;320;p53"/>
          <p:cNvSpPr txBox="1">
            <a:spLocks noGrp="1"/>
          </p:cNvSpPr>
          <p:nvPr>
            <p:ph type="title" idx="4"/>
          </p:nvPr>
        </p:nvSpPr>
        <p:spPr>
          <a:xfrm>
            <a:off x="6494850" y="1843181"/>
            <a:ext cx="2204841" cy="2489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s-PA" sz="1600" b="1" dirty="0"/>
              <a:t>Firewall (Android):</a:t>
            </a:r>
            <a:endParaRPr lang="es-PA" sz="1600" dirty="0"/>
          </a:p>
        </p:txBody>
      </p:sp>
      <p:sp>
        <p:nvSpPr>
          <p:cNvPr id="321" name="Google Shape;321;p53"/>
          <p:cNvSpPr txBox="1">
            <a:spLocks noGrp="1"/>
          </p:cNvSpPr>
          <p:nvPr>
            <p:ph type="subTitle" idx="5"/>
          </p:nvPr>
        </p:nvSpPr>
        <p:spPr>
          <a:xfrm>
            <a:off x="6494850" y="207030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PA" sz="1400" dirty="0" err="1"/>
              <a:t>NetGuard</a:t>
            </a:r>
            <a:r>
              <a:rPr lang="es-PA" sz="1400" dirty="0"/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PA" sz="1400" dirty="0" err="1"/>
              <a:t>RethinkDNS</a:t>
            </a:r>
            <a:endParaRPr lang="es-PA"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2" name="Google Shape;322;p53"/>
          <p:cNvSpPr txBox="1">
            <a:spLocks noGrp="1"/>
          </p:cNvSpPr>
          <p:nvPr>
            <p:ph type="title" idx="6"/>
          </p:nvPr>
        </p:nvSpPr>
        <p:spPr>
          <a:xfrm>
            <a:off x="5039888" y="3799199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PA" sz="1600" b="1" dirty="0"/>
              <a:t>Autenticación MFA:</a:t>
            </a:r>
            <a:br>
              <a:rPr lang="es-PA" sz="1600" dirty="0"/>
            </a:br>
            <a:endParaRPr dirty="0"/>
          </a:p>
        </p:txBody>
      </p:sp>
      <p:sp>
        <p:nvSpPr>
          <p:cNvPr id="323" name="Google Shape;323;p53"/>
          <p:cNvSpPr txBox="1">
            <a:spLocks noGrp="1"/>
          </p:cNvSpPr>
          <p:nvPr>
            <p:ph type="subTitle" idx="7"/>
          </p:nvPr>
        </p:nvSpPr>
        <p:spPr>
          <a:xfrm>
            <a:off x="4483296" y="3848246"/>
            <a:ext cx="2882475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PA" sz="1400" dirty="0"/>
              <a:t>Microsoft </a:t>
            </a:r>
            <a:r>
              <a:rPr lang="es-PA" sz="1400" dirty="0" err="1"/>
              <a:t>Authenticator</a:t>
            </a:r>
            <a:r>
              <a:rPr lang="es-PA" sz="1400" dirty="0"/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PA" sz="1400" dirty="0"/>
              <a:t>Google </a:t>
            </a:r>
            <a:r>
              <a:rPr lang="es-PA" sz="1400" dirty="0" err="1"/>
              <a:t>Authenticator</a:t>
            </a:r>
            <a:r>
              <a:rPr lang="es-PA" sz="1400" dirty="0"/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PA" sz="1400" dirty="0" err="1"/>
              <a:t>Authy</a:t>
            </a:r>
            <a:r>
              <a:rPr lang="es-PA" sz="1400" dirty="0"/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4" name="Google Shape;324;p53"/>
          <p:cNvSpPr txBox="1">
            <a:spLocks noGrp="1"/>
          </p:cNvSpPr>
          <p:nvPr>
            <p:ph type="title" idx="8"/>
          </p:nvPr>
        </p:nvSpPr>
        <p:spPr>
          <a:xfrm>
            <a:off x="2299992" y="3469916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s-PA" sz="1600" b="1" dirty="0"/>
              <a:t>VPN confiable:</a:t>
            </a:r>
            <a:endParaRPr lang="es-PA" sz="1600" dirty="0"/>
          </a:p>
        </p:txBody>
      </p:sp>
      <p:sp>
        <p:nvSpPr>
          <p:cNvPr id="325" name="Google Shape;325;p53"/>
          <p:cNvSpPr txBox="1">
            <a:spLocks noGrp="1"/>
          </p:cNvSpPr>
          <p:nvPr>
            <p:ph type="subTitle" idx="9"/>
          </p:nvPr>
        </p:nvSpPr>
        <p:spPr>
          <a:xfrm>
            <a:off x="2157413" y="379823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PA" sz="1400" dirty="0" err="1"/>
              <a:t>ProtonVPN</a:t>
            </a:r>
            <a:r>
              <a:rPr lang="es-PA" sz="1400" dirty="0"/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PA" sz="1400" dirty="0" err="1"/>
              <a:t>Mullvad</a:t>
            </a:r>
            <a:r>
              <a:rPr lang="es-PA" sz="1400" dirty="0"/>
              <a:t> VPN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PA" sz="1400" dirty="0" err="1"/>
              <a:t>NordVPN</a:t>
            </a:r>
            <a:r>
              <a:rPr lang="es-PA" sz="1400" dirty="0"/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6" name="Google Shape;326;p53">
            <a:hlinkClick r:id="" action="ppaction://noaction"/>
          </p:cNvPr>
          <p:cNvSpPr txBox="1">
            <a:spLocks noGrp="1"/>
          </p:cNvSpPr>
          <p:nvPr>
            <p:ph type="title" idx="14"/>
          </p:nvPr>
        </p:nvSpPr>
        <p:spPr>
          <a:xfrm>
            <a:off x="4035600" y="128332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27" name="Google Shape;327;p53">
            <a:hlinkClick r:id="" action="ppaction://noaction"/>
          </p:cNvPr>
          <p:cNvSpPr txBox="1">
            <a:spLocks noGrp="1"/>
          </p:cNvSpPr>
          <p:nvPr>
            <p:ph type="title" idx="15"/>
          </p:nvPr>
        </p:nvSpPr>
        <p:spPr>
          <a:xfrm>
            <a:off x="6931800" y="128332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28" name="Google Shape;328;p53">
            <a:hlinkClick r:id="" action="ppaction://noaction"/>
          </p:cNvPr>
          <p:cNvSpPr txBox="1">
            <a:spLocks noGrp="1"/>
          </p:cNvSpPr>
          <p:nvPr>
            <p:ph type="title" idx="16"/>
          </p:nvPr>
        </p:nvSpPr>
        <p:spPr>
          <a:xfrm>
            <a:off x="5476850" y="3007778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29" name="Google Shape;329;p53">
            <a:hlinkClick r:id="" action="ppaction://noaction"/>
          </p:cNvPr>
          <p:cNvSpPr txBox="1">
            <a:spLocks noGrp="1"/>
          </p:cNvSpPr>
          <p:nvPr>
            <p:ph type="title" idx="17"/>
          </p:nvPr>
        </p:nvSpPr>
        <p:spPr>
          <a:xfrm>
            <a:off x="2594375" y="301551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330" name="Google Shape;330;p53"/>
          <p:cNvCxnSpPr/>
          <p:nvPr/>
        </p:nvCxnSpPr>
        <p:spPr>
          <a:xfrm rot="10800000">
            <a:off x="1675800" y="-64575"/>
            <a:ext cx="0" cy="1347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31" name="Google Shape;331;p53"/>
          <p:cNvCxnSpPr>
            <a:cxnSpLocks/>
            <a:stCxn id="326" idx="0"/>
          </p:cNvCxnSpPr>
          <p:nvPr/>
        </p:nvCxnSpPr>
        <p:spPr>
          <a:xfrm flipV="1">
            <a:off x="4572000" y="616575"/>
            <a:ext cx="0" cy="66675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32" name="Google Shape;332;p53"/>
          <p:cNvCxnSpPr>
            <a:cxnSpLocks/>
            <a:stCxn id="327" idx="0"/>
          </p:cNvCxnSpPr>
          <p:nvPr/>
        </p:nvCxnSpPr>
        <p:spPr>
          <a:xfrm flipV="1">
            <a:off x="7468200" y="616575"/>
            <a:ext cx="0" cy="66675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33" name="Google Shape;333;p53"/>
          <p:cNvCxnSpPr>
            <a:cxnSpLocks/>
            <a:stCxn id="329" idx="0"/>
          </p:cNvCxnSpPr>
          <p:nvPr/>
        </p:nvCxnSpPr>
        <p:spPr>
          <a:xfrm flipH="1" flipV="1">
            <a:off x="3123899" y="609375"/>
            <a:ext cx="6876" cy="240614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34" name="Google Shape;334;p53"/>
          <p:cNvCxnSpPr>
            <a:cxnSpLocks/>
            <a:stCxn id="328" idx="0"/>
          </p:cNvCxnSpPr>
          <p:nvPr/>
        </p:nvCxnSpPr>
        <p:spPr>
          <a:xfrm flipV="1">
            <a:off x="6013250" y="685925"/>
            <a:ext cx="0" cy="2321853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35" name="Google Shape;335;p53"/>
          <p:cNvSpPr/>
          <p:nvPr/>
        </p:nvSpPr>
        <p:spPr>
          <a:xfrm>
            <a:off x="492045" y="0"/>
            <a:ext cx="299744" cy="1234986"/>
          </a:xfrm>
          <a:custGeom>
            <a:avLst/>
            <a:gdLst/>
            <a:ahLst/>
            <a:cxnLst/>
            <a:rect l="l" t="t" r="r" b="b"/>
            <a:pathLst>
              <a:path w="11670" h="48082" fill="none" extrusionOk="0">
                <a:moveTo>
                  <a:pt x="11599" y="0"/>
                </a:moveTo>
                <a:lnTo>
                  <a:pt x="11670" y="21647"/>
                </a:lnTo>
                <a:lnTo>
                  <a:pt x="1" y="34388"/>
                </a:lnTo>
                <a:lnTo>
                  <a:pt x="1" y="48081"/>
                </a:lnTo>
                <a:lnTo>
                  <a:pt x="6097" y="48081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53"/>
          <p:cNvGrpSpPr/>
          <p:nvPr/>
        </p:nvGrpSpPr>
        <p:grpSpPr>
          <a:xfrm>
            <a:off x="629692" y="1105264"/>
            <a:ext cx="144992" cy="269768"/>
            <a:chOff x="629692" y="1105264"/>
            <a:chExt cx="144992" cy="269768"/>
          </a:xfrm>
        </p:grpSpPr>
        <p:sp>
          <p:nvSpPr>
            <p:cNvPr id="337" name="Google Shape;337;p53"/>
            <p:cNvSpPr/>
            <p:nvPr/>
          </p:nvSpPr>
          <p:spPr>
            <a:xfrm>
              <a:off x="629692" y="1105264"/>
              <a:ext cx="144992" cy="135206"/>
            </a:xfrm>
            <a:custGeom>
              <a:avLst/>
              <a:gdLst/>
              <a:ahLst/>
              <a:cxnLst/>
              <a:rect l="l" t="t" r="r" b="b"/>
              <a:pathLst>
                <a:path w="5645" h="5264" fill="none" extrusionOk="0">
                  <a:moveTo>
                    <a:pt x="0" y="5264"/>
                  </a:moveTo>
                  <a:lnTo>
                    <a:pt x="5644" y="1"/>
                  </a:lnTo>
                </a:path>
              </a:pathLst>
            </a:custGeom>
            <a:solidFill>
              <a:schemeClr val="lt1"/>
            </a:solidFill>
            <a:ln w="22625" cap="flat" cmpd="sng">
              <a:solidFill>
                <a:schemeClr val="lt1"/>
              </a:solidFill>
              <a:prstDash val="solid"/>
              <a:miter lim="23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3"/>
            <p:cNvSpPr/>
            <p:nvPr/>
          </p:nvSpPr>
          <p:spPr>
            <a:xfrm>
              <a:off x="635188" y="1229450"/>
              <a:ext cx="135822" cy="145583"/>
            </a:xfrm>
            <a:custGeom>
              <a:avLst/>
              <a:gdLst/>
              <a:ahLst/>
              <a:cxnLst/>
              <a:rect l="l" t="t" r="r" b="b"/>
              <a:pathLst>
                <a:path w="5288" h="5668" fill="none" extrusionOk="0">
                  <a:moveTo>
                    <a:pt x="0" y="0"/>
                  </a:moveTo>
                  <a:lnTo>
                    <a:pt x="5287" y="5668"/>
                  </a:lnTo>
                </a:path>
              </a:pathLst>
            </a:custGeom>
            <a:solidFill>
              <a:schemeClr val="lt1"/>
            </a:solidFill>
            <a:ln w="22625" cap="flat" cmpd="sng">
              <a:solidFill>
                <a:schemeClr val="lt1"/>
              </a:solidFill>
              <a:prstDash val="solid"/>
              <a:miter lim="23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9" name="Google Shape;339;p53">
            <a:hlinkClick r:id="rId4" action="ppaction://hlinksldjump"/>
          </p:cNvPr>
          <p:cNvSpPr/>
          <p:nvPr/>
        </p:nvSpPr>
        <p:spPr>
          <a:xfrm>
            <a:off x="662726" y="431825"/>
            <a:ext cx="254100" cy="254100"/>
          </a:xfrm>
          <a:prstGeom prst="ellipse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600" b="1"/>
          </a:p>
        </p:txBody>
      </p:sp>
      <p:sp>
        <p:nvSpPr>
          <p:cNvPr id="340" name="Google Shape;340;p53"/>
          <p:cNvSpPr/>
          <p:nvPr/>
        </p:nvSpPr>
        <p:spPr>
          <a:xfrm>
            <a:off x="404400" y="796152"/>
            <a:ext cx="175200" cy="175200"/>
          </a:xfrm>
          <a:prstGeom prst="ellipse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41" name="Google Shape;341;p53">
            <a:hlinkClick r:id="" action="ppaction://hlinkshowjump?jump=previousslide"/>
          </p:cNvPr>
          <p:cNvSpPr/>
          <p:nvPr/>
        </p:nvSpPr>
        <p:spPr>
          <a:xfrm rot="10800000">
            <a:off x="745722" y="1066461"/>
            <a:ext cx="88200" cy="882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53">
            <a:hlinkClick r:id="" action="ppaction://hlinkshowjump?jump=nextslide"/>
          </p:cNvPr>
          <p:cNvSpPr/>
          <p:nvPr/>
        </p:nvSpPr>
        <p:spPr>
          <a:xfrm>
            <a:off x="745525" y="1325689"/>
            <a:ext cx="88500" cy="885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C857FC-37BA-2B5B-5629-8D85D396C8CE}"/>
              </a:ext>
            </a:extLst>
          </p:cNvPr>
          <p:cNvSpPr txBox="1"/>
          <p:nvPr/>
        </p:nvSpPr>
        <p:spPr>
          <a:xfrm>
            <a:off x="2012671" y="197678"/>
            <a:ext cx="61914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sz="2000" b="1" dirty="0">
                <a:solidFill>
                  <a:schemeClr val="bg1"/>
                </a:solidFill>
              </a:rPr>
              <a:t>Aplicaciones recomendadas (Android / iOS)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"/>
          <p:cNvSpPr txBox="1">
            <a:spLocks noGrp="1"/>
          </p:cNvSpPr>
          <p:nvPr>
            <p:ph type="subTitle" idx="1"/>
          </p:nvPr>
        </p:nvSpPr>
        <p:spPr>
          <a:xfrm>
            <a:off x="839775" y="227122"/>
            <a:ext cx="7743268" cy="5107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sz="2000" dirty="0"/>
              <a:t>Efectos de las Redes Sociales en la Ciberseguridad</a:t>
            </a:r>
            <a:endParaRPr lang="es-PA" sz="20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308" name="Google Shape;308;p52"/>
          <p:cNvCxnSpPr>
            <a:stCxn id="309" idx="0"/>
          </p:cNvCxnSpPr>
          <p:nvPr/>
        </p:nvCxnSpPr>
        <p:spPr>
          <a:xfrm rot="10800000">
            <a:off x="795825" y="2614"/>
            <a:ext cx="0" cy="646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0" name="Google Shape;310;p52">
            <a:hlinkClick r:id="" action="ppaction://hlinkshowjump?jump=previousslide"/>
          </p:cNvPr>
          <p:cNvSpPr/>
          <p:nvPr/>
        </p:nvSpPr>
        <p:spPr>
          <a:xfrm rot="10800000">
            <a:off x="751575" y="360879"/>
            <a:ext cx="88200" cy="882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52">
            <a:hlinkClick r:id="" action="ppaction://hlinkshowjump?jump=nextslide"/>
          </p:cNvPr>
          <p:cNvSpPr/>
          <p:nvPr/>
        </p:nvSpPr>
        <p:spPr>
          <a:xfrm>
            <a:off x="751575" y="649414"/>
            <a:ext cx="88500" cy="885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C411A7F-5982-3507-3FE1-F9A5A26BDCF3}"/>
              </a:ext>
            </a:extLst>
          </p:cNvPr>
          <p:cNvSpPr txBox="1"/>
          <p:nvPr/>
        </p:nvSpPr>
        <p:spPr>
          <a:xfrm>
            <a:off x="751575" y="976606"/>
            <a:ext cx="2879863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b="1" dirty="0">
                <a:solidFill>
                  <a:schemeClr val="bg1"/>
                </a:solidFill>
              </a:rPr>
              <a:t>Análisis del problema</a:t>
            </a:r>
          </a:p>
          <a:p>
            <a:endParaRPr lang="es-MX" sz="1200" b="1" dirty="0">
              <a:solidFill>
                <a:schemeClr val="bg1"/>
              </a:solidFill>
            </a:endParaRPr>
          </a:p>
          <a:p>
            <a:r>
              <a:rPr lang="es-MX" sz="1200" dirty="0">
                <a:solidFill>
                  <a:schemeClr val="bg1"/>
                </a:solidFill>
              </a:rPr>
              <a:t>Las redes sociales representan una de las principales fuentes de ataque, debido a que contienen información personal útil para ingeniería social.</a:t>
            </a:r>
          </a:p>
          <a:p>
            <a:endParaRPr lang="es-MX" sz="1200" dirty="0">
              <a:solidFill>
                <a:schemeClr val="bg1"/>
              </a:solidFill>
            </a:endParaRPr>
          </a:p>
          <a:p>
            <a:r>
              <a:rPr lang="es-MX" sz="1200" dirty="0">
                <a:solidFill>
                  <a:schemeClr val="bg1"/>
                </a:solidFill>
              </a:rPr>
              <a:t>Los atacantes analizan perfiles para obtener:</a:t>
            </a:r>
          </a:p>
          <a:p>
            <a:endParaRPr lang="es-MX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Fecha de nacimiento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Número de teléfono o correo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Familiares, amigos y relaciones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Ubicación actual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Rutinas (trabajo, universidad, gimnasio)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Estilo de vida y hábitos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Fotografías que contienen datos (placas, credenciales)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143618-FD7C-42B2-8153-7B1795BF0393}"/>
              </a:ext>
            </a:extLst>
          </p:cNvPr>
          <p:cNvSpPr txBox="1"/>
          <p:nvPr/>
        </p:nvSpPr>
        <p:spPr>
          <a:xfrm>
            <a:off x="4238264" y="761163"/>
            <a:ext cx="5895156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Solución y mitigación</a:t>
            </a:r>
          </a:p>
          <a:p>
            <a:pPr algn="ctr"/>
            <a:endParaRPr lang="es-MX" sz="1200" b="1" dirty="0">
              <a:solidFill>
                <a:schemeClr val="bg1"/>
              </a:solidFill>
            </a:endParaRPr>
          </a:p>
          <a:p>
            <a:r>
              <a:rPr lang="es-MX" sz="1200" b="1" dirty="0">
                <a:solidFill>
                  <a:schemeClr val="bg1"/>
                </a:solidFill>
              </a:rPr>
              <a:t> Medidas de seguridad para usuarios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Activar MFA en todas las redes sociales.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No publicar ubicación en tiempo real.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Configurar perfiles como privados.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No mostrar número de teléfono ni correo.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Evitar publicar fotos de documentos.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Evitar compartir información de rutina diaria. </a:t>
            </a:r>
          </a:p>
          <a:p>
            <a:endParaRPr lang="es-MX" sz="1200" dirty="0">
              <a:solidFill>
                <a:schemeClr val="bg1"/>
              </a:solidFill>
            </a:endParaRPr>
          </a:p>
          <a:p>
            <a:r>
              <a:rPr lang="es-MX" sz="1200" b="1" dirty="0">
                <a:solidFill>
                  <a:schemeClr val="bg1"/>
                </a:solidFill>
              </a:rPr>
              <a:t> Medidas contra ingeniería social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Verificar perfiles antes de aceptar solicitudes.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No abrir enlaces en mensajes directos.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Desconfiar de promociones “demasiado buenas”.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Nunca enviar códigos OTP o capturas de autenticación.</a:t>
            </a:r>
          </a:p>
          <a:p>
            <a:r>
              <a:rPr lang="es-MX" sz="1200" dirty="0">
                <a:solidFill>
                  <a:schemeClr val="bg1"/>
                </a:solidFill>
              </a:rPr>
              <a:t> </a:t>
            </a:r>
          </a:p>
          <a:p>
            <a:r>
              <a:rPr lang="es-MX" sz="1200" b="1" dirty="0">
                <a:solidFill>
                  <a:schemeClr val="bg1"/>
                </a:solidFill>
              </a:rPr>
              <a:t> Medidas organizacionales (empresas/universidades)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Entrenamiento obligatorio de concientización (Security </a:t>
            </a:r>
            <a:r>
              <a:rPr lang="es-MX" sz="1200" dirty="0" err="1">
                <a:solidFill>
                  <a:schemeClr val="bg1"/>
                </a:solidFill>
              </a:rPr>
              <a:t>Awareness</a:t>
            </a:r>
            <a:r>
              <a:rPr lang="es-MX" sz="1200" dirty="0">
                <a:solidFill>
                  <a:schemeClr val="bg1"/>
                </a:solidFill>
              </a:rPr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Política de redes sociales (qué se puede publicar y qué no).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Uso de herramientas OSINT defensivas para detectar filtraciones.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bg1"/>
                </a:solidFill>
              </a:rPr>
              <a:t>Monitoreo de marca e identidad corporativa.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4">
            <a:hlinkClick r:id="" action="ppaction://noaction"/>
          </p:cNvPr>
          <p:cNvSpPr txBox="1">
            <a:spLocks noGrp="1"/>
          </p:cNvSpPr>
          <p:nvPr>
            <p:ph type="title" idx="4"/>
          </p:nvPr>
        </p:nvSpPr>
        <p:spPr>
          <a:xfrm>
            <a:off x="2080299" y="1987109"/>
            <a:ext cx="657000" cy="7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8" name="Google Shape;348;p54"/>
          <p:cNvSpPr txBox="1">
            <a:spLocks noGrp="1"/>
          </p:cNvSpPr>
          <p:nvPr>
            <p:ph type="subTitle" idx="5"/>
          </p:nvPr>
        </p:nvSpPr>
        <p:spPr>
          <a:xfrm flipH="1">
            <a:off x="3116567" y="2251637"/>
            <a:ext cx="1954845" cy="2073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Google </a:t>
            </a:r>
            <a:r>
              <a:rPr lang="es-PA" dirty="0" err="1"/>
              <a:t>Alerts</a:t>
            </a:r>
            <a:endParaRPr dirty="0"/>
          </a:p>
        </p:txBody>
      </p:sp>
      <p:sp>
        <p:nvSpPr>
          <p:cNvPr id="349" name="Google Shape;349;p54">
            <a:hlinkClick r:id="" action="ppaction://noaction"/>
          </p:cNvPr>
          <p:cNvSpPr txBox="1">
            <a:spLocks noGrp="1"/>
          </p:cNvSpPr>
          <p:nvPr>
            <p:ph type="title" idx="13"/>
          </p:nvPr>
        </p:nvSpPr>
        <p:spPr>
          <a:xfrm>
            <a:off x="2080299" y="3489939"/>
            <a:ext cx="657000" cy="7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50" name="Google Shape;350;p54"/>
          <p:cNvSpPr txBox="1">
            <a:spLocks noGrp="1"/>
          </p:cNvSpPr>
          <p:nvPr>
            <p:ph type="subTitle" idx="6"/>
          </p:nvPr>
        </p:nvSpPr>
        <p:spPr>
          <a:xfrm>
            <a:off x="5301592" y="2174871"/>
            <a:ext cx="32064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alertas de nombre/empresa</a:t>
            </a:r>
            <a:endParaRPr dirty="0"/>
          </a:p>
        </p:txBody>
      </p:sp>
      <p:sp>
        <p:nvSpPr>
          <p:cNvPr id="351" name="Google Shape;351;p54"/>
          <p:cNvSpPr txBox="1">
            <a:spLocks noGrp="1"/>
          </p:cNvSpPr>
          <p:nvPr>
            <p:ph type="subTitle" idx="1"/>
          </p:nvPr>
        </p:nvSpPr>
        <p:spPr>
          <a:xfrm flipH="1">
            <a:off x="2777414" y="1414189"/>
            <a:ext cx="2441863" cy="4036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Have I Been </a:t>
            </a:r>
            <a:r>
              <a:rPr lang="en-US" sz="1400" dirty="0" err="1"/>
              <a:t>Pwned</a:t>
            </a:r>
            <a:r>
              <a:rPr lang="en-US" sz="1400" dirty="0"/>
              <a:t> (web)</a:t>
            </a:r>
            <a:endParaRPr sz="1400" dirty="0"/>
          </a:p>
        </p:txBody>
      </p:sp>
      <p:sp>
        <p:nvSpPr>
          <p:cNvPr id="352" name="Google Shape;352;p54">
            <a:hlinkClick r:id="" action="ppaction://noaction"/>
          </p:cNvPr>
          <p:cNvSpPr txBox="1">
            <a:spLocks noGrp="1"/>
          </p:cNvSpPr>
          <p:nvPr>
            <p:ph type="title" idx="7"/>
          </p:nvPr>
        </p:nvSpPr>
        <p:spPr>
          <a:xfrm>
            <a:off x="2080299" y="2736784"/>
            <a:ext cx="657000" cy="7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53" name="Google Shape;353;p54">
            <a:hlinkClick r:id="rId3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2080299" y="1237437"/>
            <a:ext cx="657000" cy="7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54" name="Google Shape;354;p54"/>
          <p:cNvSpPr txBox="1">
            <a:spLocks noGrp="1"/>
          </p:cNvSpPr>
          <p:nvPr>
            <p:ph type="title"/>
          </p:nvPr>
        </p:nvSpPr>
        <p:spPr>
          <a:xfrm>
            <a:off x="1244818" y="397185"/>
            <a:ext cx="59703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Aplicaciones útiles</a:t>
            </a:r>
            <a:endParaRPr dirty="0"/>
          </a:p>
        </p:txBody>
      </p:sp>
      <p:sp>
        <p:nvSpPr>
          <p:cNvPr id="355" name="Google Shape;355;p54"/>
          <p:cNvSpPr txBox="1">
            <a:spLocks noGrp="1"/>
          </p:cNvSpPr>
          <p:nvPr>
            <p:ph type="subTitle" idx="3"/>
          </p:nvPr>
        </p:nvSpPr>
        <p:spPr>
          <a:xfrm>
            <a:off x="5307512" y="1425191"/>
            <a:ext cx="32013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600" dirty="0"/>
              <a:t>verificar correos filtrados</a:t>
            </a:r>
            <a:endParaRPr sz="1600" dirty="0"/>
          </a:p>
        </p:txBody>
      </p:sp>
      <p:sp>
        <p:nvSpPr>
          <p:cNvPr id="356" name="Google Shape;356;p54"/>
          <p:cNvSpPr txBox="1">
            <a:spLocks noGrp="1"/>
          </p:cNvSpPr>
          <p:nvPr>
            <p:ph type="subTitle" idx="8"/>
          </p:nvPr>
        </p:nvSpPr>
        <p:spPr>
          <a:xfrm flipH="1">
            <a:off x="3294212" y="2964140"/>
            <a:ext cx="1779300" cy="2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 err="1"/>
              <a:t>Bitwarden</a:t>
            </a:r>
            <a:endParaRPr dirty="0"/>
          </a:p>
        </p:txBody>
      </p:sp>
      <p:sp>
        <p:nvSpPr>
          <p:cNvPr id="357" name="Google Shape;357;p54"/>
          <p:cNvSpPr txBox="1">
            <a:spLocks noGrp="1"/>
          </p:cNvSpPr>
          <p:nvPr>
            <p:ph type="subTitle" idx="9"/>
          </p:nvPr>
        </p:nvSpPr>
        <p:spPr>
          <a:xfrm>
            <a:off x="5219277" y="2907031"/>
            <a:ext cx="3279848" cy="4065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evitar reutilización de contraseñas</a:t>
            </a:r>
            <a:endParaRPr dirty="0"/>
          </a:p>
        </p:txBody>
      </p:sp>
      <p:sp>
        <p:nvSpPr>
          <p:cNvPr id="358" name="Google Shape;358;p54"/>
          <p:cNvSpPr txBox="1">
            <a:spLocks noGrp="1"/>
          </p:cNvSpPr>
          <p:nvPr>
            <p:ph type="subTitle" idx="14"/>
          </p:nvPr>
        </p:nvSpPr>
        <p:spPr>
          <a:xfrm flipH="1">
            <a:off x="3007236" y="3715818"/>
            <a:ext cx="2064176" cy="2704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Norton </a:t>
            </a:r>
            <a:r>
              <a:rPr lang="es-PA" dirty="0" err="1"/>
              <a:t>Privacy</a:t>
            </a:r>
            <a:r>
              <a:rPr lang="es-PA" dirty="0"/>
              <a:t> Monitor</a:t>
            </a:r>
            <a:endParaRPr dirty="0"/>
          </a:p>
        </p:txBody>
      </p:sp>
      <p:sp>
        <p:nvSpPr>
          <p:cNvPr id="359" name="Google Shape;359;p54"/>
          <p:cNvSpPr txBox="1">
            <a:spLocks noGrp="1"/>
          </p:cNvSpPr>
          <p:nvPr>
            <p:ph type="subTitle" idx="15"/>
          </p:nvPr>
        </p:nvSpPr>
        <p:spPr>
          <a:xfrm>
            <a:off x="5296956" y="3677719"/>
            <a:ext cx="32064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(en algunos países)</a:t>
            </a:r>
            <a:endParaRPr dirty="0"/>
          </a:p>
        </p:txBody>
      </p:sp>
      <p:grpSp>
        <p:nvGrpSpPr>
          <p:cNvPr id="363" name="Google Shape;363;p54"/>
          <p:cNvGrpSpPr/>
          <p:nvPr/>
        </p:nvGrpSpPr>
        <p:grpSpPr>
          <a:xfrm>
            <a:off x="5071412" y="1605641"/>
            <a:ext cx="236107" cy="2252527"/>
            <a:chOff x="5071415" y="1631073"/>
            <a:chExt cx="236112" cy="2232026"/>
          </a:xfrm>
        </p:grpSpPr>
        <p:cxnSp>
          <p:nvCxnSpPr>
            <p:cNvPr id="364" name="Google Shape;364;p54"/>
            <p:cNvCxnSpPr>
              <a:cxnSpLocks/>
              <a:endCxn id="355" idx="1"/>
            </p:cNvCxnSpPr>
            <p:nvPr/>
          </p:nvCxnSpPr>
          <p:spPr>
            <a:xfrm flipV="1">
              <a:off x="5077425" y="1631073"/>
              <a:ext cx="230102" cy="1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65" name="Google Shape;365;p54"/>
            <p:cNvCxnSpPr>
              <a:cxnSpLocks/>
              <a:stCxn id="348" idx="1"/>
              <a:endCxn id="350" idx="1"/>
            </p:cNvCxnSpPr>
            <p:nvPr/>
          </p:nvCxnSpPr>
          <p:spPr>
            <a:xfrm>
              <a:off x="5071415" y="2373930"/>
              <a:ext cx="230185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66" name="Google Shape;366;p54"/>
            <p:cNvCxnSpPr>
              <a:cxnSpLocks/>
              <a:stCxn id="356" idx="1"/>
              <a:endCxn id="357" idx="1"/>
            </p:cNvCxnSpPr>
            <p:nvPr/>
          </p:nvCxnSpPr>
          <p:spPr>
            <a:xfrm>
              <a:off x="5073511" y="3118261"/>
              <a:ext cx="145768" cy="3786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67" name="Google Shape;367;p54"/>
            <p:cNvCxnSpPr>
              <a:cxnSpLocks/>
              <a:stCxn id="358" idx="1"/>
              <a:endCxn id="359" idx="1"/>
            </p:cNvCxnSpPr>
            <p:nvPr/>
          </p:nvCxnSpPr>
          <p:spPr>
            <a:xfrm>
              <a:off x="5071415" y="3856029"/>
              <a:ext cx="225549" cy="707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369" name="Google Shape;369;p54"/>
          <p:cNvSpPr/>
          <p:nvPr/>
        </p:nvSpPr>
        <p:spPr>
          <a:xfrm>
            <a:off x="492045" y="0"/>
            <a:ext cx="299744" cy="1234986"/>
          </a:xfrm>
          <a:custGeom>
            <a:avLst/>
            <a:gdLst/>
            <a:ahLst/>
            <a:cxnLst/>
            <a:rect l="l" t="t" r="r" b="b"/>
            <a:pathLst>
              <a:path w="11670" h="48082" fill="none" extrusionOk="0">
                <a:moveTo>
                  <a:pt x="11599" y="0"/>
                </a:moveTo>
                <a:lnTo>
                  <a:pt x="11670" y="21647"/>
                </a:lnTo>
                <a:lnTo>
                  <a:pt x="1" y="34388"/>
                </a:lnTo>
                <a:lnTo>
                  <a:pt x="1" y="48081"/>
                </a:lnTo>
                <a:lnTo>
                  <a:pt x="6097" y="48081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0" name="Google Shape;370;p54"/>
          <p:cNvGrpSpPr/>
          <p:nvPr/>
        </p:nvGrpSpPr>
        <p:grpSpPr>
          <a:xfrm>
            <a:off x="629692" y="1105264"/>
            <a:ext cx="144992" cy="269768"/>
            <a:chOff x="629692" y="1105264"/>
            <a:chExt cx="144992" cy="269768"/>
          </a:xfrm>
        </p:grpSpPr>
        <p:sp>
          <p:nvSpPr>
            <p:cNvPr id="371" name="Google Shape;371;p54"/>
            <p:cNvSpPr/>
            <p:nvPr/>
          </p:nvSpPr>
          <p:spPr>
            <a:xfrm>
              <a:off x="629692" y="1105264"/>
              <a:ext cx="144992" cy="135206"/>
            </a:xfrm>
            <a:custGeom>
              <a:avLst/>
              <a:gdLst/>
              <a:ahLst/>
              <a:cxnLst/>
              <a:rect l="l" t="t" r="r" b="b"/>
              <a:pathLst>
                <a:path w="5645" h="5264" fill="none" extrusionOk="0">
                  <a:moveTo>
                    <a:pt x="0" y="5264"/>
                  </a:moveTo>
                  <a:lnTo>
                    <a:pt x="5644" y="1"/>
                  </a:lnTo>
                </a:path>
              </a:pathLst>
            </a:custGeom>
            <a:solidFill>
              <a:schemeClr val="lt1"/>
            </a:solidFill>
            <a:ln w="22625" cap="flat" cmpd="sng">
              <a:solidFill>
                <a:schemeClr val="lt1"/>
              </a:solidFill>
              <a:prstDash val="solid"/>
              <a:miter lim="23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4"/>
            <p:cNvSpPr/>
            <p:nvPr/>
          </p:nvSpPr>
          <p:spPr>
            <a:xfrm>
              <a:off x="635188" y="1229450"/>
              <a:ext cx="135822" cy="145583"/>
            </a:xfrm>
            <a:custGeom>
              <a:avLst/>
              <a:gdLst/>
              <a:ahLst/>
              <a:cxnLst/>
              <a:rect l="l" t="t" r="r" b="b"/>
              <a:pathLst>
                <a:path w="5288" h="5668" fill="none" extrusionOk="0">
                  <a:moveTo>
                    <a:pt x="0" y="0"/>
                  </a:moveTo>
                  <a:lnTo>
                    <a:pt x="5287" y="5668"/>
                  </a:lnTo>
                </a:path>
              </a:pathLst>
            </a:custGeom>
            <a:solidFill>
              <a:schemeClr val="lt1"/>
            </a:solidFill>
            <a:ln w="22625" cap="flat" cmpd="sng">
              <a:solidFill>
                <a:schemeClr val="lt1"/>
              </a:solidFill>
              <a:prstDash val="solid"/>
              <a:miter lim="23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3" name="Google Shape;373;p54">
            <a:hlinkClick r:id="rId4" action="ppaction://hlinksldjump"/>
          </p:cNvPr>
          <p:cNvSpPr/>
          <p:nvPr/>
        </p:nvSpPr>
        <p:spPr>
          <a:xfrm>
            <a:off x="662726" y="431825"/>
            <a:ext cx="254100" cy="254100"/>
          </a:xfrm>
          <a:prstGeom prst="ellipse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600" b="1"/>
          </a:p>
        </p:txBody>
      </p:sp>
      <p:sp>
        <p:nvSpPr>
          <p:cNvPr id="374" name="Google Shape;374;p54"/>
          <p:cNvSpPr/>
          <p:nvPr/>
        </p:nvSpPr>
        <p:spPr>
          <a:xfrm>
            <a:off x="404400" y="796152"/>
            <a:ext cx="175200" cy="175200"/>
          </a:xfrm>
          <a:prstGeom prst="ellipse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375" name="Google Shape;375;p54">
            <a:hlinkClick r:id="" action="ppaction://hlinkshowjump?jump=previousslide"/>
          </p:cNvPr>
          <p:cNvSpPr/>
          <p:nvPr/>
        </p:nvSpPr>
        <p:spPr>
          <a:xfrm rot="10800000">
            <a:off x="745722" y="1066461"/>
            <a:ext cx="88200" cy="882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54">
            <a:hlinkClick r:id="" action="ppaction://hlinkshowjump?jump=nextslide"/>
          </p:cNvPr>
          <p:cNvSpPr/>
          <p:nvPr/>
        </p:nvSpPr>
        <p:spPr>
          <a:xfrm>
            <a:off x="745525" y="1325689"/>
            <a:ext cx="88500" cy="885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 txBox="1">
            <a:spLocks noGrp="1"/>
          </p:cNvSpPr>
          <p:nvPr>
            <p:ph type="title"/>
          </p:nvPr>
        </p:nvSpPr>
        <p:spPr>
          <a:xfrm>
            <a:off x="1016535" y="128052"/>
            <a:ext cx="7964479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dirty="0"/>
              <a:t>Prevenir la Piratería desde dispositivos móviles</a:t>
            </a:r>
            <a:endParaRPr sz="2400" dirty="0"/>
          </a:p>
        </p:txBody>
      </p:sp>
      <p:sp>
        <p:nvSpPr>
          <p:cNvPr id="383" name="Google Shape;383;p55"/>
          <p:cNvSpPr/>
          <p:nvPr/>
        </p:nvSpPr>
        <p:spPr>
          <a:xfrm>
            <a:off x="492045" y="0"/>
            <a:ext cx="278965" cy="755700"/>
          </a:xfrm>
          <a:custGeom>
            <a:avLst/>
            <a:gdLst/>
            <a:ahLst/>
            <a:cxnLst/>
            <a:rect l="l" t="t" r="r" b="b"/>
            <a:pathLst>
              <a:path w="11670" h="48082" fill="none" extrusionOk="0">
                <a:moveTo>
                  <a:pt x="11599" y="0"/>
                </a:moveTo>
                <a:lnTo>
                  <a:pt x="11670" y="21647"/>
                </a:lnTo>
                <a:lnTo>
                  <a:pt x="1" y="34388"/>
                </a:lnTo>
                <a:lnTo>
                  <a:pt x="1" y="48081"/>
                </a:lnTo>
                <a:lnTo>
                  <a:pt x="6097" y="48081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4" name="Google Shape;384;p55"/>
          <p:cNvGrpSpPr/>
          <p:nvPr/>
        </p:nvGrpSpPr>
        <p:grpSpPr>
          <a:xfrm>
            <a:off x="662855" y="620816"/>
            <a:ext cx="144992" cy="269768"/>
            <a:chOff x="629692" y="1105264"/>
            <a:chExt cx="144992" cy="269768"/>
          </a:xfrm>
        </p:grpSpPr>
        <p:sp>
          <p:nvSpPr>
            <p:cNvPr id="385" name="Google Shape;385;p55"/>
            <p:cNvSpPr/>
            <p:nvPr/>
          </p:nvSpPr>
          <p:spPr>
            <a:xfrm>
              <a:off x="629692" y="1105264"/>
              <a:ext cx="144992" cy="135206"/>
            </a:xfrm>
            <a:custGeom>
              <a:avLst/>
              <a:gdLst/>
              <a:ahLst/>
              <a:cxnLst/>
              <a:rect l="l" t="t" r="r" b="b"/>
              <a:pathLst>
                <a:path w="5645" h="5264" fill="none" extrusionOk="0">
                  <a:moveTo>
                    <a:pt x="0" y="5264"/>
                  </a:moveTo>
                  <a:lnTo>
                    <a:pt x="5644" y="1"/>
                  </a:lnTo>
                </a:path>
              </a:pathLst>
            </a:custGeom>
            <a:solidFill>
              <a:schemeClr val="lt1"/>
            </a:solidFill>
            <a:ln w="22625" cap="flat" cmpd="sng">
              <a:solidFill>
                <a:schemeClr val="lt1"/>
              </a:solidFill>
              <a:prstDash val="solid"/>
              <a:miter lim="23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5"/>
            <p:cNvSpPr/>
            <p:nvPr/>
          </p:nvSpPr>
          <p:spPr>
            <a:xfrm>
              <a:off x="635188" y="1229450"/>
              <a:ext cx="135822" cy="145583"/>
            </a:xfrm>
            <a:custGeom>
              <a:avLst/>
              <a:gdLst/>
              <a:ahLst/>
              <a:cxnLst/>
              <a:rect l="l" t="t" r="r" b="b"/>
              <a:pathLst>
                <a:path w="5288" h="5668" fill="none" extrusionOk="0">
                  <a:moveTo>
                    <a:pt x="0" y="0"/>
                  </a:moveTo>
                  <a:lnTo>
                    <a:pt x="5287" y="5668"/>
                  </a:lnTo>
                </a:path>
              </a:pathLst>
            </a:custGeom>
            <a:solidFill>
              <a:schemeClr val="lt1"/>
            </a:solidFill>
            <a:ln w="22625" cap="flat" cmpd="sng">
              <a:solidFill>
                <a:schemeClr val="lt1"/>
              </a:solidFill>
              <a:prstDash val="solid"/>
              <a:miter lim="23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C020DE67-1469-230D-C20C-06E4F2103223}"/>
              </a:ext>
            </a:extLst>
          </p:cNvPr>
          <p:cNvSpPr txBox="1"/>
          <p:nvPr/>
        </p:nvSpPr>
        <p:spPr>
          <a:xfrm>
            <a:off x="283324" y="1198697"/>
            <a:ext cx="375196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A" b="1" dirty="0">
                <a:solidFill>
                  <a:schemeClr val="bg1"/>
                </a:solidFill>
              </a:rPr>
              <a:t>Análisis del problema</a:t>
            </a:r>
          </a:p>
          <a:p>
            <a:endParaRPr lang="es-PA" b="1" dirty="0">
              <a:solidFill>
                <a:schemeClr val="bg1"/>
              </a:solidFill>
            </a:endParaRPr>
          </a:p>
          <a:p>
            <a:r>
              <a:rPr lang="es-PA" dirty="0">
                <a:solidFill>
                  <a:schemeClr val="bg1"/>
                </a:solidFill>
              </a:rPr>
              <a:t>La piratería móvil se refiere 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>
                <a:solidFill>
                  <a:schemeClr val="bg1"/>
                </a:solidFill>
              </a:rPr>
              <a:t>Apps crackeadas o modificadas (MOD APK)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 err="1">
                <a:solidFill>
                  <a:schemeClr val="bg1"/>
                </a:solidFill>
              </a:rPr>
              <a:t>Streaming</a:t>
            </a:r>
            <a:r>
              <a:rPr lang="es-PA" dirty="0">
                <a:solidFill>
                  <a:schemeClr val="bg1"/>
                </a:solidFill>
              </a:rPr>
              <a:t> ilegal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>
                <a:solidFill>
                  <a:schemeClr val="bg1"/>
                </a:solidFill>
              </a:rPr>
              <a:t>Descarga ilegal de contenido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>
                <a:solidFill>
                  <a:schemeClr val="bg1"/>
                </a:solidFill>
              </a:rPr>
              <a:t>Acceso no autorizado a cuentas (Netflix, Spotify, etc.)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>
                <a:solidFill>
                  <a:schemeClr val="bg1"/>
                </a:solidFill>
              </a:rPr>
              <a:t>Distribución de software pirateado </a:t>
            </a:r>
          </a:p>
          <a:p>
            <a:pPr>
              <a:buFont typeface="Arial" panose="020B0604020202020204" pitchFamily="34" charset="0"/>
              <a:buChar char="•"/>
            </a:pPr>
            <a:endParaRPr lang="es-PA" dirty="0">
              <a:solidFill>
                <a:schemeClr val="bg1"/>
              </a:solidFill>
            </a:endParaRPr>
          </a:p>
          <a:p>
            <a:r>
              <a:rPr lang="es-PA" dirty="0">
                <a:solidFill>
                  <a:schemeClr val="bg1"/>
                </a:solidFill>
              </a:rPr>
              <a:t>Esto genera riesgos graves: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>
                <a:solidFill>
                  <a:schemeClr val="bg1"/>
                </a:solidFill>
              </a:rPr>
              <a:t>malware integrado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>
                <a:solidFill>
                  <a:schemeClr val="bg1"/>
                </a:solidFill>
              </a:rPr>
              <a:t>robo de datos bancarios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>
                <a:solidFill>
                  <a:schemeClr val="bg1"/>
                </a:solidFill>
              </a:rPr>
              <a:t>spyware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 err="1">
                <a:solidFill>
                  <a:schemeClr val="bg1"/>
                </a:solidFill>
              </a:rPr>
              <a:t>backdoors</a:t>
            </a:r>
            <a:r>
              <a:rPr lang="es-PA" dirty="0">
                <a:solidFill>
                  <a:schemeClr val="bg1"/>
                </a:solidFill>
              </a:rPr>
              <a:t> persistentes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CE297C-6F59-DCCF-7B3C-1ED8E4219CCF}"/>
              </a:ext>
            </a:extLst>
          </p:cNvPr>
          <p:cNvSpPr txBox="1"/>
          <p:nvPr/>
        </p:nvSpPr>
        <p:spPr>
          <a:xfrm>
            <a:off x="4244010" y="1123592"/>
            <a:ext cx="477823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Solución y mitigación</a:t>
            </a:r>
          </a:p>
          <a:p>
            <a:endParaRPr lang="es-MX" b="1" dirty="0">
              <a:solidFill>
                <a:schemeClr val="bg1"/>
              </a:solidFill>
            </a:endParaRPr>
          </a:p>
          <a:p>
            <a:r>
              <a:rPr lang="es-MX" b="1" dirty="0">
                <a:solidFill>
                  <a:schemeClr val="bg1"/>
                </a:solidFill>
              </a:rPr>
              <a:t> Medidas técnicas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Desactivar instalación de apps externas.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No rootear ni hacer </a:t>
            </a:r>
            <a:r>
              <a:rPr lang="es-MX" dirty="0" err="1">
                <a:solidFill>
                  <a:schemeClr val="bg1"/>
                </a:solidFill>
              </a:rPr>
              <a:t>jailbreak</a:t>
            </a:r>
            <a:r>
              <a:rPr lang="es-MX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Usar Play </a:t>
            </a:r>
            <a:r>
              <a:rPr lang="es-MX" dirty="0" err="1">
                <a:solidFill>
                  <a:schemeClr val="bg1"/>
                </a:solidFill>
              </a:rPr>
              <a:t>Protect</a:t>
            </a:r>
            <a:r>
              <a:rPr lang="es-MX" dirty="0">
                <a:solidFill>
                  <a:schemeClr val="bg1"/>
                </a:solidFill>
              </a:rPr>
              <a:t> o seguridad del sistema.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Activar bloqueo de apps bancarias con PIN adicional.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Revisar permisos de apps instaladas. 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</a:endParaRPr>
          </a:p>
          <a:p>
            <a:r>
              <a:rPr lang="es-MX" b="1" dirty="0">
                <a:solidFill>
                  <a:schemeClr val="bg1"/>
                </a:solidFill>
              </a:rPr>
              <a:t> Medidas de control parental / empresarial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Uso de MDM (Mobile </a:t>
            </a:r>
            <a:r>
              <a:rPr lang="es-MX" dirty="0" err="1">
                <a:solidFill>
                  <a:schemeClr val="bg1"/>
                </a:solidFill>
              </a:rPr>
              <a:t>Device</a:t>
            </a:r>
            <a:r>
              <a:rPr lang="es-MX" dirty="0">
                <a:solidFill>
                  <a:schemeClr val="bg1"/>
                </a:solidFill>
              </a:rPr>
              <a:t> Management).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Bloqueo de instalación de APK.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Control de navegación y contenido. 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</a:endParaRPr>
          </a:p>
          <a:p>
            <a:r>
              <a:rPr lang="es-MX" b="1" dirty="0">
                <a:solidFill>
                  <a:schemeClr val="bg1"/>
                </a:solidFill>
              </a:rPr>
              <a:t> Medidas legales y educativas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Concientización sobre delitos informáticos.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Políticas de uso aceptable en universidades y empresas.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6"/>
          <p:cNvSpPr txBox="1">
            <a:spLocks noGrp="1"/>
          </p:cNvSpPr>
          <p:nvPr>
            <p:ph type="subTitle" idx="4294967295"/>
          </p:nvPr>
        </p:nvSpPr>
        <p:spPr>
          <a:xfrm>
            <a:off x="2817501" y="1557294"/>
            <a:ext cx="15972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PA" sz="1400" dirty="0"/>
              <a:t>Apple </a:t>
            </a:r>
            <a:r>
              <a:rPr lang="es-PA" sz="1400" dirty="0" err="1"/>
              <a:t>Screen</a:t>
            </a:r>
            <a:r>
              <a:rPr lang="es-PA" sz="1400" dirty="0"/>
              <a:t> Time (iOS)</a:t>
            </a:r>
            <a:endParaRPr sz="1400" dirty="0"/>
          </a:p>
        </p:txBody>
      </p:sp>
      <p:sp>
        <p:nvSpPr>
          <p:cNvPr id="397" name="Google Shape;397;p56"/>
          <p:cNvSpPr txBox="1">
            <a:spLocks noGrp="1"/>
          </p:cNvSpPr>
          <p:nvPr>
            <p:ph type="subTitle" idx="4294967295"/>
          </p:nvPr>
        </p:nvSpPr>
        <p:spPr>
          <a:xfrm>
            <a:off x="4729278" y="3124303"/>
            <a:ext cx="15972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PA" sz="1400" dirty="0" err="1"/>
              <a:t>Family</a:t>
            </a:r>
            <a:r>
              <a:rPr lang="es-PA" sz="1400" dirty="0"/>
              <a:t> Link (Google)</a:t>
            </a:r>
            <a:endParaRPr sz="1400" dirty="0"/>
          </a:p>
        </p:txBody>
      </p:sp>
      <p:sp>
        <p:nvSpPr>
          <p:cNvPr id="398" name="Google Shape;398;p56"/>
          <p:cNvSpPr txBox="1">
            <a:spLocks noGrp="1"/>
          </p:cNvSpPr>
          <p:nvPr>
            <p:ph type="title"/>
          </p:nvPr>
        </p:nvSpPr>
        <p:spPr>
          <a:xfrm>
            <a:off x="993050" y="359943"/>
            <a:ext cx="59703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Aplicaciones recomendadas</a:t>
            </a:r>
            <a:endParaRPr dirty="0"/>
          </a:p>
        </p:txBody>
      </p:sp>
      <p:sp>
        <p:nvSpPr>
          <p:cNvPr id="404" name="Google Shape;404;p56"/>
          <p:cNvSpPr/>
          <p:nvPr/>
        </p:nvSpPr>
        <p:spPr>
          <a:xfrm>
            <a:off x="1342225" y="1828650"/>
            <a:ext cx="724200" cy="724200"/>
          </a:xfrm>
          <a:prstGeom prst="donut">
            <a:avLst>
              <a:gd name="adj" fmla="val 1148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56"/>
          <p:cNvSpPr/>
          <p:nvPr/>
        </p:nvSpPr>
        <p:spPr>
          <a:xfrm>
            <a:off x="3254000" y="3114008"/>
            <a:ext cx="724200" cy="724200"/>
          </a:xfrm>
          <a:prstGeom prst="donut">
            <a:avLst>
              <a:gd name="adj" fmla="val 1148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56"/>
          <p:cNvSpPr/>
          <p:nvPr/>
        </p:nvSpPr>
        <p:spPr>
          <a:xfrm>
            <a:off x="5165788" y="1828650"/>
            <a:ext cx="724200" cy="724200"/>
          </a:xfrm>
          <a:prstGeom prst="donut">
            <a:avLst>
              <a:gd name="adj" fmla="val 1148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56"/>
          <p:cNvSpPr/>
          <p:nvPr/>
        </p:nvSpPr>
        <p:spPr>
          <a:xfrm>
            <a:off x="7077588" y="3114008"/>
            <a:ext cx="724200" cy="724200"/>
          </a:xfrm>
          <a:prstGeom prst="donut">
            <a:avLst>
              <a:gd name="adj" fmla="val 1148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8" name="Google Shape;408;p56"/>
          <p:cNvCxnSpPr>
            <a:stCxn id="404" idx="5"/>
            <a:endCxn id="405" idx="1"/>
          </p:cNvCxnSpPr>
          <p:nvPr/>
        </p:nvCxnSpPr>
        <p:spPr>
          <a:xfrm>
            <a:off x="1960368" y="2446793"/>
            <a:ext cx="1399800" cy="773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" name="Google Shape;409;p56"/>
          <p:cNvCxnSpPr>
            <a:stCxn id="405" idx="7"/>
            <a:endCxn id="406" idx="3"/>
          </p:cNvCxnSpPr>
          <p:nvPr/>
        </p:nvCxnSpPr>
        <p:spPr>
          <a:xfrm rot="10800000" flipH="1">
            <a:off x="3872143" y="2446665"/>
            <a:ext cx="1399800" cy="773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56"/>
          <p:cNvCxnSpPr>
            <a:endCxn id="407" idx="1"/>
          </p:cNvCxnSpPr>
          <p:nvPr/>
        </p:nvCxnSpPr>
        <p:spPr>
          <a:xfrm>
            <a:off x="5783844" y="2468865"/>
            <a:ext cx="1399800" cy="751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11" name="Google Shape;411;p56"/>
          <p:cNvGrpSpPr/>
          <p:nvPr/>
        </p:nvGrpSpPr>
        <p:grpSpPr>
          <a:xfrm>
            <a:off x="7260150" y="3296795"/>
            <a:ext cx="359015" cy="358633"/>
            <a:chOff x="1309875" y="1499912"/>
            <a:chExt cx="359015" cy="358633"/>
          </a:xfrm>
        </p:grpSpPr>
        <p:sp>
          <p:nvSpPr>
            <p:cNvPr id="412" name="Google Shape;412;p56"/>
            <p:cNvSpPr/>
            <p:nvPr/>
          </p:nvSpPr>
          <p:spPr>
            <a:xfrm>
              <a:off x="1309875" y="1499912"/>
              <a:ext cx="133708" cy="204665"/>
            </a:xfrm>
            <a:custGeom>
              <a:avLst/>
              <a:gdLst/>
              <a:ahLst/>
              <a:cxnLst/>
              <a:rect l="l" t="t" r="r" b="b"/>
              <a:pathLst>
                <a:path w="4204" h="6435" extrusionOk="0">
                  <a:moveTo>
                    <a:pt x="1310" y="0"/>
                  </a:moveTo>
                  <a:cubicBezTo>
                    <a:pt x="608" y="0"/>
                    <a:pt x="24" y="560"/>
                    <a:pt x="24" y="1274"/>
                  </a:cubicBezTo>
                  <a:cubicBezTo>
                    <a:pt x="36" y="6323"/>
                    <a:pt x="0" y="6037"/>
                    <a:pt x="72" y="6311"/>
                  </a:cubicBezTo>
                  <a:cubicBezTo>
                    <a:pt x="82" y="6381"/>
                    <a:pt x="152" y="6435"/>
                    <a:pt x="231" y="6435"/>
                  </a:cubicBezTo>
                  <a:cubicBezTo>
                    <a:pt x="246" y="6435"/>
                    <a:pt x="260" y="6433"/>
                    <a:pt x="274" y="6430"/>
                  </a:cubicBezTo>
                  <a:cubicBezTo>
                    <a:pt x="370" y="6394"/>
                    <a:pt x="429" y="6311"/>
                    <a:pt x="393" y="6215"/>
                  </a:cubicBezTo>
                  <a:cubicBezTo>
                    <a:pt x="358" y="6013"/>
                    <a:pt x="381" y="6180"/>
                    <a:pt x="370" y="1262"/>
                  </a:cubicBezTo>
                  <a:cubicBezTo>
                    <a:pt x="370" y="739"/>
                    <a:pt x="786" y="322"/>
                    <a:pt x="1310" y="322"/>
                  </a:cubicBezTo>
                  <a:lnTo>
                    <a:pt x="4049" y="322"/>
                  </a:lnTo>
                  <a:cubicBezTo>
                    <a:pt x="4132" y="322"/>
                    <a:pt x="4203" y="250"/>
                    <a:pt x="4203" y="167"/>
                  </a:cubicBezTo>
                  <a:cubicBezTo>
                    <a:pt x="4203" y="72"/>
                    <a:pt x="4132" y="0"/>
                    <a:pt x="40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56"/>
            <p:cNvSpPr/>
            <p:nvPr/>
          </p:nvSpPr>
          <p:spPr>
            <a:xfrm>
              <a:off x="1454524" y="1499912"/>
              <a:ext cx="213602" cy="123467"/>
            </a:xfrm>
            <a:custGeom>
              <a:avLst/>
              <a:gdLst/>
              <a:ahLst/>
              <a:cxnLst/>
              <a:rect l="l" t="t" r="r" b="b"/>
              <a:pathLst>
                <a:path w="6716" h="388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5430" y="322"/>
                  </a:lnTo>
                  <a:cubicBezTo>
                    <a:pt x="5954" y="322"/>
                    <a:pt x="6371" y="739"/>
                    <a:pt x="6371" y="1262"/>
                  </a:cubicBezTo>
                  <a:lnTo>
                    <a:pt x="6371" y="3715"/>
                  </a:lnTo>
                  <a:cubicBezTo>
                    <a:pt x="6371" y="3810"/>
                    <a:pt x="6442" y="3882"/>
                    <a:pt x="6537" y="3882"/>
                  </a:cubicBezTo>
                  <a:cubicBezTo>
                    <a:pt x="6621" y="3882"/>
                    <a:pt x="6704" y="3810"/>
                    <a:pt x="6704" y="3715"/>
                  </a:cubicBezTo>
                  <a:lnTo>
                    <a:pt x="6704" y="1262"/>
                  </a:lnTo>
                  <a:cubicBezTo>
                    <a:pt x="6716" y="584"/>
                    <a:pt x="6144" y="0"/>
                    <a:pt x="54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56"/>
            <p:cNvSpPr/>
            <p:nvPr/>
          </p:nvSpPr>
          <p:spPr>
            <a:xfrm>
              <a:off x="1322756" y="1634701"/>
              <a:ext cx="346134" cy="223844"/>
            </a:xfrm>
            <a:custGeom>
              <a:avLst/>
              <a:gdLst/>
              <a:ahLst/>
              <a:cxnLst/>
              <a:rect l="l" t="t" r="r" b="b"/>
              <a:pathLst>
                <a:path w="10883" h="7038" extrusionOk="0">
                  <a:moveTo>
                    <a:pt x="5930" y="3037"/>
                  </a:moveTo>
                  <a:lnTo>
                    <a:pt x="5930" y="5656"/>
                  </a:lnTo>
                  <a:lnTo>
                    <a:pt x="4560" y="5656"/>
                  </a:lnTo>
                  <a:lnTo>
                    <a:pt x="4560" y="3037"/>
                  </a:lnTo>
                  <a:close/>
                  <a:moveTo>
                    <a:pt x="7370" y="5990"/>
                  </a:moveTo>
                  <a:cubicBezTo>
                    <a:pt x="7549" y="5990"/>
                    <a:pt x="7716" y="6133"/>
                    <a:pt x="7716" y="6323"/>
                  </a:cubicBezTo>
                  <a:lnTo>
                    <a:pt x="7716" y="6383"/>
                  </a:lnTo>
                  <a:cubicBezTo>
                    <a:pt x="7716" y="6561"/>
                    <a:pt x="7573" y="6728"/>
                    <a:pt x="7370" y="6728"/>
                  </a:cubicBezTo>
                  <a:lnTo>
                    <a:pt x="3120" y="6728"/>
                  </a:lnTo>
                  <a:cubicBezTo>
                    <a:pt x="2941" y="6728"/>
                    <a:pt x="2774" y="6585"/>
                    <a:pt x="2774" y="6383"/>
                  </a:cubicBezTo>
                  <a:lnTo>
                    <a:pt x="2774" y="6323"/>
                  </a:lnTo>
                  <a:cubicBezTo>
                    <a:pt x="2774" y="6145"/>
                    <a:pt x="2929" y="5990"/>
                    <a:pt x="3120" y="5990"/>
                  </a:cubicBezTo>
                  <a:close/>
                  <a:moveTo>
                    <a:pt x="10692" y="1"/>
                  </a:moveTo>
                  <a:cubicBezTo>
                    <a:pt x="10597" y="1"/>
                    <a:pt x="10525" y="72"/>
                    <a:pt x="10525" y="168"/>
                  </a:cubicBezTo>
                  <a:lnTo>
                    <a:pt x="10525" y="1763"/>
                  </a:lnTo>
                  <a:cubicBezTo>
                    <a:pt x="10525" y="2275"/>
                    <a:pt x="10109" y="2692"/>
                    <a:pt x="9585" y="2692"/>
                  </a:cubicBezTo>
                  <a:lnTo>
                    <a:pt x="917" y="2692"/>
                  </a:lnTo>
                  <a:cubicBezTo>
                    <a:pt x="691" y="2692"/>
                    <a:pt x="465" y="2608"/>
                    <a:pt x="298" y="2454"/>
                  </a:cubicBezTo>
                  <a:cubicBezTo>
                    <a:pt x="265" y="2426"/>
                    <a:pt x="225" y="2412"/>
                    <a:pt x="185" y="2412"/>
                  </a:cubicBezTo>
                  <a:cubicBezTo>
                    <a:pt x="138" y="2412"/>
                    <a:pt x="92" y="2432"/>
                    <a:pt x="60" y="2477"/>
                  </a:cubicBezTo>
                  <a:cubicBezTo>
                    <a:pt x="0" y="2549"/>
                    <a:pt x="0" y="2656"/>
                    <a:pt x="84" y="2716"/>
                  </a:cubicBezTo>
                  <a:cubicBezTo>
                    <a:pt x="322" y="2918"/>
                    <a:pt x="619" y="3025"/>
                    <a:pt x="917" y="3025"/>
                  </a:cubicBezTo>
                  <a:lnTo>
                    <a:pt x="4227" y="3025"/>
                  </a:lnTo>
                  <a:lnTo>
                    <a:pt x="4227" y="5644"/>
                  </a:lnTo>
                  <a:lnTo>
                    <a:pt x="3132" y="5644"/>
                  </a:lnTo>
                  <a:cubicBezTo>
                    <a:pt x="2763" y="5644"/>
                    <a:pt x="2465" y="5942"/>
                    <a:pt x="2465" y="6311"/>
                  </a:cubicBezTo>
                  <a:lnTo>
                    <a:pt x="2465" y="6371"/>
                  </a:lnTo>
                  <a:cubicBezTo>
                    <a:pt x="2465" y="6740"/>
                    <a:pt x="2763" y="7038"/>
                    <a:pt x="3132" y="7038"/>
                  </a:cubicBezTo>
                  <a:lnTo>
                    <a:pt x="7394" y="7038"/>
                  </a:lnTo>
                  <a:cubicBezTo>
                    <a:pt x="7763" y="7038"/>
                    <a:pt x="8061" y="6740"/>
                    <a:pt x="8061" y="6371"/>
                  </a:cubicBezTo>
                  <a:lnTo>
                    <a:pt x="8061" y="6311"/>
                  </a:lnTo>
                  <a:cubicBezTo>
                    <a:pt x="8061" y="5942"/>
                    <a:pt x="7763" y="5644"/>
                    <a:pt x="7394" y="5644"/>
                  </a:cubicBezTo>
                  <a:lnTo>
                    <a:pt x="6287" y="5644"/>
                  </a:lnTo>
                  <a:lnTo>
                    <a:pt x="6287" y="3037"/>
                  </a:lnTo>
                  <a:lnTo>
                    <a:pt x="9609" y="3037"/>
                  </a:lnTo>
                  <a:cubicBezTo>
                    <a:pt x="10311" y="3037"/>
                    <a:pt x="10883" y="2477"/>
                    <a:pt x="10883" y="1751"/>
                  </a:cubicBezTo>
                  <a:lnTo>
                    <a:pt x="10883" y="168"/>
                  </a:lnTo>
                  <a:cubicBezTo>
                    <a:pt x="10859" y="72"/>
                    <a:pt x="10787" y="1"/>
                    <a:pt x="106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56"/>
            <p:cNvSpPr/>
            <p:nvPr/>
          </p:nvSpPr>
          <p:spPr>
            <a:xfrm>
              <a:off x="1331852" y="1519217"/>
              <a:ext cx="191243" cy="140514"/>
            </a:xfrm>
            <a:custGeom>
              <a:avLst/>
              <a:gdLst/>
              <a:ahLst/>
              <a:cxnLst/>
              <a:rect l="l" t="t" r="r" b="b"/>
              <a:pathLst>
                <a:path w="6013" h="4418" extrusionOk="0">
                  <a:moveTo>
                    <a:pt x="869" y="1"/>
                  </a:moveTo>
                  <a:cubicBezTo>
                    <a:pt x="393" y="1"/>
                    <a:pt x="0" y="393"/>
                    <a:pt x="0" y="870"/>
                  </a:cubicBezTo>
                  <a:lnTo>
                    <a:pt x="0" y="4263"/>
                  </a:lnTo>
                  <a:cubicBezTo>
                    <a:pt x="0" y="4346"/>
                    <a:pt x="83" y="4418"/>
                    <a:pt x="167" y="4418"/>
                  </a:cubicBezTo>
                  <a:cubicBezTo>
                    <a:pt x="262" y="4418"/>
                    <a:pt x="333" y="4346"/>
                    <a:pt x="333" y="4263"/>
                  </a:cubicBezTo>
                  <a:lnTo>
                    <a:pt x="333" y="870"/>
                  </a:lnTo>
                  <a:cubicBezTo>
                    <a:pt x="333" y="572"/>
                    <a:pt x="572" y="334"/>
                    <a:pt x="869" y="334"/>
                  </a:cubicBezTo>
                  <a:lnTo>
                    <a:pt x="5834" y="334"/>
                  </a:lnTo>
                  <a:cubicBezTo>
                    <a:pt x="5929" y="334"/>
                    <a:pt x="6001" y="251"/>
                    <a:pt x="6001" y="167"/>
                  </a:cubicBezTo>
                  <a:cubicBezTo>
                    <a:pt x="6013" y="72"/>
                    <a:pt x="5929" y="1"/>
                    <a:pt x="5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56"/>
            <p:cNvSpPr/>
            <p:nvPr/>
          </p:nvSpPr>
          <p:spPr>
            <a:xfrm>
              <a:off x="1331852" y="1519217"/>
              <a:ext cx="315442" cy="190512"/>
            </a:xfrm>
            <a:custGeom>
              <a:avLst/>
              <a:gdLst/>
              <a:ahLst/>
              <a:cxnLst/>
              <a:rect l="l" t="t" r="r" b="b"/>
              <a:pathLst>
                <a:path w="9918" h="5990" extrusionOk="0">
                  <a:moveTo>
                    <a:pt x="6513" y="1"/>
                  </a:moveTo>
                  <a:cubicBezTo>
                    <a:pt x="6418" y="1"/>
                    <a:pt x="6346" y="72"/>
                    <a:pt x="6346" y="167"/>
                  </a:cubicBezTo>
                  <a:cubicBezTo>
                    <a:pt x="6346" y="251"/>
                    <a:pt x="6418" y="322"/>
                    <a:pt x="6513" y="322"/>
                  </a:cubicBezTo>
                  <a:lnTo>
                    <a:pt x="9049" y="322"/>
                  </a:lnTo>
                  <a:cubicBezTo>
                    <a:pt x="9346" y="322"/>
                    <a:pt x="9585" y="560"/>
                    <a:pt x="9585" y="870"/>
                  </a:cubicBezTo>
                  <a:lnTo>
                    <a:pt x="9585" y="5120"/>
                  </a:lnTo>
                  <a:cubicBezTo>
                    <a:pt x="9585" y="5418"/>
                    <a:pt x="9346" y="5656"/>
                    <a:pt x="9049" y="5656"/>
                  </a:cubicBezTo>
                  <a:lnTo>
                    <a:pt x="869" y="5656"/>
                  </a:lnTo>
                  <a:cubicBezTo>
                    <a:pt x="572" y="5656"/>
                    <a:pt x="333" y="5418"/>
                    <a:pt x="333" y="5120"/>
                  </a:cubicBezTo>
                  <a:lnTo>
                    <a:pt x="333" y="4930"/>
                  </a:lnTo>
                  <a:cubicBezTo>
                    <a:pt x="333" y="4834"/>
                    <a:pt x="262" y="4763"/>
                    <a:pt x="167" y="4763"/>
                  </a:cubicBezTo>
                  <a:cubicBezTo>
                    <a:pt x="71" y="4763"/>
                    <a:pt x="0" y="4834"/>
                    <a:pt x="0" y="4930"/>
                  </a:cubicBezTo>
                  <a:lnTo>
                    <a:pt x="0" y="5120"/>
                  </a:lnTo>
                  <a:cubicBezTo>
                    <a:pt x="0" y="5596"/>
                    <a:pt x="393" y="5989"/>
                    <a:pt x="869" y="5989"/>
                  </a:cubicBezTo>
                  <a:lnTo>
                    <a:pt x="9049" y="5989"/>
                  </a:lnTo>
                  <a:cubicBezTo>
                    <a:pt x="9525" y="5989"/>
                    <a:pt x="9918" y="5596"/>
                    <a:pt x="9918" y="5120"/>
                  </a:cubicBezTo>
                  <a:lnTo>
                    <a:pt x="9918" y="870"/>
                  </a:lnTo>
                  <a:cubicBezTo>
                    <a:pt x="9918" y="393"/>
                    <a:pt x="9525" y="1"/>
                    <a:pt x="90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56"/>
            <p:cNvSpPr/>
            <p:nvPr/>
          </p:nvSpPr>
          <p:spPr>
            <a:xfrm>
              <a:off x="1587056" y="1669178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56"/>
            <p:cNvSpPr/>
            <p:nvPr/>
          </p:nvSpPr>
          <p:spPr>
            <a:xfrm>
              <a:off x="1471190" y="1538523"/>
              <a:ext cx="160965" cy="141278"/>
            </a:xfrm>
            <a:custGeom>
              <a:avLst/>
              <a:gdLst/>
              <a:ahLst/>
              <a:cxnLst/>
              <a:rect l="l" t="t" r="r" b="b"/>
              <a:pathLst>
                <a:path w="5061" h="4442" extrusionOk="0">
                  <a:moveTo>
                    <a:pt x="2489" y="346"/>
                  </a:moveTo>
                  <a:lnTo>
                    <a:pt x="1536" y="1096"/>
                  </a:lnTo>
                  <a:lnTo>
                    <a:pt x="548" y="346"/>
                  </a:lnTo>
                  <a:close/>
                  <a:moveTo>
                    <a:pt x="322" y="596"/>
                  </a:moveTo>
                  <a:lnTo>
                    <a:pt x="1251" y="1299"/>
                  </a:lnTo>
                  <a:lnTo>
                    <a:pt x="322" y="2013"/>
                  </a:lnTo>
                  <a:lnTo>
                    <a:pt x="322" y="596"/>
                  </a:lnTo>
                  <a:close/>
                  <a:moveTo>
                    <a:pt x="2739" y="584"/>
                  </a:moveTo>
                  <a:lnTo>
                    <a:pt x="2739" y="2013"/>
                  </a:lnTo>
                  <a:lnTo>
                    <a:pt x="1810" y="1299"/>
                  </a:lnTo>
                  <a:lnTo>
                    <a:pt x="2739" y="584"/>
                  </a:lnTo>
                  <a:close/>
                  <a:moveTo>
                    <a:pt x="1536" y="1501"/>
                  </a:moveTo>
                  <a:lnTo>
                    <a:pt x="2525" y="2263"/>
                  </a:lnTo>
                  <a:lnTo>
                    <a:pt x="548" y="2263"/>
                  </a:lnTo>
                  <a:lnTo>
                    <a:pt x="1536" y="1501"/>
                  </a:lnTo>
                  <a:close/>
                  <a:moveTo>
                    <a:pt x="3239" y="2680"/>
                  </a:moveTo>
                  <a:lnTo>
                    <a:pt x="3239" y="2680"/>
                  </a:lnTo>
                  <a:cubicBezTo>
                    <a:pt x="3261" y="2702"/>
                    <a:pt x="4644" y="3120"/>
                    <a:pt x="4644" y="3120"/>
                  </a:cubicBezTo>
                  <a:cubicBezTo>
                    <a:pt x="4639" y="3122"/>
                    <a:pt x="4637" y="3122"/>
                    <a:pt x="4636" y="3122"/>
                  </a:cubicBezTo>
                  <a:cubicBezTo>
                    <a:pt x="4636" y="3122"/>
                    <a:pt x="4642" y="3120"/>
                    <a:pt x="4640" y="3120"/>
                  </a:cubicBezTo>
                  <a:cubicBezTo>
                    <a:pt x="4636" y="3120"/>
                    <a:pt x="4565" y="3136"/>
                    <a:pt x="4049" y="3263"/>
                  </a:cubicBezTo>
                  <a:cubicBezTo>
                    <a:pt x="3930" y="3287"/>
                    <a:pt x="3834" y="3382"/>
                    <a:pt x="3811" y="3501"/>
                  </a:cubicBezTo>
                  <a:cubicBezTo>
                    <a:pt x="3686" y="3957"/>
                    <a:pt x="3662" y="4068"/>
                    <a:pt x="3659" y="4091"/>
                  </a:cubicBezTo>
                  <a:lnTo>
                    <a:pt x="3659" y="4091"/>
                  </a:lnTo>
                  <a:cubicBezTo>
                    <a:pt x="3658" y="4092"/>
                    <a:pt x="3657" y="4094"/>
                    <a:pt x="3656" y="4097"/>
                  </a:cubicBezTo>
                  <a:cubicBezTo>
                    <a:pt x="3656" y="4085"/>
                    <a:pt x="3620" y="3954"/>
                    <a:pt x="3239" y="2680"/>
                  </a:cubicBezTo>
                  <a:close/>
                  <a:moveTo>
                    <a:pt x="322" y="1"/>
                  </a:moveTo>
                  <a:cubicBezTo>
                    <a:pt x="143" y="1"/>
                    <a:pt x="1" y="156"/>
                    <a:pt x="1" y="334"/>
                  </a:cubicBezTo>
                  <a:lnTo>
                    <a:pt x="1" y="2263"/>
                  </a:lnTo>
                  <a:cubicBezTo>
                    <a:pt x="1" y="2442"/>
                    <a:pt x="143" y="2596"/>
                    <a:pt x="322" y="2596"/>
                  </a:cubicBezTo>
                  <a:lnTo>
                    <a:pt x="2739" y="2596"/>
                  </a:lnTo>
                  <a:cubicBezTo>
                    <a:pt x="2810" y="2596"/>
                    <a:pt x="2882" y="2561"/>
                    <a:pt x="2941" y="2513"/>
                  </a:cubicBezTo>
                  <a:lnTo>
                    <a:pt x="2941" y="2513"/>
                  </a:lnTo>
                  <a:cubicBezTo>
                    <a:pt x="2894" y="2596"/>
                    <a:pt x="2882" y="2692"/>
                    <a:pt x="2918" y="2787"/>
                  </a:cubicBezTo>
                  <a:lnTo>
                    <a:pt x="3334" y="4204"/>
                  </a:lnTo>
                  <a:cubicBezTo>
                    <a:pt x="3375" y="4362"/>
                    <a:pt x="3511" y="4442"/>
                    <a:pt x="3650" y="4442"/>
                  </a:cubicBezTo>
                  <a:cubicBezTo>
                    <a:pt x="3793" y="4442"/>
                    <a:pt x="3941" y="4356"/>
                    <a:pt x="3989" y="4180"/>
                  </a:cubicBezTo>
                  <a:lnTo>
                    <a:pt x="4132" y="3585"/>
                  </a:lnTo>
                  <a:lnTo>
                    <a:pt x="4727" y="3442"/>
                  </a:lnTo>
                  <a:cubicBezTo>
                    <a:pt x="5061" y="3358"/>
                    <a:pt x="5061" y="2894"/>
                    <a:pt x="4727" y="2787"/>
                  </a:cubicBezTo>
                  <a:lnTo>
                    <a:pt x="3322" y="2370"/>
                  </a:lnTo>
                  <a:cubicBezTo>
                    <a:pt x="3290" y="2363"/>
                    <a:pt x="3256" y="2359"/>
                    <a:pt x="3223" y="2359"/>
                  </a:cubicBezTo>
                  <a:cubicBezTo>
                    <a:pt x="3147" y="2359"/>
                    <a:pt x="3075" y="2380"/>
                    <a:pt x="3025" y="2430"/>
                  </a:cubicBezTo>
                  <a:cubicBezTo>
                    <a:pt x="3096" y="2299"/>
                    <a:pt x="3049" y="2334"/>
                    <a:pt x="3060" y="334"/>
                  </a:cubicBezTo>
                  <a:cubicBezTo>
                    <a:pt x="3060" y="287"/>
                    <a:pt x="3060" y="251"/>
                    <a:pt x="3049" y="215"/>
                  </a:cubicBezTo>
                  <a:cubicBezTo>
                    <a:pt x="3049" y="179"/>
                    <a:pt x="3037" y="156"/>
                    <a:pt x="3025" y="132"/>
                  </a:cubicBezTo>
                  <a:cubicBezTo>
                    <a:pt x="3001" y="120"/>
                    <a:pt x="2989" y="108"/>
                    <a:pt x="2977" y="108"/>
                  </a:cubicBezTo>
                  <a:cubicBezTo>
                    <a:pt x="2918" y="48"/>
                    <a:pt x="2822" y="1"/>
                    <a:pt x="2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56"/>
            <p:cNvSpPr/>
            <p:nvPr/>
          </p:nvSpPr>
          <p:spPr>
            <a:xfrm>
              <a:off x="1354943" y="1540049"/>
              <a:ext cx="124230" cy="148847"/>
            </a:xfrm>
            <a:custGeom>
              <a:avLst/>
              <a:gdLst/>
              <a:ahLst/>
              <a:cxnLst/>
              <a:rect l="l" t="t" r="r" b="b"/>
              <a:pathLst>
                <a:path w="3906" h="4680" extrusionOk="0">
                  <a:moveTo>
                    <a:pt x="1834" y="0"/>
                  </a:moveTo>
                  <a:cubicBezTo>
                    <a:pt x="1489" y="0"/>
                    <a:pt x="1179" y="227"/>
                    <a:pt x="1072" y="548"/>
                  </a:cubicBezTo>
                  <a:cubicBezTo>
                    <a:pt x="0" y="3929"/>
                    <a:pt x="24" y="3751"/>
                    <a:pt x="24" y="3941"/>
                  </a:cubicBezTo>
                  <a:cubicBezTo>
                    <a:pt x="24" y="4346"/>
                    <a:pt x="346" y="4680"/>
                    <a:pt x="750" y="4680"/>
                  </a:cubicBezTo>
                  <a:cubicBezTo>
                    <a:pt x="1060" y="4680"/>
                    <a:pt x="1346" y="4477"/>
                    <a:pt x="1429" y="4168"/>
                  </a:cubicBezTo>
                  <a:lnTo>
                    <a:pt x="1524" y="3882"/>
                  </a:lnTo>
                  <a:cubicBezTo>
                    <a:pt x="1572" y="3739"/>
                    <a:pt x="1703" y="3644"/>
                    <a:pt x="1846" y="3644"/>
                  </a:cubicBezTo>
                  <a:lnTo>
                    <a:pt x="2024" y="3644"/>
                  </a:lnTo>
                  <a:cubicBezTo>
                    <a:pt x="2179" y="3644"/>
                    <a:pt x="2310" y="3739"/>
                    <a:pt x="2358" y="3882"/>
                  </a:cubicBezTo>
                  <a:lnTo>
                    <a:pt x="2441" y="4168"/>
                  </a:lnTo>
                  <a:cubicBezTo>
                    <a:pt x="2548" y="4465"/>
                    <a:pt x="2822" y="4680"/>
                    <a:pt x="3132" y="4680"/>
                  </a:cubicBezTo>
                  <a:cubicBezTo>
                    <a:pt x="3536" y="4680"/>
                    <a:pt x="3858" y="4346"/>
                    <a:pt x="3858" y="3941"/>
                  </a:cubicBezTo>
                  <a:cubicBezTo>
                    <a:pt x="3906" y="3751"/>
                    <a:pt x="3858" y="3739"/>
                    <a:pt x="3489" y="2501"/>
                  </a:cubicBezTo>
                  <a:cubicBezTo>
                    <a:pt x="3470" y="2424"/>
                    <a:pt x="3405" y="2386"/>
                    <a:pt x="3337" y="2386"/>
                  </a:cubicBezTo>
                  <a:cubicBezTo>
                    <a:pt x="3320" y="2386"/>
                    <a:pt x="3303" y="2389"/>
                    <a:pt x="3286" y="2394"/>
                  </a:cubicBezTo>
                  <a:cubicBezTo>
                    <a:pt x="3191" y="2429"/>
                    <a:pt x="3144" y="2513"/>
                    <a:pt x="3179" y="2608"/>
                  </a:cubicBezTo>
                  <a:cubicBezTo>
                    <a:pt x="3584" y="3882"/>
                    <a:pt x="3596" y="3834"/>
                    <a:pt x="3596" y="3941"/>
                  </a:cubicBezTo>
                  <a:cubicBezTo>
                    <a:pt x="3596" y="4168"/>
                    <a:pt x="3417" y="4334"/>
                    <a:pt x="3203" y="4334"/>
                  </a:cubicBezTo>
                  <a:cubicBezTo>
                    <a:pt x="3048" y="4334"/>
                    <a:pt x="2894" y="4227"/>
                    <a:pt x="2834" y="4060"/>
                  </a:cubicBezTo>
                  <a:lnTo>
                    <a:pt x="2751" y="3787"/>
                  </a:lnTo>
                  <a:cubicBezTo>
                    <a:pt x="2655" y="3501"/>
                    <a:pt x="2393" y="3310"/>
                    <a:pt x="2096" y="3310"/>
                  </a:cubicBezTo>
                  <a:lnTo>
                    <a:pt x="1882" y="3310"/>
                  </a:lnTo>
                  <a:cubicBezTo>
                    <a:pt x="1584" y="3310"/>
                    <a:pt x="1334" y="3501"/>
                    <a:pt x="1227" y="3787"/>
                  </a:cubicBezTo>
                  <a:lnTo>
                    <a:pt x="1143" y="4084"/>
                  </a:lnTo>
                  <a:cubicBezTo>
                    <a:pt x="1084" y="4239"/>
                    <a:pt x="929" y="4346"/>
                    <a:pt x="762" y="4346"/>
                  </a:cubicBezTo>
                  <a:cubicBezTo>
                    <a:pt x="500" y="4346"/>
                    <a:pt x="298" y="4096"/>
                    <a:pt x="393" y="3822"/>
                  </a:cubicBezTo>
                  <a:lnTo>
                    <a:pt x="1417" y="655"/>
                  </a:lnTo>
                  <a:cubicBezTo>
                    <a:pt x="1477" y="465"/>
                    <a:pt x="1655" y="346"/>
                    <a:pt x="1846" y="346"/>
                  </a:cubicBezTo>
                  <a:lnTo>
                    <a:pt x="2084" y="346"/>
                  </a:lnTo>
                  <a:cubicBezTo>
                    <a:pt x="2286" y="346"/>
                    <a:pt x="2465" y="477"/>
                    <a:pt x="2524" y="655"/>
                  </a:cubicBezTo>
                  <a:lnTo>
                    <a:pt x="2941" y="1965"/>
                  </a:lnTo>
                  <a:cubicBezTo>
                    <a:pt x="2960" y="2041"/>
                    <a:pt x="3025" y="2079"/>
                    <a:pt x="3093" y="2079"/>
                  </a:cubicBezTo>
                  <a:cubicBezTo>
                    <a:pt x="3110" y="2079"/>
                    <a:pt x="3127" y="2077"/>
                    <a:pt x="3144" y="2072"/>
                  </a:cubicBezTo>
                  <a:cubicBezTo>
                    <a:pt x="3239" y="2036"/>
                    <a:pt x="3275" y="1953"/>
                    <a:pt x="3251" y="1858"/>
                  </a:cubicBezTo>
                  <a:lnTo>
                    <a:pt x="2834" y="548"/>
                  </a:lnTo>
                  <a:cubicBezTo>
                    <a:pt x="2727" y="227"/>
                    <a:pt x="2417" y="0"/>
                    <a:pt x="20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56"/>
            <p:cNvSpPr/>
            <p:nvPr/>
          </p:nvSpPr>
          <p:spPr>
            <a:xfrm>
              <a:off x="1399629" y="1581714"/>
              <a:ext cx="37148" cy="52669"/>
            </a:xfrm>
            <a:custGeom>
              <a:avLst/>
              <a:gdLst/>
              <a:ahLst/>
              <a:cxnLst/>
              <a:rect l="l" t="t" r="r" b="b"/>
              <a:pathLst>
                <a:path w="1168" h="1656" extrusionOk="0">
                  <a:moveTo>
                    <a:pt x="596" y="738"/>
                  </a:moveTo>
                  <a:lnTo>
                    <a:pt x="774" y="1310"/>
                  </a:lnTo>
                  <a:lnTo>
                    <a:pt x="417" y="1310"/>
                  </a:lnTo>
                  <a:lnTo>
                    <a:pt x="596" y="738"/>
                  </a:lnTo>
                  <a:close/>
                  <a:moveTo>
                    <a:pt x="584" y="0"/>
                  </a:moveTo>
                  <a:cubicBezTo>
                    <a:pt x="512" y="0"/>
                    <a:pt x="453" y="48"/>
                    <a:pt x="417" y="119"/>
                  </a:cubicBezTo>
                  <a:lnTo>
                    <a:pt x="36" y="1429"/>
                  </a:lnTo>
                  <a:cubicBezTo>
                    <a:pt x="0" y="1536"/>
                    <a:pt x="72" y="1655"/>
                    <a:pt x="191" y="1655"/>
                  </a:cubicBezTo>
                  <a:lnTo>
                    <a:pt x="1000" y="1655"/>
                  </a:lnTo>
                  <a:cubicBezTo>
                    <a:pt x="1060" y="1655"/>
                    <a:pt x="1108" y="1619"/>
                    <a:pt x="1131" y="1584"/>
                  </a:cubicBezTo>
                  <a:cubicBezTo>
                    <a:pt x="1167" y="1536"/>
                    <a:pt x="1167" y="1488"/>
                    <a:pt x="1143" y="1429"/>
                  </a:cubicBezTo>
                  <a:lnTo>
                    <a:pt x="750" y="119"/>
                  </a:lnTo>
                  <a:cubicBezTo>
                    <a:pt x="727" y="48"/>
                    <a:pt x="655" y="0"/>
                    <a:pt x="5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56"/>
          <p:cNvGrpSpPr/>
          <p:nvPr/>
        </p:nvGrpSpPr>
        <p:grpSpPr>
          <a:xfrm>
            <a:off x="5362579" y="2011243"/>
            <a:ext cx="330613" cy="359015"/>
            <a:chOff x="2219466" y="1500293"/>
            <a:chExt cx="330613" cy="359015"/>
          </a:xfrm>
        </p:grpSpPr>
        <p:sp>
          <p:nvSpPr>
            <p:cNvPr id="422" name="Google Shape;422;p56"/>
            <p:cNvSpPr/>
            <p:nvPr/>
          </p:nvSpPr>
          <p:spPr>
            <a:xfrm>
              <a:off x="2353906" y="1635560"/>
              <a:ext cx="65518" cy="82121"/>
            </a:xfrm>
            <a:custGeom>
              <a:avLst/>
              <a:gdLst/>
              <a:ahLst/>
              <a:cxnLst/>
              <a:rect l="l" t="t" r="r" b="b"/>
              <a:pathLst>
                <a:path w="2060" h="2582" extrusionOk="0">
                  <a:moveTo>
                    <a:pt x="994" y="319"/>
                  </a:moveTo>
                  <a:cubicBezTo>
                    <a:pt x="1051" y="319"/>
                    <a:pt x="1107" y="355"/>
                    <a:pt x="1131" y="426"/>
                  </a:cubicBezTo>
                  <a:lnTo>
                    <a:pt x="1631" y="2093"/>
                  </a:lnTo>
                  <a:cubicBezTo>
                    <a:pt x="1667" y="2165"/>
                    <a:pt x="1607" y="2236"/>
                    <a:pt x="1536" y="2236"/>
                  </a:cubicBezTo>
                  <a:lnTo>
                    <a:pt x="476" y="2236"/>
                  </a:lnTo>
                  <a:cubicBezTo>
                    <a:pt x="405" y="2236"/>
                    <a:pt x="345" y="2165"/>
                    <a:pt x="357" y="2093"/>
                  </a:cubicBezTo>
                  <a:lnTo>
                    <a:pt x="857" y="426"/>
                  </a:lnTo>
                  <a:cubicBezTo>
                    <a:pt x="881" y="355"/>
                    <a:pt x="938" y="319"/>
                    <a:pt x="994" y="319"/>
                  </a:cubicBezTo>
                  <a:close/>
                  <a:moveTo>
                    <a:pt x="1006" y="1"/>
                  </a:moveTo>
                  <a:cubicBezTo>
                    <a:pt x="813" y="1"/>
                    <a:pt x="619" y="111"/>
                    <a:pt x="548" y="331"/>
                  </a:cubicBezTo>
                  <a:lnTo>
                    <a:pt x="48" y="1998"/>
                  </a:lnTo>
                  <a:cubicBezTo>
                    <a:pt x="0" y="2129"/>
                    <a:pt x="36" y="2284"/>
                    <a:pt x="119" y="2403"/>
                  </a:cubicBezTo>
                  <a:cubicBezTo>
                    <a:pt x="214" y="2522"/>
                    <a:pt x="345" y="2581"/>
                    <a:pt x="476" y="2581"/>
                  </a:cubicBezTo>
                  <a:lnTo>
                    <a:pt x="1536" y="2581"/>
                  </a:lnTo>
                  <a:cubicBezTo>
                    <a:pt x="1845" y="2581"/>
                    <a:pt x="2060" y="2284"/>
                    <a:pt x="1965" y="1998"/>
                  </a:cubicBezTo>
                  <a:lnTo>
                    <a:pt x="1464" y="331"/>
                  </a:lnTo>
                  <a:cubicBezTo>
                    <a:pt x="1393" y="111"/>
                    <a:pt x="1200" y="1"/>
                    <a:pt x="10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56"/>
            <p:cNvSpPr/>
            <p:nvPr/>
          </p:nvSpPr>
          <p:spPr>
            <a:xfrm>
              <a:off x="2219466" y="1500293"/>
              <a:ext cx="330613" cy="359015"/>
            </a:xfrm>
            <a:custGeom>
              <a:avLst/>
              <a:gdLst/>
              <a:ahLst/>
              <a:cxnLst/>
              <a:rect l="l" t="t" r="r" b="b"/>
              <a:pathLst>
                <a:path w="10395" h="11288" extrusionOk="0">
                  <a:moveTo>
                    <a:pt x="1048" y="322"/>
                  </a:moveTo>
                  <a:lnTo>
                    <a:pt x="1048" y="1048"/>
                  </a:lnTo>
                  <a:lnTo>
                    <a:pt x="334" y="1048"/>
                  </a:lnTo>
                  <a:lnTo>
                    <a:pt x="334" y="322"/>
                  </a:lnTo>
                  <a:close/>
                  <a:moveTo>
                    <a:pt x="5549" y="334"/>
                  </a:moveTo>
                  <a:lnTo>
                    <a:pt x="5549" y="1048"/>
                  </a:lnTo>
                  <a:lnTo>
                    <a:pt x="4834" y="1048"/>
                  </a:lnTo>
                  <a:lnTo>
                    <a:pt x="4834" y="334"/>
                  </a:lnTo>
                  <a:close/>
                  <a:moveTo>
                    <a:pt x="10049" y="322"/>
                  </a:moveTo>
                  <a:lnTo>
                    <a:pt x="10049" y="1048"/>
                  </a:lnTo>
                  <a:lnTo>
                    <a:pt x="9335" y="1048"/>
                  </a:lnTo>
                  <a:lnTo>
                    <a:pt x="9335" y="322"/>
                  </a:lnTo>
                  <a:close/>
                  <a:moveTo>
                    <a:pt x="10061" y="5287"/>
                  </a:moveTo>
                  <a:lnTo>
                    <a:pt x="10061" y="6001"/>
                  </a:lnTo>
                  <a:lnTo>
                    <a:pt x="9347" y="6001"/>
                  </a:lnTo>
                  <a:lnTo>
                    <a:pt x="9347" y="5287"/>
                  </a:lnTo>
                  <a:close/>
                  <a:moveTo>
                    <a:pt x="1048" y="5299"/>
                  </a:moveTo>
                  <a:lnTo>
                    <a:pt x="1048" y="6013"/>
                  </a:lnTo>
                  <a:lnTo>
                    <a:pt x="334" y="6013"/>
                  </a:lnTo>
                  <a:lnTo>
                    <a:pt x="334" y="5299"/>
                  </a:lnTo>
                  <a:close/>
                  <a:moveTo>
                    <a:pt x="1381" y="10287"/>
                  </a:moveTo>
                  <a:lnTo>
                    <a:pt x="1524" y="10418"/>
                  </a:lnTo>
                  <a:lnTo>
                    <a:pt x="1381" y="10418"/>
                  </a:lnTo>
                  <a:lnTo>
                    <a:pt x="1381" y="10287"/>
                  </a:lnTo>
                  <a:close/>
                  <a:moveTo>
                    <a:pt x="9001" y="10287"/>
                  </a:moveTo>
                  <a:lnTo>
                    <a:pt x="9001" y="10418"/>
                  </a:lnTo>
                  <a:lnTo>
                    <a:pt x="8870" y="10418"/>
                  </a:lnTo>
                  <a:lnTo>
                    <a:pt x="9001" y="10287"/>
                  </a:lnTo>
                  <a:close/>
                  <a:moveTo>
                    <a:pt x="9025" y="857"/>
                  </a:moveTo>
                  <a:lnTo>
                    <a:pt x="9025" y="1215"/>
                  </a:lnTo>
                  <a:cubicBezTo>
                    <a:pt x="9025" y="1310"/>
                    <a:pt x="9097" y="1381"/>
                    <a:pt x="9180" y="1381"/>
                  </a:cubicBezTo>
                  <a:lnTo>
                    <a:pt x="9537" y="1381"/>
                  </a:lnTo>
                  <a:lnTo>
                    <a:pt x="9537" y="4953"/>
                  </a:lnTo>
                  <a:lnTo>
                    <a:pt x="9180" y="4953"/>
                  </a:lnTo>
                  <a:cubicBezTo>
                    <a:pt x="9097" y="4953"/>
                    <a:pt x="9025" y="5025"/>
                    <a:pt x="9025" y="5120"/>
                  </a:cubicBezTo>
                  <a:lnTo>
                    <a:pt x="9025" y="6180"/>
                  </a:lnTo>
                  <a:cubicBezTo>
                    <a:pt x="9025" y="6263"/>
                    <a:pt x="9097" y="6346"/>
                    <a:pt x="9180" y="6346"/>
                  </a:cubicBezTo>
                  <a:lnTo>
                    <a:pt x="9537" y="6346"/>
                  </a:lnTo>
                  <a:lnTo>
                    <a:pt x="9537" y="9894"/>
                  </a:lnTo>
                  <a:lnTo>
                    <a:pt x="9275" y="9894"/>
                  </a:lnTo>
                  <a:cubicBezTo>
                    <a:pt x="9406" y="9573"/>
                    <a:pt x="9442" y="9216"/>
                    <a:pt x="9323" y="8870"/>
                  </a:cubicBezTo>
                  <a:lnTo>
                    <a:pt x="7311" y="2632"/>
                  </a:lnTo>
                  <a:cubicBezTo>
                    <a:pt x="7283" y="2567"/>
                    <a:pt x="7227" y="2524"/>
                    <a:pt x="7160" y="2524"/>
                  </a:cubicBezTo>
                  <a:cubicBezTo>
                    <a:pt x="7139" y="2524"/>
                    <a:pt x="7118" y="2528"/>
                    <a:pt x="7096" y="2536"/>
                  </a:cubicBezTo>
                  <a:cubicBezTo>
                    <a:pt x="7013" y="2560"/>
                    <a:pt x="6965" y="2655"/>
                    <a:pt x="7001" y="2739"/>
                  </a:cubicBezTo>
                  <a:lnTo>
                    <a:pt x="9001" y="8978"/>
                  </a:lnTo>
                  <a:cubicBezTo>
                    <a:pt x="9263" y="9780"/>
                    <a:pt x="8624" y="10429"/>
                    <a:pt x="7936" y="10429"/>
                  </a:cubicBezTo>
                  <a:cubicBezTo>
                    <a:pt x="7685" y="10429"/>
                    <a:pt x="7427" y="10342"/>
                    <a:pt x="7204" y="10144"/>
                  </a:cubicBezTo>
                  <a:cubicBezTo>
                    <a:pt x="7171" y="10123"/>
                    <a:pt x="7132" y="10111"/>
                    <a:pt x="7093" y="10111"/>
                  </a:cubicBezTo>
                  <a:cubicBezTo>
                    <a:pt x="7045" y="10111"/>
                    <a:pt x="6998" y="10129"/>
                    <a:pt x="6965" y="10168"/>
                  </a:cubicBezTo>
                  <a:cubicBezTo>
                    <a:pt x="6906" y="10240"/>
                    <a:pt x="6906" y="10347"/>
                    <a:pt x="6977" y="10406"/>
                  </a:cubicBezTo>
                  <a:cubicBezTo>
                    <a:pt x="7001" y="10418"/>
                    <a:pt x="7013" y="10430"/>
                    <a:pt x="7025" y="10430"/>
                  </a:cubicBezTo>
                  <a:lnTo>
                    <a:pt x="5906" y="10430"/>
                  </a:lnTo>
                  <a:lnTo>
                    <a:pt x="5906" y="10073"/>
                  </a:lnTo>
                  <a:cubicBezTo>
                    <a:pt x="5906" y="9990"/>
                    <a:pt x="5834" y="9918"/>
                    <a:pt x="5751" y="9918"/>
                  </a:cubicBezTo>
                  <a:lnTo>
                    <a:pt x="4691" y="9918"/>
                  </a:lnTo>
                  <a:cubicBezTo>
                    <a:pt x="4596" y="9918"/>
                    <a:pt x="4525" y="9990"/>
                    <a:pt x="4525" y="10073"/>
                  </a:cubicBezTo>
                  <a:lnTo>
                    <a:pt x="4525" y="10430"/>
                  </a:lnTo>
                  <a:lnTo>
                    <a:pt x="3382" y="10430"/>
                  </a:lnTo>
                  <a:cubicBezTo>
                    <a:pt x="3834" y="10049"/>
                    <a:pt x="3858" y="9585"/>
                    <a:pt x="4037" y="9144"/>
                  </a:cubicBezTo>
                  <a:cubicBezTo>
                    <a:pt x="4167" y="8728"/>
                    <a:pt x="4548" y="8442"/>
                    <a:pt x="5001" y="8442"/>
                  </a:cubicBezTo>
                  <a:lnTo>
                    <a:pt x="5418" y="8442"/>
                  </a:lnTo>
                  <a:cubicBezTo>
                    <a:pt x="5846" y="8442"/>
                    <a:pt x="6239" y="8728"/>
                    <a:pt x="6382" y="9144"/>
                  </a:cubicBezTo>
                  <a:lnTo>
                    <a:pt x="6596" y="9775"/>
                  </a:lnTo>
                  <a:cubicBezTo>
                    <a:pt x="6615" y="9849"/>
                    <a:pt x="6676" y="9894"/>
                    <a:pt x="6742" y="9894"/>
                  </a:cubicBezTo>
                  <a:cubicBezTo>
                    <a:pt x="6761" y="9894"/>
                    <a:pt x="6780" y="9890"/>
                    <a:pt x="6799" y="9882"/>
                  </a:cubicBezTo>
                  <a:cubicBezTo>
                    <a:pt x="6894" y="9859"/>
                    <a:pt x="6930" y="9763"/>
                    <a:pt x="6906" y="9680"/>
                  </a:cubicBezTo>
                  <a:lnTo>
                    <a:pt x="6692" y="9037"/>
                  </a:lnTo>
                  <a:cubicBezTo>
                    <a:pt x="6513" y="8489"/>
                    <a:pt x="6001" y="8108"/>
                    <a:pt x="5418" y="8108"/>
                  </a:cubicBezTo>
                  <a:lnTo>
                    <a:pt x="5001" y="8108"/>
                  </a:lnTo>
                  <a:cubicBezTo>
                    <a:pt x="4418" y="8108"/>
                    <a:pt x="3894" y="8489"/>
                    <a:pt x="3715" y="9037"/>
                  </a:cubicBezTo>
                  <a:lnTo>
                    <a:pt x="3513" y="9680"/>
                  </a:lnTo>
                  <a:cubicBezTo>
                    <a:pt x="3358" y="10132"/>
                    <a:pt x="2929" y="10430"/>
                    <a:pt x="2453" y="10430"/>
                  </a:cubicBezTo>
                  <a:cubicBezTo>
                    <a:pt x="1846" y="10430"/>
                    <a:pt x="1334" y="9942"/>
                    <a:pt x="1334" y="9323"/>
                  </a:cubicBezTo>
                  <a:cubicBezTo>
                    <a:pt x="1334" y="9025"/>
                    <a:pt x="1429" y="8906"/>
                    <a:pt x="1751" y="7846"/>
                  </a:cubicBezTo>
                  <a:cubicBezTo>
                    <a:pt x="1786" y="7751"/>
                    <a:pt x="1739" y="7668"/>
                    <a:pt x="1655" y="7632"/>
                  </a:cubicBezTo>
                  <a:cubicBezTo>
                    <a:pt x="1639" y="7628"/>
                    <a:pt x="1622" y="7626"/>
                    <a:pt x="1607" y="7626"/>
                  </a:cubicBezTo>
                  <a:cubicBezTo>
                    <a:pt x="1532" y="7626"/>
                    <a:pt x="1470" y="7670"/>
                    <a:pt x="1441" y="7739"/>
                  </a:cubicBezTo>
                  <a:lnTo>
                    <a:pt x="1084" y="8870"/>
                  </a:lnTo>
                  <a:cubicBezTo>
                    <a:pt x="977" y="9216"/>
                    <a:pt x="1000" y="9573"/>
                    <a:pt x="1143" y="9894"/>
                  </a:cubicBezTo>
                  <a:lnTo>
                    <a:pt x="881" y="9894"/>
                  </a:lnTo>
                  <a:lnTo>
                    <a:pt x="881" y="6346"/>
                  </a:lnTo>
                  <a:lnTo>
                    <a:pt x="1239" y="6346"/>
                  </a:lnTo>
                  <a:cubicBezTo>
                    <a:pt x="1322" y="6346"/>
                    <a:pt x="1393" y="6263"/>
                    <a:pt x="1393" y="6180"/>
                  </a:cubicBezTo>
                  <a:lnTo>
                    <a:pt x="1393" y="5120"/>
                  </a:lnTo>
                  <a:cubicBezTo>
                    <a:pt x="1393" y="5037"/>
                    <a:pt x="1322" y="4953"/>
                    <a:pt x="1239" y="4953"/>
                  </a:cubicBezTo>
                  <a:lnTo>
                    <a:pt x="881" y="4953"/>
                  </a:lnTo>
                  <a:lnTo>
                    <a:pt x="881" y="1381"/>
                  </a:lnTo>
                  <a:lnTo>
                    <a:pt x="1239" y="1381"/>
                  </a:lnTo>
                  <a:cubicBezTo>
                    <a:pt x="1322" y="1381"/>
                    <a:pt x="1393" y="1310"/>
                    <a:pt x="1393" y="1227"/>
                  </a:cubicBezTo>
                  <a:lnTo>
                    <a:pt x="1393" y="869"/>
                  </a:lnTo>
                  <a:lnTo>
                    <a:pt x="3953" y="869"/>
                  </a:lnTo>
                  <a:cubicBezTo>
                    <a:pt x="3703" y="1060"/>
                    <a:pt x="3513" y="1322"/>
                    <a:pt x="3417" y="1643"/>
                  </a:cubicBezTo>
                  <a:lnTo>
                    <a:pt x="1643" y="7096"/>
                  </a:lnTo>
                  <a:cubicBezTo>
                    <a:pt x="1608" y="7204"/>
                    <a:pt x="1679" y="7323"/>
                    <a:pt x="1798" y="7323"/>
                  </a:cubicBezTo>
                  <a:cubicBezTo>
                    <a:pt x="1881" y="7323"/>
                    <a:pt x="1941" y="7275"/>
                    <a:pt x="1965" y="7204"/>
                  </a:cubicBezTo>
                  <a:lnTo>
                    <a:pt x="3739" y="1727"/>
                  </a:lnTo>
                  <a:cubicBezTo>
                    <a:pt x="3858" y="1334"/>
                    <a:pt x="4156" y="1036"/>
                    <a:pt x="4525" y="917"/>
                  </a:cubicBezTo>
                  <a:lnTo>
                    <a:pt x="4525" y="1215"/>
                  </a:lnTo>
                  <a:cubicBezTo>
                    <a:pt x="4525" y="1310"/>
                    <a:pt x="4596" y="1381"/>
                    <a:pt x="4691" y="1381"/>
                  </a:cubicBezTo>
                  <a:lnTo>
                    <a:pt x="5751" y="1381"/>
                  </a:lnTo>
                  <a:cubicBezTo>
                    <a:pt x="5834" y="1381"/>
                    <a:pt x="5906" y="1310"/>
                    <a:pt x="5906" y="1215"/>
                  </a:cubicBezTo>
                  <a:lnTo>
                    <a:pt x="5906" y="941"/>
                  </a:lnTo>
                  <a:cubicBezTo>
                    <a:pt x="6263" y="1072"/>
                    <a:pt x="6549" y="1358"/>
                    <a:pt x="6680" y="1739"/>
                  </a:cubicBezTo>
                  <a:lnTo>
                    <a:pt x="6799" y="2096"/>
                  </a:lnTo>
                  <a:cubicBezTo>
                    <a:pt x="6827" y="2172"/>
                    <a:pt x="6886" y="2210"/>
                    <a:pt x="6958" y="2210"/>
                  </a:cubicBezTo>
                  <a:cubicBezTo>
                    <a:pt x="6975" y="2210"/>
                    <a:pt x="6994" y="2208"/>
                    <a:pt x="7013" y="2203"/>
                  </a:cubicBezTo>
                  <a:cubicBezTo>
                    <a:pt x="7096" y="2167"/>
                    <a:pt x="7144" y="2084"/>
                    <a:pt x="7120" y="1989"/>
                  </a:cubicBezTo>
                  <a:cubicBezTo>
                    <a:pt x="7025" y="1786"/>
                    <a:pt x="6977" y="1262"/>
                    <a:pt x="6465" y="857"/>
                  </a:cubicBezTo>
                  <a:close/>
                  <a:moveTo>
                    <a:pt x="1048" y="10228"/>
                  </a:moveTo>
                  <a:lnTo>
                    <a:pt x="1048" y="10942"/>
                  </a:lnTo>
                  <a:lnTo>
                    <a:pt x="334" y="10942"/>
                  </a:lnTo>
                  <a:lnTo>
                    <a:pt x="334" y="10228"/>
                  </a:lnTo>
                  <a:close/>
                  <a:moveTo>
                    <a:pt x="5572" y="10228"/>
                  </a:moveTo>
                  <a:lnTo>
                    <a:pt x="5572" y="10942"/>
                  </a:lnTo>
                  <a:lnTo>
                    <a:pt x="4858" y="10942"/>
                  </a:lnTo>
                  <a:lnTo>
                    <a:pt x="4858" y="10228"/>
                  </a:lnTo>
                  <a:close/>
                  <a:moveTo>
                    <a:pt x="10061" y="10228"/>
                  </a:moveTo>
                  <a:lnTo>
                    <a:pt x="10061" y="10942"/>
                  </a:lnTo>
                  <a:lnTo>
                    <a:pt x="9347" y="10942"/>
                  </a:lnTo>
                  <a:lnTo>
                    <a:pt x="9347" y="10228"/>
                  </a:lnTo>
                  <a:close/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1227"/>
                  </a:lnTo>
                  <a:cubicBezTo>
                    <a:pt x="0" y="1310"/>
                    <a:pt x="72" y="1381"/>
                    <a:pt x="167" y="1381"/>
                  </a:cubicBezTo>
                  <a:lnTo>
                    <a:pt x="524" y="1381"/>
                  </a:lnTo>
                  <a:lnTo>
                    <a:pt x="524" y="4953"/>
                  </a:lnTo>
                  <a:lnTo>
                    <a:pt x="167" y="4953"/>
                  </a:lnTo>
                  <a:cubicBezTo>
                    <a:pt x="72" y="4953"/>
                    <a:pt x="0" y="5037"/>
                    <a:pt x="0" y="5120"/>
                  </a:cubicBezTo>
                  <a:lnTo>
                    <a:pt x="0" y="6180"/>
                  </a:lnTo>
                  <a:cubicBezTo>
                    <a:pt x="0" y="6263"/>
                    <a:pt x="72" y="6346"/>
                    <a:pt x="167" y="6346"/>
                  </a:cubicBezTo>
                  <a:lnTo>
                    <a:pt x="524" y="6346"/>
                  </a:lnTo>
                  <a:lnTo>
                    <a:pt x="524" y="9894"/>
                  </a:lnTo>
                  <a:lnTo>
                    <a:pt x="167" y="9894"/>
                  </a:lnTo>
                  <a:cubicBezTo>
                    <a:pt x="72" y="9894"/>
                    <a:pt x="0" y="9978"/>
                    <a:pt x="0" y="10061"/>
                  </a:cubicBezTo>
                  <a:lnTo>
                    <a:pt x="0" y="11121"/>
                  </a:lnTo>
                  <a:cubicBezTo>
                    <a:pt x="0" y="11204"/>
                    <a:pt x="72" y="11287"/>
                    <a:pt x="167" y="11287"/>
                  </a:cubicBezTo>
                  <a:lnTo>
                    <a:pt x="1215" y="11287"/>
                  </a:lnTo>
                  <a:cubicBezTo>
                    <a:pt x="1310" y="11287"/>
                    <a:pt x="1381" y="11204"/>
                    <a:pt x="1381" y="11121"/>
                  </a:cubicBezTo>
                  <a:lnTo>
                    <a:pt x="1381" y="10763"/>
                  </a:lnTo>
                  <a:lnTo>
                    <a:pt x="4513" y="10763"/>
                  </a:lnTo>
                  <a:lnTo>
                    <a:pt x="4513" y="11121"/>
                  </a:lnTo>
                  <a:cubicBezTo>
                    <a:pt x="4513" y="11204"/>
                    <a:pt x="4584" y="11287"/>
                    <a:pt x="4679" y="11287"/>
                  </a:cubicBezTo>
                  <a:lnTo>
                    <a:pt x="5727" y="11287"/>
                  </a:lnTo>
                  <a:cubicBezTo>
                    <a:pt x="5822" y="11287"/>
                    <a:pt x="5894" y="11204"/>
                    <a:pt x="5894" y="11121"/>
                  </a:cubicBezTo>
                  <a:lnTo>
                    <a:pt x="5894" y="10763"/>
                  </a:lnTo>
                  <a:lnTo>
                    <a:pt x="9001" y="10763"/>
                  </a:lnTo>
                  <a:lnTo>
                    <a:pt x="9001" y="11121"/>
                  </a:lnTo>
                  <a:cubicBezTo>
                    <a:pt x="9001" y="11204"/>
                    <a:pt x="9085" y="11287"/>
                    <a:pt x="9168" y="11287"/>
                  </a:cubicBezTo>
                  <a:lnTo>
                    <a:pt x="10228" y="11287"/>
                  </a:lnTo>
                  <a:cubicBezTo>
                    <a:pt x="10311" y="11287"/>
                    <a:pt x="10394" y="11204"/>
                    <a:pt x="10394" y="11121"/>
                  </a:cubicBezTo>
                  <a:lnTo>
                    <a:pt x="10394" y="10061"/>
                  </a:lnTo>
                  <a:cubicBezTo>
                    <a:pt x="10394" y="9978"/>
                    <a:pt x="10311" y="9894"/>
                    <a:pt x="10228" y="9894"/>
                  </a:cubicBezTo>
                  <a:lnTo>
                    <a:pt x="9871" y="9894"/>
                  </a:lnTo>
                  <a:lnTo>
                    <a:pt x="9871" y="6346"/>
                  </a:lnTo>
                  <a:lnTo>
                    <a:pt x="10228" y="6346"/>
                  </a:lnTo>
                  <a:cubicBezTo>
                    <a:pt x="10311" y="6346"/>
                    <a:pt x="10394" y="6263"/>
                    <a:pt x="10394" y="6180"/>
                  </a:cubicBezTo>
                  <a:lnTo>
                    <a:pt x="10394" y="5120"/>
                  </a:lnTo>
                  <a:cubicBezTo>
                    <a:pt x="10394" y="5037"/>
                    <a:pt x="10311" y="4953"/>
                    <a:pt x="10228" y="4953"/>
                  </a:cubicBezTo>
                  <a:lnTo>
                    <a:pt x="9871" y="4953"/>
                  </a:lnTo>
                  <a:lnTo>
                    <a:pt x="9871" y="1381"/>
                  </a:lnTo>
                  <a:lnTo>
                    <a:pt x="10228" y="1381"/>
                  </a:lnTo>
                  <a:cubicBezTo>
                    <a:pt x="10311" y="1381"/>
                    <a:pt x="10394" y="1310"/>
                    <a:pt x="10394" y="1227"/>
                  </a:cubicBezTo>
                  <a:lnTo>
                    <a:pt x="10394" y="167"/>
                  </a:lnTo>
                  <a:cubicBezTo>
                    <a:pt x="10394" y="72"/>
                    <a:pt x="10311" y="0"/>
                    <a:pt x="10228" y="0"/>
                  </a:cubicBezTo>
                  <a:lnTo>
                    <a:pt x="9168" y="0"/>
                  </a:lnTo>
                  <a:cubicBezTo>
                    <a:pt x="9085" y="0"/>
                    <a:pt x="9001" y="72"/>
                    <a:pt x="9001" y="167"/>
                  </a:cubicBezTo>
                  <a:lnTo>
                    <a:pt x="9001" y="524"/>
                  </a:lnTo>
                  <a:lnTo>
                    <a:pt x="5894" y="524"/>
                  </a:lnTo>
                  <a:lnTo>
                    <a:pt x="5894" y="167"/>
                  </a:lnTo>
                  <a:cubicBezTo>
                    <a:pt x="5894" y="72"/>
                    <a:pt x="5822" y="0"/>
                    <a:pt x="5727" y="0"/>
                  </a:cubicBezTo>
                  <a:lnTo>
                    <a:pt x="4679" y="0"/>
                  </a:lnTo>
                  <a:cubicBezTo>
                    <a:pt x="4584" y="0"/>
                    <a:pt x="4513" y="72"/>
                    <a:pt x="4513" y="167"/>
                  </a:cubicBezTo>
                  <a:lnTo>
                    <a:pt x="4513" y="524"/>
                  </a:lnTo>
                  <a:lnTo>
                    <a:pt x="1381" y="524"/>
                  </a:lnTo>
                  <a:lnTo>
                    <a:pt x="1381" y="167"/>
                  </a:lnTo>
                  <a:cubicBezTo>
                    <a:pt x="1381" y="72"/>
                    <a:pt x="1310" y="0"/>
                    <a:pt x="12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4" name="Google Shape;424;p56"/>
          <p:cNvGrpSpPr/>
          <p:nvPr/>
        </p:nvGrpSpPr>
        <p:grpSpPr>
          <a:xfrm>
            <a:off x="1535790" y="2039455"/>
            <a:ext cx="337069" cy="302593"/>
            <a:chOff x="3441065" y="4302505"/>
            <a:chExt cx="337069" cy="302593"/>
          </a:xfrm>
        </p:grpSpPr>
        <p:sp>
          <p:nvSpPr>
            <p:cNvPr id="425" name="Google Shape;425;p56"/>
            <p:cNvSpPr/>
            <p:nvPr/>
          </p:nvSpPr>
          <p:spPr>
            <a:xfrm>
              <a:off x="3441065" y="4366941"/>
              <a:ext cx="337069" cy="173655"/>
            </a:xfrm>
            <a:custGeom>
              <a:avLst/>
              <a:gdLst/>
              <a:ahLst/>
              <a:cxnLst/>
              <a:rect l="l" t="t" r="r" b="b"/>
              <a:pathLst>
                <a:path w="10598" h="5460" extrusionOk="0">
                  <a:moveTo>
                    <a:pt x="5062" y="1"/>
                  </a:moveTo>
                  <a:cubicBezTo>
                    <a:pt x="3977" y="1"/>
                    <a:pt x="2891" y="303"/>
                    <a:pt x="1834" y="951"/>
                  </a:cubicBezTo>
                  <a:cubicBezTo>
                    <a:pt x="1001" y="1463"/>
                    <a:pt x="418" y="2058"/>
                    <a:pt x="156" y="2368"/>
                  </a:cubicBezTo>
                  <a:cubicBezTo>
                    <a:pt x="1" y="2546"/>
                    <a:pt x="1" y="2808"/>
                    <a:pt x="168" y="2987"/>
                  </a:cubicBezTo>
                  <a:cubicBezTo>
                    <a:pt x="1001" y="3844"/>
                    <a:pt x="1870" y="4475"/>
                    <a:pt x="2739" y="4892"/>
                  </a:cubicBezTo>
                  <a:cubicBezTo>
                    <a:pt x="2763" y="4916"/>
                    <a:pt x="2787" y="4916"/>
                    <a:pt x="2823" y="4916"/>
                  </a:cubicBezTo>
                  <a:cubicBezTo>
                    <a:pt x="2977" y="4916"/>
                    <a:pt x="3037" y="4689"/>
                    <a:pt x="2894" y="4618"/>
                  </a:cubicBezTo>
                  <a:cubicBezTo>
                    <a:pt x="2049" y="4213"/>
                    <a:pt x="1215" y="3582"/>
                    <a:pt x="406" y="2773"/>
                  </a:cubicBezTo>
                  <a:cubicBezTo>
                    <a:pt x="346" y="2713"/>
                    <a:pt x="346" y="2630"/>
                    <a:pt x="406" y="2570"/>
                  </a:cubicBezTo>
                  <a:cubicBezTo>
                    <a:pt x="799" y="2130"/>
                    <a:pt x="2061" y="868"/>
                    <a:pt x="3918" y="451"/>
                  </a:cubicBezTo>
                  <a:lnTo>
                    <a:pt x="3918" y="451"/>
                  </a:lnTo>
                  <a:cubicBezTo>
                    <a:pt x="3561" y="665"/>
                    <a:pt x="3263" y="963"/>
                    <a:pt x="3025" y="1320"/>
                  </a:cubicBezTo>
                  <a:cubicBezTo>
                    <a:pt x="2977" y="1403"/>
                    <a:pt x="3001" y="1487"/>
                    <a:pt x="3073" y="1534"/>
                  </a:cubicBezTo>
                  <a:cubicBezTo>
                    <a:pt x="3098" y="1551"/>
                    <a:pt x="3126" y="1559"/>
                    <a:pt x="3154" y="1559"/>
                  </a:cubicBezTo>
                  <a:cubicBezTo>
                    <a:pt x="3204" y="1559"/>
                    <a:pt x="3252" y="1533"/>
                    <a:pt x="3275" y="1487"/>
                  </a:cubicBezTo>
                  <a:cubicBezTo>
                    <a:pt x="3728" y="772"/>
                    <a:pt x="4490" y="367"/>
                    <a:pt x="5299" y="367"/>
                  </a:cubicBezTo>
                  <a:cubicBezTo>
                    <a:pt x="6609" y="367"/>
                    <a:pt x="7680" y="1439"/>
                    <a:pt x="7680" y="2749"/>
                  </a:cubicBezTo>
                  <a:cubicBezTo>
                    <a:pt x="7680" y="3820"/>
                    <a:pt x="6954" y="4773"/>
                    <a:pt x="5930" y="5047"/>
                  </a:cubicBezTo>
                  <a:cubicBezTo>
                    <a:pt x="5720" y="5103"/>
                    <a:pt x="5510" y="5130"/>
                    <a:pt x="5305" y="5130"/>
                  </a:cubicBezTo>
                  <a:cubicBezTo>
                    <a:pt x="4250" y="5130"/>
                    <a:pt x="3302" y="4424"/>
                    <a:pt x="3013" y="3368"/>
                  </a:cubicBezTo>
                  <a:cubicBezTo>
                    <a:pt x="2954" y="3154"/>
                    <a:pt x="2918" y="2951"/>
                    <a:pt x="2918" y="2737"/>
                  </a:cubicBezTo>
                  <a:cubicBezTo>
                    <a:pt x="2918" y="2487"/>
                    <a:pt x="2966" y="2249"/>
                    <a:pt x="3037" y="2011"/>
                  </a:cubicBezTo>
                  <a:cubicBezTo>
                    <a:pt x="3073" y="1915"/>
                    <a:pt x="3025" y="1844"/>
                    <a:pt x="2942" y="1820"/>
                  </a:cubicBezTo>
                  <a:cubicBezTo>
                    <a:pt x="2920" y="1812"/>
                    <a:pt x="2899" y="1808"/>
                    <a:pt x="2880" y="1808"/>
                  </a:cubicBezTo>
                  <a:cubicBezTo>
                    <a:pt x="2816" y="1808"/>
                    <a:pt x="2767" y="1851"/>
                    <a:pt x="2739" y="1915"/>
                  </a:cubicBezTo>
                  <a:cubicBezTo>
                    <a:pt x="2656" y="2189"/>
                    <a:pt x="2608" y="2475"/>
                    <a:pt x="2608" y="2737"/>
                  </a:cubicBezTo>
                  <a:cubicBezTo>
                    <a:pt x="2608" y="2975"/>
                    <a:pt x="2644" y="3213"/>
                    <a:pt x="2704" y="3439"/>
                  </a:cubicBezTo>
                  <a:cubicBezTo>
                    <a:pt x="2858" y="4058"/>
                    <a:pt x="3251" y="4582"/>
                    <a:pt x="3739" y="4928"/>
                  </a:cubicBezTo>
                  <a:cubicBezTo>
                    <a:pt x="3632" y="4892"/>
                    <a:pt x="3549" y="4868"/>
                    <a:pt x="3442" y="4820"/>
                  </a:cubicBezTo>
                  <a:cubicBezTo>
                    <a:pt x="3427" y="4816"/>
                    <a:pt x="3412" y="4813"/>
                    <a:pt x="3396" y="4813"/>
                  </a:cubicBezTo>
                  <a:cubicBezTo>
                    <a:pt x="3334" y="4813"/>
                    <a:pt x="3270" y="4849"/>
                    <a:pt x="3251" y="4916"/>
                  </a:cubicBezTo>
                  <a:cubicBezTo>
                    <a:pt x="3216" y="4987"/>
                    <a:pt x="3263" y="5070"/>
                    <a:pt x="3335" y="5106"/>
                  </a:cubicBezTo>
                  <a:cubicBezTo>
                    <a:pt x="3996" y="5346"/>
                    <a:pt x="4652" y="5460"/>
                    <a:pt x="5299" y="5460"/>
                  </a:cubicBezTo>
                  <a:cubicBezTo>
                    <a:pt x="6446" y="5460"/>
                    <a:pt x="7563" y="5103"/>
                    <a:pt x="8621" y="4463"/>
                  </a:cubicBezTo>
                  <a:cubicBezTo>
                    <a:pt x="9502" y="3927"/>
                    <a:pt x="10145" y="3308"/>
                    <a:pt x="10443" y="2975"/>
                  </a:cubicBezTo>
                  <a:cubicBezTo>
                    <a:pt x="10597" y="2808"/>
                    <a:pt x="10586" y="2511"/>
                    <a:pt x="10395" y="2356"/>
                  </a:cubicBezTo>
                  <a:cubicBezTo>
                    <a:pt x="10062" y="2058"/>
                    <a:pt x="9728" y="1784"/>
                    <a:pt x="9383" y="1546"/>
                  </a:cubicBezTo>
                  <a:cubicBezTo>
                    <a:pt x="9357" y="1529"/>
                    <a:pt x="9327" y="1521"/>
                    <a:pt x="9298" y="1521"/>
                  </a:cubicBezTo>
                  <a:cubicBezTo>
                    <a:pt x="9246" y="1521"/>
                    <a:pt x="9194" y="1544"/>
                    <a:pt x="9157" y="1582"/>
                  </a:cubicBezTo>
                  <a:cubicBezTo>
                    <a:pt x="9109" y="1653"/>
                    <a:pt x="9133" y="1737"/>
                    <a:pt x="9192" y="1796"/>
                  </a:cubicBezTo>
                  <a:cubicBezTo>
                    <a:pt x="9514" y="2034"/>
                    <a:pt x="9847" y="2296"/>
                    <a:pt x="10169" y="2594"/>
                  </a:cubicBezTo>
                  <a:cubicBezTo>
                    <a:pt x="10228" y="2653"/>
                    <a:pt x="10228" y="2737"/>
                    <a:pt x="10181" y="2796"/>
                  </a:cubicBezTo>
                  <a:cubicBezTo>
                    <a:pt x="9788" y="3225"/>
                    <a:pt x="8550" y="4439"/>
                    <a:pt x="6835" y="4939"/>
                  </a:cubicBezTo>
                  <a:cubicBezTo>
                    <a:pt x="8311" y="3904"/>
                    <a:pt x="8359" y="1737"/>
                    <a:pt x="6954" y="629"/>
                  </a:cubicBezTo>
                  <a:lnTo>
                    <a:pt x="6954" y="629"/>
                  </a:lnTo>
                  <a:cubicBezTo>
                    <a:pt x="7538" y="820"/>
                    <a:pt x="8121" y="1106"/>
                    <a:pt x="8692" y="1463"/>
                  </a:cubicBezTo>
                  <a:cubicBezTo>
                    <a:pt x="8722" y="1476"/>
                    <a:pt x="8752" y="1482"/>
                    <a:pt x="8780" y="1482"/>
                  </a:cubicBezTo>
                  <a:cubicBezTo>
                    <a:pt x="8831" y="1482"/>
                    <a:pt x="8876" y="1461"/>
                    <a:pt x="8907" y="1415"/>
                  </a:cubicBezTo>
                  <a:cubicBezTo>
                    <a:pt x="8954" y="1344"/>
                    <a:pt x="8931" y="1249"/>
                    <a:pt x="8859" y="1201"/>
                  </a:cubicBezTo>
                  <a:cubicBezTo>
                    <a:pt x="7632" y="426"/>
                    <a:pt x="6348" y="1"/>
                    <a:pt x="50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56"/>
            <p:cNvSpPr/>
            <p:nvPr/>
          </p:nvSpPr>
          <p:spPr>
            <a:xfrm>
              <a:off x="3572864" y="4423300"/>
              <a:ext cx="76141" cy="61479"/>
            </a:xfrm>
            <a:custGeom>
              <a:avLst/>
              <a:gdLst/>
              <a:ahLst/>
              <a:cxnLst/>
              <a:rect l="l" t="t" r="r" b="b"/>
              <a:pathLst>
                <a:path w="2394" h="1933" extrusionOk="0">
                  <a:moveTo>
                    <a:pt x="1143" y="0"/>
                  </a:moveTo>
                  <a:cubicBezTo>
                    <a:pt x="465" y="0"/>
                    <a:pt x="0" y="679"/>
                    <a:pt x="238" y="1322"/>
                  </a:cubicBezTo>
                  <a:cubicBezTo>
                    <a:pt x="258" y="1381"/>
                    <a:pt x="326" y="1423"/>
                    <a:pt x="396" y="1423"/>
                  </a:cubicBezTo>
                  <a:cubicBezTo>
                    <a:pt x="411" y="1423"/>
                    <a:pt x="426" y="1421"/>
                    <a:pt x="441" y="1417"/>
                  </a:cubicBezTo>
                  <a:cubicBezTo>
                    <a:pt x="524" y="1382"/>
                    <a:pt x="560" y="1298"/>
                    <a:pt x="536" y="1203"/>
                  </a:cubicBezTo>
                  <a:cubicBezTo>
                    <a:pt x="354" y="738"/>
                    <a:pt x="729" y="308"/>
                    <a:pt x="1156" y="308"/>
                  </a:cubicBezTo>
                  <a:cubicBezTo>
                    <a:pt x="1287" y="308"/>
                    <a:pt x="1422" y="349"/>
                    <a:pt x="1548" y="441"/>
                  </a:cubicBezTo>
                  <a:cubicBezTo>
                    <a:pt x="2036" y="822"/>
                    <a:pt x="1774" y="1620"/>
                    <a:pt x="1143" y="1620"/>
                  </a:cubicBezTo>
                  <a:cubicBezTo>
                    <a:pt x="1048" y="1620"/>
                    <a:pt x="953" y="1608"/>
                    <a:pt x="881" y="1560"/>
                  </a:cubicBezTo>
                  <a:cubicBezTo>
                    <a:pt x="860" y="1554"/>
                    <a:pt x="840" y="1551"/>
                    <a:pt x="819" y="1551"/>
                  </a:cubicBezTo>
                  <a:cubicBezTo>
                    <a:pt x="759" y="1551"/>
                    <a:pt x="703" y="1578"/>
                    <a:pt x="667" y="1632"/>
                  </a:cubicBezTo>
                  <a:cubicBezTo>
                    <a:pt x="643" y="1715"/>
                    <a:pt x="667" y="1798"/>
                    <a:pt x="738" y="1846"/>
                  </a:cubicBezTo>
                  <a:cubicBezTo>
                    <a:pt x="869" y="1904"/>
                    <a:pt x="1009" y="1933"/>
                    <a:pt x="1148" y="1933"/>
                  </a:cubicBezTo>
                  <a:cubicBezTo>
                    <a:pt x="1438" y="1933"/>
                    <a:pt x="1724" y="1806"/>
                    <a:pt x="1917" y="1548"/>
                  </a:cubicBezTo>
                  <a:cubicBezTo>
                    <a:pt x="2393" y="917"/>
                    <a:pt x="1965" y="0"/>
                    <a:pt x="1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56"/>
            <p:cNvSpPr/>
            <p:nvPr/>
          </p:nvSpPr>
          <p:spPr>
            <a:xfrm>
              <a:off x="3619045" y="4394485"/>
              <a:ext cx="46626" cy="39088"/>
            </a:xfrm>
            <a:custGeom>
              <a:avLst/>
              <a:gdLst/>
              <a:ahLst/>
              <a:cxnLst/>
              <a:rect l="l" t="t" r="r" b="b"/>
              <a:pathLst>
                <a:path w="1466" h="1229" extrusionOk="0">
                  <a:moveTo>
                    <a:pt x="782" y="310"/>
                  </a:moveTo>
                  <a:cubicBezTo>
                    <a:pt x="917" y="310"/>
                    <a:pt x="1054" y="400"/>
                    <a:pt x="1096" y="549"/>
                  </a:cubicBezTo>
                  <a:cubicBezTo>
                    <a:pt x="1120" y="716"/>
                    <a:pt x="1013" y="871"/>
                    <a:pt x="858" y="906"/>
                  </a:cubicBezTo>
                  <a:cubicBezTo>
                    <a:pt x="834" y="912"/>
                    <a:pt x="810" y="914"/>
                    <a:pt x="788" y="914"/>
                  </a:cubicBezTo>
                  <a:cubicBezTo>
                    <a:pt x="553" y="914"/>
                    <a:pt x="406" y="648"/>
                    <a:pt x="537" y="442"/>
                  </a:cubicBezTo>
                  <a:cubicBezTo>
                    <a:pt x="599" y="351"/>
                    <a:pt x="690" y="310"/>
                    <a:pt x="782" y="310"/>
                  </a:cubicBezTo>
                  <a:close/>
                  <a:moveTo>
                    <a:pt x="791" y="1"/>
                  </a:moveTo>
                  <a:cubicBezTo>
                    <a:pt x="598" y="1"/>
                    <a:pt x="403" y="88"/>
                    <a:pt x="275" y="275"/>
                  </a:cubicBezTo>
                  <a:cubicBezTo>
                    <a:pt x="1" y="692"/>
                    <a:pt x="321" y="1229"/>
                    <a:pt x="792" y="1229"/>
                  </a:cubicBezTo>
                  <a:cubicBezTo>
                    <a:pt x="833" y="1229"/>
                    <a:pt x="875" y="1225"/>
                    <a:pt x="918" y="1216"/>
                  </a:cubicBezTo>
                  <a:cubicBezTo>
                    <a:pt x="1251" y="1145"/>
                    <a:pt x="1465" y="811"/>
                    <a:pt x="1394" y="490"/>
                  </a:cubicBezTo>
                  <a:cubicBezTo>
                    <a:pt x="1331" y="176"/>
                    <a:pt x="1064" y="1"/>
                    <a:pt x="7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56"/>
            <p:cNvSpPr/>
            <p:nvPr/>
          </p:nvSpPr>
          <p:spPr>
            <a:xfrm>
              <a:off x="3604669" y="4302505"/>
              <a:ext cx="9860" cy="42046"/>
            </a:xfrm>
            <a:custGeom>
              <a:avLst/>
              <a:gdLst/>
              <a:ahLst/>
              <a:cxnLst/>
              <a:rect l="l" t="t" r="r" b="b"/>
              <a:pathLst>
                <a:path w="310" h="1322" extrusionOk="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lnTo>
                    <a:pt x="0" y="1179"/>
                  </a:lnTo>
                  <a:cubicBezTo>
                    <a:pt x="0" y="1262"/>
                    <a:pt x="72" y="1322"/>
                    <a:pt x="143" y="1322"/>
                  </a:cubicBezTo>
                  <a:cubicBezTo>
                    <a:pt x="238" y="1322"/>
                    <a:pt x="298" y="1250"/>
                    <a:pt x="298" y="1179"/>
                  </a:cubicBezTo>
                  <a:lnTo>
                    <a:pt x="298" y="155"/>
                  </a:lnTo>
                  <a:cubicBezTo>
                    <a:pt x="310" y="72"/>
                    <a:pt x="238" y="0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6"/>
            <p:cNvSpPr/>
            <p:nvPr/>
          </p:nvSpPr>
          <p:spPr>
            <a:xfrm>
              <a:off x="3528178" y="4315926"/>
              <a:ext cx="22359" cy="40742"/>
            </a:xfrm>
            <a:custGeom>
              <a:avLst/>
              <a:gdLst/>
              <a:ahLst/>
              <a:cxnLst/>
              <a:rect l="l" t="t" r="r" b="b"/>
              <a:pathLst>
                <a:path w="703" h="1281" extrusionOk="0">
                  <a:moveTo>
                    <a:pt x="163" y="1"/>
                  </a:moveTo>
                  <a:cubicBezTo>
                    <a:pt x="149" y="1"/>
                    <a:pt x="134" y="3"/>
                    <a:pt x="119" y="7"/>
                  </a:cubicBezTo>
                  <a:cubicBezTo>
                    <a:pt x="48" y="43"/>
                    <a:pt x="0" y="126"/>
                    <a:pt x="36" y="209"/>
                  </a:cubicBezTo>
                  <a:lnTo>
                    <a:pt x="393" y="1174"/>
                  </a:lnTo>
                  <a:cubicBezTo>
                    <a:pt x="417" y="1233"/>
                    <a:pt x="477" y="1281"/>
                    <a:pt x="536" y="1281"/>
                  </a:cubicBezTo>
                  <a:cubicBezTo>
                    <a:pt x="631" y="1281"/>
                    <a:pt x="703" y="1174"/>
                    <a:pt x="679" y="1067"/>
                  </a:cubicBezTo>
                  <a:lnTo>
                    <a:pt x="322" y="102"/>
                  </a:lnTo>
                  <a:cubicBezTo>
                    <a:pt x="292" y="43"/>
                    <a:pt x="231" y="1"/>
                    <a:pt x="1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6"/>
            <p:cNvSpPr/>
            <p:nvPr/>
          </p:nvSpPr>
          <p:spPr>
            <a:xfrm>
              <a:off x="3457730" y="4348590"/>
              <a:ext cx="32600" cy="35367"/>
            </a:xfrm>
            <a:custGeom>
              <a:avLst/>
              <a:gdLst/>
              <a:ahLst/>
              <a:cxnLst/>
              <a:rect l="l" t="t" r="r" b="b"/>
              <a:pathLst>
                <a:path w="1025" h="1112" extrusionOk="0">
                  <a:moveTo>
                    <a:pt x="183" y="0"/>
                  </a:moveTo>
                  <a:cubicBezTo>
                    <a:pt x="147" y="0"/>
                    <a:pt x="110" y="13"/>
                    <a:pt x="72" y="40"/>
                  </a:cubicBezTo>
                  <a:cubicBezTo>
                    <a:pt x="13" y="99"/>
                    <a:pt x="1" y="194"/>
                    <a:pt x="60" y="266"/>
                  </a:cubicBezTo>
                  <a:lnTo>
                    <a:pt x="715" y="1052"/>
                  </a:lnTo>
                  <a:cubicBezTo>
                    <a:pt x="751" y="1087"/>
                    <a:pt x="787" y="1111"/>
                    <a:pt x="834" y="1111"/>
                  </a:cubicBezTo>
                  <a:cubicBezTo>
                    <a:pt x="953" y="1099"/>
                    <a:pt x="1025" y="944"/>
                    <a:pt x="953" y="849"/>
                  </a:cubicBezTo>
                  <a:lnTo>
                    <a:pt x="298" y="51"/>
                  </a:lnTo>
                  <a:cubicBezTo>
                    <a:pt x="266" y="19"/>
                    <a:pt x="226" y="0"/>
                    <a:pt x="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6"/>
            <p:cNvSpPr/>
            <p:nvPr/>
          </p:nvSpPr>
          <p:spPr>
            <a:xfrm>
              <a:off x="3727723" y="4351611"/>
              <a:ext cx="32218" cy="34954"/>
            </a:xfrm>
            <a:custGeom>
              <a:avLst/>
              <a:gdLst/>
              <a:ahLst/>
              <a:cxnLst/>
              <a:rect l="l" t="t" r="r" b="b"/>
              <a:pathLst>
                <a:path w="1013" h="1099" extrusionOk="0">
                  <a:moveTo>
                    <a:pt x="834" y="1"/>
                  </a:moveTo>
                  <a:cubicBezTo>
                    <a:pt x="791" y="1"/>
                    <a:pt x="748" y="19"/>
                    <a:pt x="715" y="52"/>
                  </a:cubicBezTo>
                  <a:lnTo>
                    <a:pt x="60" y="838"/>
                  </a:lnTo>
                  <a:cubicBezTo>
                    <a:pt x="1" y="897"/>
                    <a:pt x="13" y="1004"/>
                    <a:pt x="72" y="1064"/>
                  </a:cubicBezTo>
                  <a:cubicBezTo>
                    <a:pt x="96" y="1088"/>
                    <a:pt x="128" y="1098"/>
                    <a:pt x="161" y="1098"/>
                  </a:cubicBezTo>
                  <a:cubicBezTo>
                    <a:pt x="211" y="1098"/>
                    <a:pt x="263" y="1075"/>
                    <a:pt x="299" y="1040"/>
                  </a:cubicBezTo>
                  <a:lnTo>
                    <a:pt x="953" y="254"/>
                  </a:lnTo>
                  <a:cubicBezTo>
                    <a:pt x="1013" y="183"/>
                    <a:pt x="1013" y="76"/>
                    <a:pt x="930" y="40"/>
                  </a:cubicBezTo>
                  <a:cubicBezTo>
                    <a:pt x="903" y="13"/>
                    <a:pt x="869" y="1"/>
                    <a:pt x="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56"/>
            <p:cNvSpPr/>
            <p:nvPr/>
          </p:nvSpPr>
          <p:spPr>
            <a:xfrm>
              <a:off x="3668279" y="4315926"/>
              <a:ext cx="22391" cy="40742"/>
            </a:xfrm>
            <a:custGeom>
              <a:avLst/>
              <a:gdLst/>
              <a:ahLst/>
              <a:cxnLst/>
              <a:rect l="l" t="t" r="r" b="b"/>
              <a:pathLst>
                <a:path w="704" h="1281" extrusionOk="0">
                  <a:moveTo>
                    <a:pt x="544" y="1"/>
                  </a:moveTo>
                  <a:cubicBezTo>
                    <a:pt x="481" y="1"/>
                    <a:pt x="413" y="43"/>
                    <a:pt x="394" y="102"/>
                  </a:cubicBezTo>
                  <a:lnTo>
                    <a:pt x="36" y="1067"/>
                  </a:lnTo>
                  <a:cubicBezTo>
                    <a:pt x="1" y="1174"/>
                    <a:pt x="84" y="1281"/>
                    <a:pt x="179" y="1281"/>
                  </a:cubicBezTo>
                  <a:cubicBezTo>
                    <a:pt x="239" y="1281"/>
                    <a:pt x="298" y="1233"/>
                    <a:pt x="334" y="1174"/>
                  </a:cubicBezTo>
                  <a:lnTo>
                    <a:pt x="691" y="209"/>
                  </a:lnTo>
                  <a:cubicBezTo>
                    <a:pt x="703" y="126"/>
                    <a:pt x="655" y="43"/>
                    <a:pt x="584" y="7"/>
                  </a:cubicBezTo>
                  <a:cubicBezTo>
                    <a:pt x="571" y="3"/>
                    <a:pt x="558" y="1"/>
                    <a:pt x="5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56"/>
            <p:cNvSpPr/>
            <p:nvPr/>
          </p:nvSpPr>
          <p:spPr>
            <a:xfrm>
              <a:off x="3603143" y="4563019"/>
              <a:ext cx="9891" cy="42078"/>
            </a:xfrm>
            <a:custGeom>
              <a:avLst/>
              <a:gdLst/>
              <a:ahLst/>
              <a:cxnLst/>
              <a:rect l="l" t="t" r="r" b="b"/>
              <a:pathLst>
                <a:path w="311" h="1323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1168"/>
                  </a:lnTo>
                  <a:cubicBezTo>
                    <a:pt x="1" y="1263"/>
                    <a:pt x="72" y="1322"/>
                    <a:pt x="144" y="1322"/>
                  </a:cubicBezTo>
                  <a:cubicBezTo>
                    <a:pt x="239" y="1322"/>
                    <a:pt x="298" y="1251"/>
                    <a:pt x="298" y="1168"/>
                  </a:cubicBezTo>
                  <a:lnTo>
                    <a:pt x="298" y="144"/>
                  </a:ln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6"/>
            <p:cNvSpPr/>
            <p:nvPr/>
          </p:nvSpPr>
          <p:spPr>
            <a:xfrm>
              <a:off x="3667134" y="4552206"/>
              <a:ext cx="22009" cy="40233"/>
            </a:xfrm>
            <a:custGeom>
              <a:avLst/>
              <a:gdLst/>
              <a:ahLst/>
              <a:cxnLst/>
              <a:rect l="l" t="t" r="r" b="b"/>
              <a:pathLst>
                <a:path w="692" h="1265" extrusionOk="0">
                  <a:moveTo>
                    <a:pt x="165" y="0"/>
                  </a:moveTo>
                  <a:cubicBezTo>
                    <a:pt x="150" y="0"/>
                    <a:pt x="135" y="3"/>
                    <a:pt x="120" y="7"/>
                  </a:cubicBezTo>
                  <a:cubicBezTo>
                    <a:pt x="37" y="43"/>
                    <a:pt x="1" y="126"/>
                    <a:pt x="25" y="198"/>
                  </a:cubicBezTo>
                  <a:lnTo>
                    <a:pt x="382" y="1174"/>
                  </a:lnTo>
                  <a:cubicBezTo>
                    <a:pt x="410" y="1231"/>
                    <a:pt x="468" y="1265"/>
                    <a:pt x="527" y="1265"/>
                  </a:cubicBezTo>
                  <a:cubicBezTo>
                    <a:pt x="542" y="1265"/>
                    <a:pt x="557" y="1263"/>
                    <a:pt x="572" y="1258"/>
                  </a:cubicBezTo>
                  <a:cubicBezTo>
                    <a:pt x="656" y="1234"/>
                    <a:pt x="691" y="1139"/>
                    <a:pt x="668" y="1067"/>
                  </a:cubicBezTo>
                  <a:lnTo>
                    <a:pt x="310" y="103"/>
                  </a:lnTo>
                  <a:cubicBezTo>
                    <a:pt x="282" y="36"/>
                    <a:pt x="223" y="0"/>
                    <a:pt x="1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6"/>
            <p:cNvSpPr/>
            <p:nvPr/>
          </p:nvSpPr>
          <p:spPr>
            <a:xfrm>
              <a:off x="3727723" y="4524662"/>
              <a:ext cx="32982" cy="35367"/>
            </a:xfrm>
            <a:custGeom>
              <a:avLst/>
              <a:gdLst/>
              <a:ahLst/>
              <a:cxnLst/>
              <a:rect l="l" t="t" r="r" b="b"/>
              <a:pathLst>
                <a:path w="1037" h="1112" extrusionOk="0">
                  <a:moveTo>
                    <a:pt x="178" y="1"/>
                  </a:moveTo>
                  <a:cubicBezTo>
                    <a:pt x="142" y="1"/>
                    <a:pt x="104" y="13"/>
                    <a:pt x="72" y="40"/>
                  </a:cubicBezTo>
                  <a:cubicBezTo>
                    <a:pt x="13" y="100"/>
                    <a:pt x="1" y="195"/>
                    <a:pt x="60" y="266"/>
                  </a:cubicBezTo>
                  <a:lnTo>
                    <a:pt x="715" y="1052"/>
                  </a:lnTo>
                  <a:cubicBezTo>
                    <a:pt x="739" y="1088"/>
                    <a:pt x="787" y="1112"/>
                    <a:pt x="834" y="1112"/>
                  </a:cubicBezTo>
                  <a:cubicBezTo>
                    <a:pt x="965" y="1100"/>
                    <a:pt x="1037" y="945"/>
                    <a:pt x="953" y="850"/>
                  </a:cubicBezTo>
                  <a:lnTo>
                    <a:pt x="299" y="52"/>
                  </a:lnTo>
                  <a:cubicBezTo>
                    <a:pt x="266" y="19"/>
                    <a:pt x="222" y="1"/>
                    <a:pt x="1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56"/>
            <p:cNvSpPr/>
            <p:nvPr/>
          </p:nvSpPr>
          <p:spPr>
            <a:xfrm>
              <a:off x="3457349" y="4522023"/>
              <a:ext cx="32218" cy="34954"/>
            </a:xfrm>
            <a:custGeom>
              <a:avLst/>
              <a:gdLst/>
              <a:ahLst/>
              <a:cxnLst/>
              <a:rect l="l" t="t" r="r" b="b"/>
              <a:pathLst>
                <a:path w="1013" h="1099" extrusionOk="0">
                  <a:moveTo>
                    <a:pt x="841" y="0"/>
                  </a:moveTo>
                  <a:cubicBezTo>
                    <a:pt x="795" y="0"/>
                    <a:pt x="748" y="19"/>
                    <a:pt x="715" y="52"/>
                  </a:cubicBezTo>
                  <a:lnTo>
                    <a:pt x="60" y="837"/>
                  </a:lnTo>
                  <a:cubicBezTo>
                    <a:pt x="1" y="897"/>
                    <a:pt x="13" y="1004"/>
                    <a:pt x="72" y="1064"/>
                  </a:cubicBezTo>
                  <a:cubicBezTo>
                    <a:pt x="96" y="1088"/>
                    <a:pt x="128" y="1098"/>
                    <a:pt x="161" y="1098"/>
                  </a:cubicBezTo>
                  <a:cubicBezTo>
                    <a:pt x="211" y="1098"/>
                    <a:pt x="263" y="1075"/>
                    <a:pt x="298" y="1040"/>
                  </a:cubicBezTo>
                  <a:lnTo>
                    <a:pt x="953" y="254"/>
                  </a:lnTo>
                  <a:cubicBezTo>
                    <a:pt x="1013" y="183"/>
                    <a:pt x="1013" y="99"/>
                    <a:pt x="941" y="40"/>
                  </a:cubicBezTo>
                  <a:cubicBezTo>
                    <a:pt x="915" y="13"/>
                    <a:pt x="878" y="0"/>
                    <a:pt x="8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6"/>
            <p:cNvSpPr/>
            <p:nvPr/>
          </p:nvSpPr>
          <p:spPr>
            <a:xfrm>
              <a:off x="3526270" y="4551665"/>
              <a:ext cx="22772" cy="40392"/>
            </a:xfrm>
            <a:custGeom>
              <a:avLst/>
              <a:gdLst/>
              <a:ahLst/>
              <a:cxnLst/>
              <a:rect l="l" t="t" r="r" b="b"/>
              <a:pathLst>
                <a:path w="716" h="1270" extrusionOk="0">
                  <a:moveTo>
                    <a:pt x="531" y="0"/>
                  </a:moveTo>
                  <a:cubicBezTo>
                    <a:pt x="472" y="0"/>
                    <a:pt x="412" y="41"/>
                    <a:pt x="394" y="96"/>
                  </a:cubicBezTo>
                  <a:lnTo>
                    <a:pt x="36" y="1072"/>
                  </a:lnTo>
                  <a:cubicBezTo>
                    <a:pt x="1" y="1144"/>
                    <a:pt x="48" y="1227"/>
                    <a:pt x="120" y="1263"/>
                  </a:cubicBezTo>
                  <a:cubicBezTo>
                    <a:pt x="137" y="1268"/>
                    <a:pt x="154" y="1270"/>
                    <a:pt x="170" y="1270"/>
                  </a:cubicBezTo>
                  <a:cubicBezTo>
                    <a:pt x="235" y="1270"/>
                    <a:pt x="294" y="1234"/>
                    <a:pt x="322" y="1167"/>
                  </a:cubicBezTo>
                  <a:lnTo>
                    <a:pt x="679" y="203"/>
                  </a:lnTo>
                  <a:cubicBezTo>
                    <a:pt x="715" y="132"/>
                    <a:pt x="679" y="36"/>
                    <a:pt x="584" y="13"/>
                  </a:cubicBezTo>
                  <a:cubicBezTo>
                    <a:pt x="567" y="4"/>
                    <a:pt x="549" y="0"/>
                    <a:pt x="5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56"/>
          <p:cNvSpPr/>
          <p:nvPr/>
        </p:nvSpPr>
        <p:spPr>
          <a:xfrm>
            <a:off x="3436589" y="3296891"/>
            <a:ext cx="359015" cy="358442"/>
          </a:xfrm>
          <a:custGeom>
            <a:avLst/>
            <a:gdLst/>
            <a:ahLst/>
            <a:cxnLst/>
            <a:rect l="l" t="t" r="r" b="b"/>
            <a:pathLst>
              <a:path w="11288" h="11270" extrusionOk="0">
                <a:moveTo>
                  <a:pt x="6049" y="351"/>
                </a:moveTo>
                <a:lnTo>
                  <a:pt x="6049" y="1149"/>
                </a:lnTo>
                <a:lnTo>
                  <a:pt x="5239" y="1149"/>
                </a:lnTo>
                <a:lnTo>
                  <a:pt x="5239" y="351"/>
                </a:lnTo>
                <a:close/>
                <a:moveTo>
                  <a:pt x="1167" y="5828"/>
                </a:moveTo>
                <a:lnTo>
                  <a:pt x="1167" y="6650"/>
                </a:lnTo>
                <a:lnTo>
                  <a:pt x="345" y="6650"/>
                </a:lnTo>
                <a:lnTo>
                  <a:pt x="345" y="5828"/>
                </a:lnTo>
                <a:close/>
                <a:moveTo>
                  <a:pt x="10954" y="5828"/>
                </a:moveTo>
                <a:lnTo>
                  <a:pt x="10954" y="6650"/>
                </a:lnTo>
                <a:lnTo>
                  <a:pt x="10132" y="6650"/>
                </a:lnTo>
                <a:lnTo>
                  <a:pt x="10132" y="5828"/>
                </a:lnTo>
                <a:close/>
                <a:moveTo>
                  <a:pt x="1442" y="0"/>
                </a:moveTo>
                <a:cubicBezTo>
                  <a:pt x="1273" y="0"/>
                  <a:pt x="1100" y="58"/>
                  <a:pt x="953" y="185"/>
                </a:cubicBezTo>
                <a:cubicBezTo>
                  <a:pt x="726" y="375"/>
                  <a:pt x="643" y="709"/>
                  <a:pt x="726" y="971"/>
                </a:cubicBezTo>
                <a:cubicBezTo>
                  <a:pt x="755" y="1047"/>
                  <a:pt x="814" y="1085"/>
                  <a:pt x="885" y="1085"/>
                </a:cubicBezTo>
                <a:cubicBezTo>
                  <a:pt x="903" y="1085"/>
                  <a:pt x="922" y="1082"/>
                  <a:pt x="941" y="1078"/>
                </a:cubicBezTo>
                <a:cubicBezTo>
                  <a:pt x="1024" y="1042"/>
                  <a:pt x="1072" y="959"/>
                  <a:pt x="1036" y="863"/>
                </a:cubicBezTo>
                <a:cubicBezTo>
                  <a:pt x="953" y="601"/>
                  <a:pt x="1143" y="328"/>
                  <a:pt x="1429" y="328"/>
                </a:cubicBezTo>
                <a:cubicBezTo>
                  <a:pt x="1798" y="328"/>
                  <a:pt x="1977" y="792"/>
                  <a:pt x="1691" y="1042"/>
                </a:cubicBezTo>
                <a:cubicBezTo>
                  <a:pt x="1631" y="1112"/>
                  <a:pt x="1545" y="1140"/>
                  <a:pt x="1463" y="1140"/>
                </a:cubicBezTo>
                <a:cubicBezTo>
                  <a:pt x="1447" y="1140"/>
                  <a:pt x="1432" y="1139"/>
                  <a:pt x="1417" y="1137"/>
                </a:cubicBezTo>
                <a:cubicBezTo>
                  <a:pt x="1322" y="1137"/>
                  <a:pt x="1238" y="1197"/>
                  <a:pt x="1238" y="1280"/>
                </a:cubicBezTo>
                <a:cubicBezTo>
                  <a:pt x="1238" y="1375"/>
                  <a:pt x="1298" y="1459"/>
                  <a:pt x="1381" y="1459"/>
                </a:cubicBezTo>
                <a:cubicBezTo>
                  <a:pt x="1409" y="1462"/>
                  <a:pt x="1436" y="1464"/>
                  <a:pt x="1463" y="1464"/>
                </a:cubicBezTo>
                <a:cubicBezTo>
                  <a:pt x="1628" y="1464"/>
                  <a:pt x="1795" y="1403"/>
                  <a:pt x="1917" y="1280"/>
                </a:cubicBezTo>
                <a:cubicBezTo>
                  <a:pt x="2036" y="1185"/>
                  <a:pt x="2131" y="1042"/>
                  <a:pt x="2155" y="899"/>
                </a:cubicBezTo>
                <a:lnTo>
                  <a:pt x="3822" y="899"/>
                </a:lnTo>
                <a:cubicBezTo>
                  <a:pt x="3167" y="1149"/>
                  <a:pt x="2572" y="1542"/>
                  <a:pt x="2072" y="2042"/>
                </a:cubicBezTo>
                <a:cubicBezTo>
                  <a:pt x="1143" y="2971"/>
                  <a:pt x="619" y="4173"/>
                  <a:pt x="595" y="5471"/>
                </a:cubicBezTo>
                <a:lnTo>
                  <a:pt x="167" y="5471"/>
                </a:lnTo>
                <a:cubicBezTo>
                  <a:pt x="72" y="5471"/>
                  <a:pt x="0" y="5543"/>
                  <a:pt x="0" y="5626"/>
                </a:cubicBezTo>
                <a:lnTo>
                  <a:pt x="0" y="6793"/>
                </a:lnTo>
                <a:cubicBezTo>
                  <a:pt x="0" y="6876"/>
                  <a:pt x="72" y="6959"/>
                  <a:pt x="167" y="6959"/>
                </a:cubicBezTo>
                <a:lnTo>
                  <a:pt x="1322" y="6959"/>
                </a:lnTo>
                <a:cubicBezTo>
                  <a:pt x="1417" y="6959"/>
                  <a:pt x="1488" y="6876"/>
                  <a:pt x="1488" y="6793"/>
                </a:cubicBezTo>
                <a:lnTo>
                  <a:pt x="1488" y="5626"/>
                </a:lnTo>
                <a:cubicBezTo>
                  <a:pt x="1488" y="5543"/>
                  <a:pt x="1417" y="5471"/>
                  <a:pt x="1322" y="5471"/>
                </a:cubicBezTo>
                <a:lnTo>
                  <a:pt x="941" y="5471"/>
                </a:lnTo>
                <a:cubicBezTo>
                  <a:pt x="1012" y="3185"/>
                  <a:pt x="2703" y="1304"/>
                  <a:pt x="4906" y="959"/>
                </a:cubicBezTo>
                <a:lnTo>
                  <a:pt x="4906" y="1304"/>
                </a:lnTo>
                <a:cubicBezTo>
                  <a:pt x="4906" y="1387"/>
                  <a:pt x="4989" y="1459"/>
                  <a:pt x="5072" y="1459"/>
                </a:cubicBezTo>
                <a:lnTo>
                  <a:pt x="5406" y="1459"/>
                </a:lnTo>
                <a:cubicBezTo>
                  <a:pt x="5227" y="1518"/>
                  <a:pt x="5072" y="1661"/>
                  <a:pt x="5001" y="1852"/>
                </a:cubicBezTo>
                <a:lnTo>
                  <a:pt x="3513" y="5269"/>
                </a:lnTo>
                <a:cubicBezTo>
                  <a:pt x="3382" y="5566"/>
                  <a:pt x="3322" y="5888"/>
                  <a:pt x="3322" y="6197"/>
                </a:cubicBezTo>
                <a:cubicBezTo>
                  <a:pt x="3322" y="6793"/>
                  <a:pt x="3548" y="7340"/>
                  <a:pt x="3941" y="7793"/>
                </a:cubicBezTo>
                <a:cubicBezTo>
                  <a:pt x="3977" y="7817"/>
                  <a:pt x="4001" y="7852"/>
                  <a:pt x="4036" y="7900"/>
                </a:cubicBezTo>
                <a:lnTo>
                  <a:pt x="3643" y="7900"/>
                </a:lnTo>
                <a:cubicBezTo>
                  <a:pt x="3429" y="7900"/>
                  <a:pt x="3215" y="8031"/>
                  <a:pt x="3132" y="8233"/>
                </a:cubicBezTo>
                <a:cubicBezTo>
                  <a:pt x="3096" y="8329"/>
                  <a:pt x="3132" y="8412"/>
                  <a:pt x="3215" y="8460"/>
                </a:cubicBezTo>
                <a:cubicBezTo>
                  <a:pt x="3240" y="8469"/>
                  <a:pt x="3264" y="8473"/>
                  <a:pt x="3287" y="8473"/>
                </a:cubicBezTo>
                <a:cubicBezTo>
                  <a:pt x="3351" y="8473"/>
                  <a:pt x="3406" y="8438"/>
                  <a:pt x="3441" y="8376"/>
                </a:cubicBezTo>
                <a:cubicBezTo>
                  <a:pt x="3465" y="8281"/>
                  <a:pt x="3560" y="8221"/>
                  <a:pt x="3667" y="8221"/>
                </a:cubicBezTo>
                <a:lnTo>
                  <a:pt x="7632" y="8221"/>
                </a:lnTo>
                <a:cubicBezTo>
                  <a:pt x="7775" y="8221"/>
                  <a:pt x="7870" y="8329"/>
                  <a:pt x="7870" y="8460"/>
                </a:cubicBezTo>
                <a:lnTo>
                  <a:pt x="7870" y="9043"/>
                </a:lnTo>
                <a:cubicBezTo>
                  <a:pt x="7870" y="9174"/>
                  <a:pt x="7775" y="9281"/>
                  <a:pt x="7632" y="9281"/>
                </a:cubicBezTo>
                <a:lnTo>
                  <a:pt x="3632" y="9281"/>
                </a:lnTo>
                <a:cubicBezTo>
                  <a:pt x="3501" y="9281"/>
                  <a:pt x="3393" y="9174"/>
                  <a:pt x="3393" y="9043"/>
                </a:cubicBezTo>
                <a:lnTo>
                  <a:pt x="3393" y="8972"/>
                </a:lnTo>
                <a:cubicBezTo>
                  <a:pt x="3393" y="8876"/>
                  <a:pt x="3322" y="8805"/>
                  <a:pt x="3227" y="8805"/>
                </a:cubicBezTo>
                <a:cubicBezTo>
                  <a:pt x="3143" y="8805"/>
                  <a:pt x="3072" y="8876"/>
                  <a:pt x="3072" y="8972"/>
                </a:cubicBezTo>
                <a:lnTo>
                  <a:pt x="3072" y="9043"/>
                </a:lnTo>
                <a:cubicBezTo>
                  <a:pt x="3072" y="9353"/>
                  <a:pt x="3322" y="9603"/>
                  <a:pt x="3632" y="9603"/>
                </a:cubicBezTo>
                <a:lnTo>
                  <a:pt x="3691" y="9603"/>
                </a:lnTo>
                <a:lnTo>
                  <a:pt x="3691" y="11103"/>
                </a:lnTo>
                <a:cubicBezTo>
                  <a:pt x="3691" y="11198"/>
                  <a:pt x="3763" y="11269"/>
                  <a:pt x="3858" y="11269"/>
                </a:cubicBezTo>
                <a:lnTo>
                  <a:pt x="7382" y="11269"/>
                </a:lnTo>
                <a:cubicBezTo>
                  <a:pt x="7477" y="11269"/>
                  <a:pt x="7549" y="11198"/>
                  <a:pt x="7549" y="11103"/>
                </a:cubicBezTo>
                <a:lnTo>
                  <a:pt x="7549" y="10710"/>
                </a:lnTo>
                <a:cubicBezTo>
                  <a:pt x="7549" y="10615"/>
                  <a:pt x="7477" y="10543"/>
                  <a:pt x="7382" y="10543"/>
                </a:cubicBezTo>
                <a:cubicBezTo>
                  <a:pt x="7299" y="10543"/>
                  <a:pt x="7215" y="10615"/>
                  <a:pt x="7215" y="10710"/>
                </a:cubicBezTo>
                <a:lnTo>
                  <a:pt x="7215" y="10948"/>
                </a:lnTo>
                <a:lnTo>
                  <a:pt x="4024" y="10948"/>
                </a:lnTo>
                <a:lnTo>
                  <a:pt x="4024" y="9603"/>
                </a:lnTo>
                <a:lnTo>
                  <a:pt x="7215" y="9603"/>
                </a:lnTo>
                <a:lnTo>
                  <a:pt x="7215" y="10031"/>
                </a:lnTo>
                <a:cubicBezTo>
                  <a:pt x="7215" y="10126"/>
                  <a:pt x="7299" y="10198"/>
                  <a:pt x="7382" y="10198"/>
                </a:cubicBezTo>
                <a:cubicBezTo>
                  <a:pt x="7477" y="10198"/>
                  <a:pt x="7549" y="10126"/>
                  <a:pt x="7549" y="10031"/>
                </a:cubicBezTo>
                <a:lnTo>
                  <a:pt x="7549" y="9603"/>
                </a:lnTo>
                <a:lnTo>
                  <a:pt x="7608" y="9603"/>
                </a:lnTo>
                <a:cubicBezTo>
                  <a:pt x="7918" y="9603"/>
                  <a:pt x="8168" y="9353"/>
                  <a:pt x="8168" y="9043"/>
                </a:cubicBezTo>
                <a:lnTo>
                  <a:pt x="8168" y="8460"/>
                </a:lnTo>
                <a:cubicBezTo>
                  <a:pt x="8168" y="8150"/>
                  <a:pt x="7918" y="7900"/>
                  <a:pt x="7608" y="7900"/>
                </a:cubicBezTo>
                <a:lnTo>
                  <a:pt x="7239" y="7900"/>
                </a:lnTo>
                <a:cubicBezTo>
                  <a:pt x="7453" y="7686"/>
                  <a:pt x="7632" y="7436"/>
                  <a:pt x="7751" y="7150"/>
                </a:cubicBezTo>
                <a:cubicBezTo>
                  <a:pt x="7799" y="7067"/>
                  <a:pt x="7751" y="6971"/>
                  <a:pt x="7668" y="6924"/>
                </a:cubicBezTo>
                <a:cubicBezTo>
                  <a:pt x="7643" y="6915"/>
                  <a:pt x="7620" y="6910"/>
                  <a:pt x="7598" y="6910"/>
                </a:cubicBezTo>
                <a:cubicBezTo>
                  <a:pt x="7532" y="6910"/>
                  <a:pt x="7477" y="6948"/>
                  <a:pt x="7442" y="7019"/>
                </a:cubicBezTo>
                <a:cubicBezTo>
                  <a:pt x="7275" y="7388"/>
                  <a:pt x="7013" y="7686"/>
                  <a:pt x="6680" y="7900"/>
                </a:cubicBezTo>
                <a:lnTo>
                  <a:pt x="4572" y="7900"/>
                </a:lnTo>
                <a:cubicBezTo>
                  <a:pt x="4001" y="7555"/>
                  <a:pt x="3632" y="6912"/>
                  <a:pt x="3632" y="6209"/>
                </a:cubicBezTo>
                <a:cubicBezTo>
                  <a:pt x="3632" y="5947"/>
                  <a:pt x="3691" y="5674"/>
                  <a:pt x="3798" y="5423"/>
                </a:cubicBezTo>
                <a:lnTo>
                  <a:pt x="5287" y="2006"/>
                </a:lnTo>
                <a:cubicBezTo>
                  <a:pt x="5310" y="1911"/>
                  <a:pt x="5370" y="1852"/>
                  <a:pt x="5453" y="1828"/>
                </a:cubicBezTo>
                <a:lnTo>
                  <a:pt x="5453" y="5114"/>
                </a:lnTo>
                <a:cubicBezTo>
                  <a:pt x="5072" y="5173"/>
                  <a:pt x="4775" y="5423"/>
                  <a:pt x="4656" y="5781"/>
                </a:cubicBezTo>
                <a:cubicBezTo>
                  <a:pt x="4632" y="5876"/>
                  <a:pt x="4679" y="5959"/>
                  <a:pt x="4763" y="5995"/>
                </a:cubicBezTo>
                <a:cubicBezTo>
                  <a:pt x="4779" y="5999"/>
                  <a:pt x="4795" y="6001"/>
                  <a:pt x="4811" y="6001"/>
                </a:cubicBezTo>
                <a:cubicBezTo>
                  <a:pt x="4886" y="6001"/>
                  <a:pt x="4947" y="5957"/>
                  <a:pt x="4977" y="5888"/>
                </a:cubicBezTo>
                <a:cubicBezTo>
                  <a:pt x="5085" y="5573"/>
                  <a:pt x="5349" y="5427"/>
                  <a:pt x="5614" y="5427"/>
                </a:cubicBezTo>
                <a:cubicBezTo>
                  <a:pt x="5930" y="5427"/>
                  <a:pt x="6247" y="5636"/>
                  <a:pt x="6299" y="6019"/>
                </a:cubicBezTo>
                <a:lnTo>
                  <a:pt x="6299" y="6114"/>
                </a:lnTo>
                <a:cubicBezTo>
                  <a:pt x="6299" y="6537"/>
                  <a:pt x="5951" y="6795"/>
                  <a:pt x="5605" y="6795"/>
                </a:cubicBezTo>
                <a:cubicBezTo>
                  <a:pt x="5356" y="6795"/>
                  <a:pt x="5108" y="6662"/>
                  <a:pt x="4989" y="6364"/>
                </a:cubicBezTo>
                <a:cubicBezTo>
                  <a:pt x="4962" y="6293"/>
                  <a:pt x="4903" y="6255"/>
                  <a:pt x="4835" y="6255"/>
                </a:cubicBezTo>
                <a:cubicBezTo>
                  <a:pt x="4811" y="6255"/>
                  <a:pt x="4787" y="6260"/>
                  <a:pt x="4763" y="6269"/>
                </a:cubicBezTo>
                <a:cubicBezTo>
                  <a:pt x="4679" y="6305"/>
                  <a:pt x="4632" y="6412"/>
                  <a:pt x="4679" y="6495"/>
                </a:cubicBezTo>
                <a:cubicBezTo>
                  <a:pt x="4810" y="6805"/>
                  <a:pt x="5072" y="7043"/>
                  <a:pt x="5418" y="7126"/>
                </a:cubicBezTo>
                <a:cubicBezTo>
                  <a:pt x="5483" y="7138"/>
                  <a:pt x="5548" y="7144"/>
                  <a:pt x="5612" y="7144"/>
                </a:cubicBezTo>
                <a:cubicBezTo>
                  <a:pt x="6166" y="7144"/>
                  <a:pt x="6644" y="6702"/>
                  <a:pt x="6644" y="6126"/>
                </a:cubicBezTo>
                <a:cubicBezTo>
                  <a:pt x="6644" y="5590"/>
                  <a:pt x="6239" y="5197"/>
                  <a:pt x="5787" y="5126"/>
                </a:cubicBezTo>
                <a:lnTo>
                  <a:pt x="5787" y="1840"/>
                </a:lnTo>
                <a:cubicBezTo>
                  <a:pt x="5870" y="1864"/>
                  <a:pt x="5929" y="1947"/>
                  <a:pt x="5953" y="2018"/>
                </a:cubicBezTo>
                <a:lnTo>
                  <a:pt x="7442" y="5459"/>
                </a:lnTo>
                <a:cubicBezTo>
                  <a:pt x="7573" y="5769"/>
                  <a:pt x="7632" y="6114"/>
                  <a:pt x="7596" y="6447"/>
                </a:cubicBezTo>
                <a:cubicBezTo>
                  <a:pt x="7573" y="6543"/>
                  <a:pt x="7656" y="6626"/>
                  <a:pt x="7739" y="6626"/>
                </a:cubicBezTo>
                <a:cubicBezTo>
                  <a:pt x="7750" y="6629"/>
                  <a:pt x="7762" y="6630"/>
                  <a:pt x="7772" y="6630"/>
                </a:cubicBezTo>
                <a:cubicBezTo>
                  <a:pt x="7853" y="6630"/>
                  <a:pt x="7918" y="6557"/>
                  <a:pt x="7918" y="6483"/>
                </a:cubicBezTo>
                <a:cubicBezTo>
                  <a:pt x="7965" y="6090"/>
                  <a:pt x="7906" y="5697"/>
                  <a:pt x="7739" y="5316"/>
                </a:cubicBezTo>
                <a:lnTo>
                  <a:pt x="6251" y="1887"/>
                </a:lnTo>
                <a:cubicBezTo>
                  <a:pt x="6180" y="1709"/>
                  <a:pt x="6025" y="1566"/>
                  <a:pt x="5846" y="1494"/>
                </a:cubicBezTo>
                <a:lnTo>
                  <a:pt x="6180" y="1494"/>
                </a:lnTo>
                <a:cubicBezTo>
                  <a:pt x="6263" y="1494"/>
                  <a:pt x="6346" y="1423"/>
                  <a:pt x="6346" y="1328"/>
                </a:cubicBezTo>
                <a:lnTo>
                  <a:pt x="6346" y="994"/>
                </a:lnTo>
                <a:cubicBezTo>
                  <a:pt x="8549" y="1328"/>
                  <a:pt x="10240" y="3221"/>
                  <a:pt x="10311" y="5495"/>
                </a:cubicBezTo>
                <a:lnTo>
                  <a:pt x="9930" y="5495"/>
                </a:lnTo>
                <a:cubicBezTo>
                  <a:pt x="9835" y="5495"/>
                  <a:pt x="9763" y="5578"/>
                  <a:pt x="9763" y="5662"/>
                </a:cubicBezTo>
                <a:lnTo>
                  <a:pt x="9763" y="6828"/>
                </a:lnTo>
                <a:cubicBezTo>
                  <a:pt x="9763" y="6912"/>
                  <a:pt x="9835" y="6983"/>
                  <a:pt x="9930" y="6983"/>
                </a:cubicBezTo>
                <a:lnTo>
                  <a:pt x="11085" y="6983"/>
                </a:lnTo>
                <a:cubicBezTo>
                  <a:pt x="11180" y="6983"/>
                  <a:pt x="11252" y="6912"/>
                  <a:pt x="11252" y="6828"/>
                </a:cubicBezTo>
                <a:lnTo>
                  <a:pt x="11252" y="5662"/>
                </a:lnTo>
                <a:cubicBezTo>
                  <a:pt x="11287" y="5554"/>
                  <a:pt x="11204" y="5483"/>
                  <a:pt x="11121" y="5483"/>
                </a:cubicBezTo>
                <a:lnTo>
                  <a:pt x="10692" y="5483"/>
                </a:lnTo>
                <a:cubicBezTo>
                  <a:pt x="10656" y="4185"/>
                  <a:pt x="10132" y="2983"/>
                  <a:pt x="9216" y="2054"/>
                </a:cubicBezTo>
                <a:cubicBezTo>
                  <a:pt x="8704" y="1554"/>
                  <a:pt x="8108" y="1161"/>
                  <a:pt x="7453" y="911"/>
                </a:cubicBezTo>
                <a:lnTo>
                  <a:pt x="9120" y="911"/>
                </a:lnTo>
                <a:cubicBezTo>
                  <a:pt x="9204" y="1244"/>
                  <a:pt x="9501" y="1483"/>
                  <a:pt x="9835" y="1483"/>
                </a:cubicBezTo>
                <a:cubicBezTo>
                  <a:pt x="10240" y="1483"/>
                  <a:pt x="10585" y="1149"/>
                  <a:pt x="10585" y="732"/>
                </a:cubicBezTo>
                <a:cubicBezTo>
                  <a:pt x="10585" y="447"/>
                  <a:pt x="10418" y="197"/>
                  <a:pt x="10180" y="78"/>
                </a:cubicBezTo>
                <a:cubicBezTo>
                  <a:pt x="10155" y="63"/>
                  <a:pt x="10128" y="56"/>
                  <a:pt x="10102" y="56"/>
                </a:cubicBezTo>
                <a:cubicBezTo>
                  <a:pt x="10043" y="56"/>
                  <a:pt x="9987" y="91"/>
                  <a:pt x="9954" y="149"/>
                </a:cubicBezTo>
                <a:cubicBezTo>
                  <a:pt x="9918" y="244"/>
                  <a:pt x="9942" y="328"/>
                  <a:pt x="10037" y="375"/>
                </a:cubicBezTo>
                <a:cubicBezTo>
                  <a:pt x="10168" y="447"/>
                  <a:pt x="10251" y="590"/>
                  <a:pt x="10251" y="732"/>
                </a:cubicBezTo>
                <a:cubicBezTo>
                  <a:pt x="10251" y="959"/>
                  <a:pt x="10073" y="1137"/>
                  <a:pt x="9859" y="1137"/>
                </a:cubicBezTo>
                <a:cubicBezTo>
                  <a:pt x="9632" y="1137"/>
                  <a:pt x="9454" y="959"/>
                  <a:pt x="9454" y="732"/>
                </a:cubicBezTo>
                <a:cubicBezTo>
                  <a:pt x="9454" y="613"/>
                  <a:pt x="9489" y="506"/>
                  <a:pt x="9585" y="435"/>
                </a:cubicBezTo>
                <a:cubicBezTo>
                  <a:pt x="9656" y="375"/>
                  <a:pt x="9656" y="268"/>
                  <a:pt x="9597" y="197"/>
                </a:cubicBezTo>
                <a:cubicBezTo>
                  <a:pt x="9565" y="159"/>
                  <a:pt x="9521" y="141"/>
                  <a:pt x="9476" y="141"/>
                </a:cubicBezTo>
                <a:cubicBezTo>
                  <a:pt x="9435" y="141"/>
                  <a:pt x="9393" y="156"/>
                  <a:pt x="9358" y="185"/>
                </a:cubicBezTo>
                <a:cubicBezTo>
                  <a:pt x="9239" y="292"/>
                  <a:pt x="9168" y="423"/>
                  <a:pt x="9120" y="566"/>
                </a:cubicBezTo>
                <a:lnTo>
                  <a:pt x="6370" y="566"/>
                </a:lnTo>
                <a:lnTo>
                  <a:pt x="6370" y="173"/>
                </a:lnTo>
                <a:cubicBezTo>
                  <a:pt x="6370" y="78"/>
                  <a:pt x="6299" y="6"/>
                  <a:pt x="6203" y="6"/>
                </a:cubicBezTo>
                <a:lnTo>
                  <a:pt x="5072" y="6"/>
                </a:lnTo>
                <a:cubicBezTo>
                  <a:pt x="4989" y="6"/>
                  <a:pt x="4906" y="78"/>
                  <a:pt x="4906" y="173"/>
                </a:cubicBezTo>
                <a:lnTo>
                  <a:pt x="4906" y="566"/>
                </a:lnTo>
                <a:lnTo>
                  <a:pt x="2155" y="566"/>
                </a:lnTo>
                <a:cubicBezTo>
                  <a:pt x="2077" y="214"/>
                  <a:pt x="1767" y="0"/>
                  <a:pt x="14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56"/>
          <p:cNvSpPr/>
          <p:nvPr/>
        </p:nvSpPr>
        <p:spPr>
          <a:xfrm>
            <a:off x="492045" y="0"/>
            <a:ext cx="299744" cy="1234986"/>
          </a:xfrm>
          <a:custGeom>
            <a:avLst/>
            <a:gdLst/>
            <a:ahLst/>
            <a:cxnLst/>
            <a:rect l="l" t="t" r="r" b="b"/>
            <a:pathLst>
              <a:path w="11670" h="48082" fill="none" extrusionOk="0">
                <a:moveTo>
                  <a:pt x="11599" y="0"/>
                </a:moveTo>
                <a:lnTo>
                  <a:pt x="11670" y="21647"/>
                </a:lnTo>
                <a:lnTo>
                  <a:pt x="1" y="34388"/>
                </a:lnTo>
                <a:lnTo>
                  <a:pt x="1" y="48081"/>
                </a:lnTo>
                <a:lnTo>
                  <a:pt x="6097" y="48081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0" name="Google Shape;440;p56"/>
          <p:cNvGrpSpPr/>
          <p:nvPr/>
        </p:nvGrpSpPr>
        <p:grpSpPr>
          <a:xfrm>
            <a:off x="629692" y="1105264"/>
            <a:ext cx="144992" cy="269768"/>
            <a:chOff x="629692" y="1105264"/>
            <a:chExt cx="144992" cy="269768"/>
          </a:xfrm>
        </p:grpSpPr>
        <p:sp>
          <p:nvSpPr>
            <p:cNvPr id="441" name="Google Shape;441;p56"/>
            <p:cNvSpPr/>
            <p:nvPr/>
          </p:nvSpPr>
          <p:spPr>
            <a:xfrm>
              <a:off x="629692" y="1105264"/>
              <a:ext cx="144992" cy="135206"/>
            </a:xfrm>
            <a:custGeom>
              <a:avLst/>
              <a:gdLst/>
              <a:ahLst/>
              <a:cxnLst/>
              <a:rect l="l" t="t" r="r" b="b"/>
              <a:pathLst>
                <a:path w="5645" h="5264" fill="none" extrusionOk="0">
                  <a:moveTo>
                    <a:pt x="0" y="5264"/>
                  </a:moveTo>
                  <a:lnTo>
                    <a:pt x="5644" y="1"/>
                  </a:lnTo>
                </a:path>
              </a:pathLst>
            </a:custGeom>
            <a:solidFill>
              <a:schemeClr val="lt1"/>
            </a:solidFill>
            <a:ln w="22625" cap="flat" cmpd="sng">
              <a:solidFill>
                <a:schemeClr val="lt1"/>
              </a:solidFill>
              <a:prstDash val="solid"/>
              <a:miter lim="23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56"/>
            <p:cNvSpPr/>
            <p:nvPr/>
          </p:nvSpPr>
          <p:spPr>
            <a:xfrm>
              <a:off x="635188" y="1229450"/>
              <a:ext cx="135822" cy="145583"/>
            </a:xfrm>
            <a:custGeom>
              <a:avLst/>
              <a:gdLst/>
              <a:ahLst/>
              <a:cxnLst/>
              <a:rect l="l" t="t" r="r" b="b"/>
              <a:pathLst>
                <a:path w="5288" h="5668" fill="none" extrusionOk="0">
                  <a:moveTo>
                    <a:pt x="0" y="0"/>
                  </a:moveTo>
                  <a:lnTo>
                    <a:pt x="5287" y="5668"/>
                  </a:lnTo>
                </a:path>
              </a:pathLst>
            </a:custGeom>
            <a:solidFill>
              <a:schemeClr val="lt1"/>
            </a:solidFill>
            <a:ln w="22625" cap="flat" cmpd="sng">
              <a:solidFill>
                <a:schemeClr val="lt1"/>
              </a:solidFill>
              <a:prstDash val="solid"/>
              <a:miter lim="23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3" name="Google Shape;443;p56">
            <a:hlinkClick r:id="rId3" action="ppaction://hlinksldjump"/>
          </p:cNvPr>
          <p:cNvSpPr/>
          <p:nvPr/>
        </p:nvSpPr>
        <p:spPr>
          <a:xfrm>
            <a:off x="662726" y="431825"/>
            <a:ext cx="254100" cy="254100"/>
          </a:xfrm>
          <a:prstGeom prst="ellipse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600" b="1"/>
          </a:p>
        </p:txBody>
      </p:sp>
      <p:sp>
        <p:nvSpPr>
          <p:cNvPr id="444" name="Google Shape;444;p56"/>
          <p:cNvSpPr/>
          <p:nvPr/>
        </p:nvSpPr>
        <p:spPr>
          <a:xfrm>
            <a:off x="404400" y="796152"/>
            <a:ext cx="175200" cy="175200"/>
          </a:xfrm>
          <a:prstGeom prst="ellipse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445" name="Google Shape;445;p56">
            <a:hlinkClick r:id="" action="ppaction://hlinkshowjump?jump=previousslide"/>
          </p:cNvPr>
          <p:cNvSpPr/>
          <p:nvPr/>
        </p:nvSpPr>
        <p:spPr>
          <a:xfrm rot="10800000">
            <a:off x="745722" y="1066461"/>
            <a:ext cx="88200" cy="882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56">
            <a:hlinkClick r:id="" action="ppaction://hlinkshowjump?jump=nextslide"/>
          </p:cNvPr>
          <p:cNvSpPr/>
          <p:nvPr/>
        </p:nvSpPr>
        <p:spPr>
          <a:xfrm>
            <a:off x="745525" y="1325689"/>
            <a:ext cx="88500" cy="885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55672-5B64-DC3D-48CE-6F48D344D6B2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706639" y="3013831"/>
            <a:ext cx="192189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A" altLang="es-P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A" altLang="es-P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Google Play </a:t>
            </a:r>
            <a:r>
              <a:rPr kumimoji="0" lang="es-PA" altLang="es-PA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Protect</a:t>
            </a:r>
            <a:r>
              <a:rPr kumimoji="0" lang="es-PA" altLang="es-P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(Android)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PA" altLang="es-P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12A884-48A8-2D78-5A18-48A6B85D432E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6640513" y="1526908"/>
            <a:ext cx="1748113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A" altLang="es-P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A" altLang="es-PA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Microsoft Defender Mobile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PA" altLang="es-P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7"/>
          <p:cNvSpPr txBox="1">
            <a:spLocks noGrp="1"/>
          </p:cNvSpPr>
          <p:nvPr>
            <p:ph type="title"/>
          </p:nvPr>
        </p:nvSpPr>
        <p:spPr>
          <a:xfrm>
            <a:off x="721555" y="314175"/>
            <a:ext cx="770089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Mitigar o eliminar la utilización de equipos </a:t>
            </a:r>
            <a:r>
              <a:rPr lang="es-MX" dirty="0" err="1"/>
              <a:t>IoT</a:t>
            </a:r>
            <a:r>
              <a:rPr lang="es-MX" dirty="0"/>
              <a:t> en el Crimen Organizado</a:t>
            </a:r>
            <a:endParaRPr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20DE488-6319-54B8-24B9-95CB9B5AB477}"/>
              </a:ext>
            </a:extLst>
          </p:cNvPr>
          <p:cNvSpPr txBox="1"/>
          <p:nvPr/>
        </p:nvSpPr>
        <p:spPr>
          <a:xfrm>
            <a:off x="4572000" y="1385453"/>
            <a:ext cx="4190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Análisis del problema</a:t>
            </a:r>
          </a:p>
          <a:p>
            <a:endParaRPr lang="es-MX" b="1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Los dispositivos </a:t>
            </a:r>
            <a:r>
              <a:rPr lang="es-MX" dirty="0" err="1">
                <a:solidFill>
                  <a:schemeClr val="bg1"/>
                </a:solidFill>
              </a:rPr>
              <a:t>IoT</a:t>
            </a:r>
            <a:r>
              <a:rPr lang="es-MX" dirty="0">
                <a:solidFill>
                  <a:schemeClr val="bg1"/>
                </a:solidFill>
              </a:rPr>
              <a:t> son altamente explotados por crimen organizado porque suelen tener: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contraseñas por defecto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firmware viejo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servicios abiertos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baja capacidad de protección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mala configuración 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Los </a:t>
            </a:r>
            <a:r>
              <a:rPr lang="es-MX" dirty="0" err="1">
                <a:solidFill>
                  <a:schemeClr val="bg1"/>
                </a:solidFill>
              </a:rPr>
              <a:t>IoT</a:t>
            </a:r>
            <a:r>
              <a:rPr lang="es-MX" dirty="0">
                <a:solidFill>
                  <a:schemeClr val="bg1"/>
                </a:solidFill>
              </a:rPr>
              <a:t> se usan para: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solidFill>
                  <a:schemeClr val="bg1"/>
                </a:solidFill>
              </a:rPr>
              <a:t>Botnets</a:t>
            </a:r>
            <a:r>
              <a:rPr lang="es-MX" dirty="0">
                <a:solidFill>
                  <a:schemeClr val="bg1"/>
                </a:solidFill>
              </a:rPr>
              <a:t> (</a:t>
            </a:r>
            <a:r>
              <a:rPr lang="es-MX" dirty="0" err="1">
                <a:solidFill>
                  <a:schemeClr val="bg1"/>
                </a:solidFill>
              </a:rPr>
              <a:t>DDoS</a:t>
            </a:r>
            <a:r>
              <a:rPr lang="es-MX" dirty="0">
                <a:solidFill>
                  <a:schemeClr val="bg1"/>
                </a:solidFill>
              </a:rPr>
              <a:t>) como </a:t>
            </a:r>
            <a:r>
              <a:rPr lang="es-MX" dirty="0" err="1">
                <a:solidFill>
                  <a:schemeClr val="bg1"/>
                </a:solidFill>
              </a:rPr>
              <a:t>Mirai</a:t>
            </a:r>
            <a:r>
              <a:rPr lang="es-MX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Espionaje (cámaras intervenidas)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Acceso ilegal a redes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vigilancia criminal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ataques coordinados en redes empresariales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3;p57">
            <a:extLst>
              <a:ext uri="{FF2B5EF4-FFF2-40B4-BE49-F238E27FC236}">
                <a16:creationId xmlns:a16="http://schemas.microsoft.com/office/drawing/2014/main" id="{E0C5DB7E-B0F3-B5CE-947D-9A265A5E9CB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13512" y="329259"/>
            <a:ext cx="6155741" cy="4205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ctr">
              <a:buNone/>
            </a:pPr>
            <a:r>
              <a:rPr lang="es-MX" sz="1400" b="1" dirty="0"/>
              <a:t>Solución y mitigación (medidas técnicas avanzadas)</a:t>
            </a:r>
          </a:p>
          <a:p>
            <a:pPr marL="114300" indent="0" algn="ctr">
              <a:buNone/>
            </a:pPr>
            <a:endParaRPr lang="es-MX" sz="1050" b="1" dirty="0"/>
          </a:p>
          <a:p>
            <a:pPr marL="114300" indent="0">
              <a:buNone/>
            </a:pPr>
            <a:r>
              <a:rPr lang="es-MX" sz="1200" b="1" dirty="0"/>
              <a:t> Seguridad en la configuración </a:t>
            </a:r>
            <a:r>
              <a:rPr lang="es-MX" sz="1200" b="1" dirty="0" err="1"/>
              <a:t>IoT</a:t>
            </a:r>
            <a:endParaRPr lang="es-MX" sz="1200" b="1" dirty="0"/>
          </a:p>
          <a:p>
            <a:pPr marL="114300" indent="0">
              <a:buNone/>
            </a:pPr>
            <a:r>
              <a:rPr lang="es-MX" sz="1200" dirty="0"/>
              <a:t>Cambiar usuario y contraseña por defecto. </a:t>
            </a:r>
          </a:p>
          <a:p>
            <a:pPr marL="114300" indent="0">
              <a:buNone/>
            </a:pPr>
            <a:r>
              <a:rPr lang="es-MX" sz="1200" dirty="0"/>
              <a:t>Usar contraseñas fuertes y únicas. </a:t>
            </a:r>
          </a:p>
          <a:p>
            <a:pPr marL="114300" indent="0">
              <a:buNone/>
            </a:pPr>
            <a:r>
              <a:rPr lang="es-MX" sz="1200" dirty="0"/>
              <a:t>Desactivar servicios innecesarios (Telnet, FTP, </a:t>
            </a:r>
            <a:r>
              <a:rPr lang="es-MX" sz="1200" dirty="0" err="1"/>
              <a:t>UPnP</a:t>
            </a:r>
            <a:r>
              <a:rPr lang="es-MX" sz="1200" dirty="0"/>
              <a:t>). </a:t>
            </a:r>
          </a:p>
          <a:p>
            <a:pPr marL="114300" indent="0">
              <a:buNone/>
            </a:pPr>
            <a:r>
              <a:rPr lang="es-MX" sz="1200" dirty="0"/>
              <a:t>Actualizar firmware periódicamente. </a:t>
            </a:r>
          </a:p>
          <a:p>
            <a:pPr marL="114300" indent="0">
              <a:buNone/>
            </a:pPr>
            <a:r>
              <a:rPr lang="es-MX" sz="1200" dirty="0"/>
              <a:t>Comprar </a:t>
            </a:r>
            <a:r>
              <a:rPr lang="es-MX" sz="1200" dirty="0" err="1"/>
              <a:t>IoT</a:t>
            </a:r>
            <a:r>
              <a:rPr lang="es-MX" sz="1200" dirty="0"/>
              <a:t> de marcas con soporte y parches. </a:t>
            </a:r>
          </a:p>
          <a:p>
            <a:pPr marL="114300" indent="0">
              <a:buNone/>
            </a:pPr>
            <a:endParaRPr lang="es-MX" sz="1200" dirty="0"/>
          </a:p>
          <a:p>
            <a:pPr marL="114300" indent="0">
              <a:buNone/>
            </a:pPr>
            <a:r>
              <a:rPr lang="es-MX" sz="1200" b="1" dirty="0"/>
              <a:t>Segmentación de red (MEDIDA CLAVE)</a:t>
            </a:r>
          </a:p>
          <a:p>
            <a:pPr marL="114300" indent="0">
              <a:buNone/>
            </a:pPr>
            <a:r>
              <a:rPr lang="es-MX" sz="1200" dirty="0"/>
              <a:t>Separar </a:t>
            </a:r>
            <a:r>
              <a:rPr lang="es-MX" sz="1200" dirty="0" err="1"/>
              <a:t>IoT</a:t>
            </a:r>
            <a:r>
              <a:rPr lang="es-MX" sz="1200" dirty="0"/>
              <a:t> en red diferente: </a:t>
            </a:r>
          </a:p>
          <a:p>
            <a:pPr marL="457200" lvl="1" indent="0">
              <a:buNone/>
            </a:pPr>
            <a:r>
              <a:rPr lang="es-MX" sz="1200" dirty="0"/>
              <a:t>VLAN </a:t>
            </a:r>
            <a:r>
              <a:rPr lang="es-MX" sz="1200" dirty="0" err="1"/>
              <a:t>IoT</a:t>
            </a:r>
            <a:r>
              <a:rPr lang="es-MX" sz="1200" dirty="0"/>
              <a:t> </a:t>
            </a:r>
          </a:p>
          <a:p>
            <a:pPr marL="457200" lvl="1" indent="0">
              <a:buNone/>
            </a:pPr>
            <a:r>
              <a:rPr lang="es-MX" sz="1200" dirty="0"/>
              <a:t>Red de invitados </a:t>
            </a:r>
          </a:p>
          <a:p>
            <a:pPr marL="457200" lvl="1" indent="0">
              <a:buNone/>
            </a:pPr>
            <a:r>
              <a:rPr lang="es-MX" sz="1200" dirty="0" err="1"/>
              <a:t>Router</a:t>
            </a:r>
            <a:r>
              <a:rPr lang="es-MX" sz="1200" dirty="0"/>
              <a:t> secundario </a:t>
            </a:r>
          </a:p>
          <a:p>
            <a:pPr marL="114300" indent="0">
              <a:buNone/>
            </a:pPr>
            <a:r>
              <a:rPr lang="es-MX" sz="1200" dirty="0"/>
              <a:t>Restringir acceso </a:t>
            </a:r>
            <a:r>
              <a:rPr lang="es-MX" sz="1200" dirty="0" err="1"/>
              <a:t>IoT</a:t>
            </a:r>
            <a:r>
              <a:rPr lang="es-MX" sz="1200" dirty="0"/>
              <a:t> a computadoras principales. </a:t>
            </a:r>
          </a:p>
          <a:p>
            <a:pPr marL="114300" indent="0">
              <a:buNone/>
            </a:pPr>
            <a:endParaRPr lang="es-MX" sz="1200" dirty="0"/>
          </a:p>
          <a:p>
            <a:pPr marL="114300" indent="0">
              <a:buNone/>
            </a:pPr>
            <a:r>
              <a:rPr lang="es-MX" sz="1200" b="1" dirty="0"/>
              <a:t>Firewall y control de tráfico</a:t>
            </a:r>
          </a:p>
          <a:p>
            <a:pPr marL="114300" indent="0">
              <a:buNone/>
            </a:pPr>
            <a:r>
              <a:rPr lang="es-MX" sz="1200" dirty="0"/>
              <a:t>Bloquear conexiones entrantes externas. </a:t>
            </a:r>
          </a:p>
          <a:p>
            <a:pPr marL="114300" indent="0">
              <a:buNone/>
            </a:pPr>
            <a:r>
              <a:rPr lang="es-MX" sz="1200" dirty="0"/>
              <a:t>Permitir solo puertos esenciales. </a:t>
            </a:r>
          </a:p>
          <a:p>
            <a:pPr marL="114300" indent="0">
              <a:buNone/>
            </a:pPr>
            <a:r>
              <a:rPr lang="es-MX" sz="1050" dirty="0"/>
              <a:t>Monitorear tráfico saliente anormal.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07B81A6-D144-B22E-A307-BFF2EEB1477E}"/>
              </a:ext>
            </a:extLst>
          </p:cNvPr>
          <p:cNvSpPr txBox="1"/>
          <p:nvPr/>
        </p:nvSpPr>
        <p:spPr>
          <a:xfrm>
            <a:off x="4954837" y="990914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s-MX" sz="1200" b="1" dirty="0">
                <a:solidFill>
                  <a:schemeClr val="bg1"/>
                </a:solidFill>
              </a:rPr>
              <a:t> Uso de sistemas defensivos recomendados</a:t>
            </a:r>
          </a:p>
          <a:p>
            <a:pPr marL="114300" indent="0">
              <a:buNone/>
            </a:pPr>
            <a:r>
              <a:rPr lang="es-MX" sz="1200" dirty="0">
                <a:solidFill>
                  <a:schemeClr val="bg1"/>
                </a:solidFill>
              </a:rPr>
              <a:t>IDS/IPS (detección y prevención): </a:t>
            </a:r>
          </a:p>
          <a:p>
            <a:pPr marL="457200" lvl="1" indent="0">
              <a:buNone/>
            </a:pPr>
            <a:r>
              <a:rPr lang="es-MX" sz="1200" dirty="0" err="1">
                <a:solidFill>
                  <a:schemeClr val="bg1"/>
                </a:solidFill>
              </a:rPr>
              <a:t>Snort</a:t>
            </a:r>
            <a:r>
              <a:rPr lang="es-MX" sz="1200" dirty="0">
                <a:solidFill>
                  <a:schemeClr val="bg1"/>
                </a:solidFill>
              </a:rPr>
              <a:t> </a:t>
            </a:r>
          </a:p>
          <a:p>
            <a:pPr marL="457200" lvl="1" indent="0">
              <a:buNone/>
            </a:pPr>
            <a:r>
              <a:rPr lang="es-MX" sz="1200" dirty="0">
                <a:solidFill>
                  <a:schemeClr val="bg1"/>
                </a:solidFill>
              </a:rPr>
              <a:t>Suricata </a:t>
            </a:r>
          </a:p>
          <a:p>
            <a:pPr marL="114300" indent="0">
              <a:buNone/>
            </a:pPr>
            <a:r>
              <a:rPr lang="es-MX" sz="1200" dirty="0">
                <a:solidFill>
                  <a:schemeClr val="bg1"/>
                </a:solidFill>
              </a:rPr>
              <a:t>SIEM para monitoreo (empresas): </a:t>
            </a:r>
          </a:p>
          <a:p>
            <a:pPr marL="457200" lvl="1" indent="0">
              <a:buNone/>
            </a:pPr>
            <a:r>
              <a:rPr lang="es-MX" sz="1200" dirty="0" err="1">
                <a:solidFill>
                  <a:schemeClr val="bg1"/>
                </a:solidFill>
              </a:rPr>
              <a:t>Wazuh</a:t>
            </a:r>
            <a:r>
              <a:rPr lang="es-MX" sz="1200" dirty="0">
                <a:solidFill>
                  <a:schemeClr val="bg1"/>
                </a:solidFill>
              </a:rPr>
              <a:t> </a:t>
            </a:r>
          </a:p>
          <a:p>
            <a:pPr marL="457200" lvl="1" indent="0">
              <a:buNone/>
            </a:pPr>
            <a:r>
              <a:rPr lang="es-MX" sz="1200" dirty="0" err="1">
                <a:solidFill>
                  <a:schemeClr val="bg1"/>
                </a:solidFill>
              </a:rPr>
              <a:t>Splunk</a:t>
            </a:r>
            <a:r>
              <a:rPr lang="es-MX" sz="1200" dirty="0">
                <a:solidFill>
                  <a:schemeClr val="bg1"/>
                </a:solidFill>
              </a:rPr>
              <a:t> </a:t>
            </a:r>
          </a:p>
          <a:p>
            <a:pPr marL="457200" lvl="1" indent="0">
              <a:buNone/>
            </a:pPr>
            <a:endParaRPr lang="es-MX" sz="12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s-MX" sz="1200" b="1" dirty="0">
                <a:solidFill>
                  <a:schemeClr val="bg1"/>
                </a:solidFill>
              </a:rPr>
              <a:t> Uso de VPN para acceso remoto</a:t>
            </a:r>
          </a:p>
          <a:p>
            <a:pPr marL="114300" indent="0">
              <a:buNone/>
            </a:pPr>
            <a:r>
              <a:rPr lang="es-MX" sz="1200" dirty="0">
                <a:solidFill>
                  <a:schemeClr val="bg1"/>
                </a:solidFill>
              </a:rPr>
              <a:t>Acceso remoto a cámaras y dispositivos solo por: </a:t>
            </a:r>
          </a:p>
          <a:p>
            <a:pPr marL="457200" lvl="1" indent="0">
              <a:buNone/>
            </a:pPr>
            <a:r>
              <a:rPr lang="es-MX" sz="1200" dirty="0" err="1">
                <a:solidFill>
                  <a:schemeClr val="bg1"/>
                </a:solidFill>
              </a:rPr>
              <a:t>WireGuard</a:t>
            </a:r>
            <a:r>
              <a:rPr lang="es-MX" sz="1200" dirty="0">
                <a:solidFill>
                  <a:schemeClr val="bg1"/>
                </a:solidFill>
              </a:rPr>
              <a:t> </a:t>
            </a:r>
          </a:p>
          <a:p>
            <a:pPr marL="457200" lvl="1" indent="0">
              <a:buNone/>
            </a:pPr>
            <a:r>
              <a:rPr lang="es-MX" sz="1200" dirty="0" err="1">
                <a:solidFill>
                  <a:schemeClr val="bg1"/>
                </a:solidFill>
              </a:rPr>
              <a:t>OpenVPN</a:t>
            </a:r>
            <a:endParaRPr lang="es-MX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9"/>
          <p:cNvSpPr txBox="1">
            <a:spLocks noGrp="1"/>
          </p:cNvSpPr>
          <p:nvPr>
            <p:ph type="title"/>
          </p:nvPr>
        </p:nvSpPr>
        <p:spPr>
          <a:xfrm>
            <a:off x="3758000" y="378225"/>
            <a:ext cx="46131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Logo evolution process</a:t>
            </a:r>
            <a:endParaRPr/>
          </a:p>
        </p:txBody>
      </p:sp>
      <p:sp>
        <p:nvSpPr>
          <p:cNvPr id="496" name="Google Shape;496;p59"/>
          <p:cNvSpPr/>
          <p:nvPr/>
        </p:nvSpPr>
        <p:spPr>
          <a:xfrm>
            <a:off x="6629324" y="1115192"/>
            <a:ext cx="1879488" cy="1250381"/>
          </a:xfrm>
          <a:custGeom>
            <a:avLst/>
            <a:gdLst/>
            <a:ahLst/>
            <a:cxnLst/>
            <a:rect l="l" t="t" r="r" b="b"/>
            <a:pathLst>
              <a:path w="198206" h="131862" extrusionOk="0">
                <a:moveTo>
                  <a:pt x="131192" y="0"/>
                </a:moveTo>
                <a:lnTo>
                  <a:pt x="69306" y="62468"/>
                </a:lnTo>
                <a:lnTo>
                  <a:pt x="21796" y="62691"/>
                </a:lnTo>
                <a:lnTo>
                  <a:pt x="70949" y="13075"/>
                </a:lnTo>
                <a:lnTo>
                  <a:pt x="86668" y="28647"/>
                </a:lnTo>
                <a:lnTo>
                  <a:pt x="93033" y="22220"/>
                </a:lnTo>
                <a:lnTo>
                  <a:pt x="70888" y="282"/>
                </a:lnTo>
                <a:lnTo>
                  <a:pt x="0" y="71840"/>
                </a:lnTo>
                <a:lnTo>
                  <a:pt x="73096" y="71497"/>
                </a:lnTo>
                <a:lnTo>
                  <a:pt x="131253" y="12792"/>
                </a:lnTo>
                <a:lnTo>
                  <a:pt x="185413" y="66446"/>
                </a:lnTo>
                <a:lnTo>
                  <a:pt x="129894" y="122490"/>
                </a:lnTo>
                <a:lnTo>
                  <a:pt x="82383" y="122713"/>
                </a:lnTo>
                <a:lnTo>
                  <a:pt x="137902" y="66671"/>
                </a:lnTo>
                <a:lnTo>
                  <a:pt x="115754" y="44729"/>
                </a:lnTo>
                <a:lnTo>
                  <a:pt x="109388" y="51156"/>
                </a:lnTo>
                <a:lnTo>
                  <a:pt x="125109" y="66730"/>
                </a:lnTo>
                <a:lnTo>
                  <a:pt x="60588" y="131861"/>
                </a:lnTo>
                <a:lnTo>
                  <a:pt x="133685" y="131519"/>
                </a:lnTo>
                <a:lnTo>
                  <a:pt x="198206" y="66387"/>
                </a:lnTo>
                <a:lnTo>
                  <a:pt x="1311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7" name="Google Shape;497;p59"/>
          <p:cNvGrpSpPr/>
          <p:nvPr/>
        </p:nvGrpSpPr>
        <p:grpSpPr>
          <a:xfrm>
            <a:off x="3461213" y="1240470"/>
            <a:ext cx="1909387" cy="1196389"/>
            <a:chOff x="2989879" y="2150550"/>
            <a:chExt cx="2177925" cy="1364650"/>
          </a:xfrm>
        </p:grpSpPr>
        <p:sp>
          <p:nvSpPr>
            <p:cNvPr id="498" name="Google Shape;498;p59"/>
            <p:cNvSpPr/>
            <p:nvPr/>
          </p:nvSpPr>
          <p:spPr>
            <a:xfrm>
              <a:off x="3725629" y="2840550"/>
              <a:ext cx="1442175" cy="674650"/>
            </a:xfrm>
            <a:custGeom>
              <a:avLst/>
              <a:gdLst/>
              <a:ahLst/>
              <a:cxnLst/>
              <a:rect l="l" t="t" r="r" b="b"/>
              <a:pathLst>
                <a:path w="57687" h="26986" extrusionOk="0">
                  <a:moveTo>
                    <a:pt x="0" y="26986"/>
                  </a:moveTo>
                  <a:lnTo>
                    <a:pt x="30700" y="26986"/>
                  </a:lnTo>
                  <a:lnTo>
                    <a:pt x="57687" y="0"/>
                  </a:lnTo>
                  <a:lnTo>
                    <a:pt x="26244" y="0"/>
                  </a:lnTo>
                  <a:close/>
                </a:path>
              </a:pathLst>
            </a:cu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s-PA"/>
            </a:p>
          </p:txBody>
        </p:sp>
        <p:sp>
          <p:nvSpPr>
            <p:cNvPr id="499" name="Google Shape;499;p59"/>
            <p:cNvSpPr/>
            <p:nvPr/>
          </p:nvSpPr>
          <p:spPr>
            <a:xfrm>
              <a:off x="2989879" y="2150550"/>
              <a:ext cx="1369500" cy="690000"/>
            </a:xfrm>
            <a:prstGeom prst="triangle">
              <a:avLst>
                <a:gd name="adj" fmla="val 50000"/>
              </a:avLst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59"/>
            <p:cNvSpPr/>
            <p:nvPr/>
          </p:nvSpPr>
          <p:spPr>
            <a:xfrm>
              <a:off x="3798300" y="2150550"/>
              <a:ext cx="1369500" cy="690000"/>
            </a:xfrm>
            <a:prstGeom prst="triangle">
              <a:avLst>
                <a:gd name="adj" fmla="val 50000"/>
              </a:avLst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" name="Google Shape;510;p59"/>
          <p:cNvSpPr/>
          <p:nvPr/>
        </p:nvSpPr>
        <p:spPr>
          <a:xfrm>
            <a:off x="492045" y="0"/>
            <a:ext cx="299744" cy="1234986"/>
          </a:xfrm>
          <a:custGeom>
            <a:avLst/>
            <a:gdLst/>
            <a:ahLst/>
            <a:cxnLst/>
            <a:rect l="l" t="t" r="r" b="b"/>
            <a:pathLst>
              <a:path w="11670" h="48082" fill="none" extrusionOk="0">
                <a:moveTo>
                  <a:pt x="11599" y="0"/>
                </a:moveTo>
                <a:lnTo>
                  <a:pt x="11670" y="21647"/>
                </a:lnTo>
                <a:lnTo>
                  <a:pt x="1" y="34388"/>
                </a:lnTo>
                <a:lnTo>
                  <a:pt x="1" y="48081"/>
                </a:lnTo>
                <a:lnTo>
                  <a:pt x="6097" y="48081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1" name="Google Shape;511;p59"/>
          <p:cNvGrpSpPr/>
          <p:nvPr/>
        </p:nvGrpSpPr>
        <p:grpSpPr>
          <a:xfrm>
            <a:off x="629692" y="1105264"/>
            <a:ext cx="144992" cy="269768"/>
            <a:chOff x="629692" y="1105264"/>
            <a:chExt cx="144992" cy="269768"/>
          </a:xfrm>
        </p:grpSpPr>
        <p:sp>
          <p:nvSpPr>
            <p:cNvPr id="512" name="Google Shape;512;p59"/>
            <p:cNvSpPr/>
            <p:nvPr/>
          </p:nvSpPr>
          <p:spPr>
            <a:xfrm>
              <a:off x="629692" y="1105264"/>
              <a:ext cx="144992" cy="135206"/>
            </a:xfrm>
            <a:custGeom>
              <a:avLst/>
              <a:gdLst/>
              <a:ahLst/>
              <a:cxnLst/>
              <a:rect l="l" t="t" r="r" b="b"/>
              <a:pathLst>
                <a:path w="5645" h="5264" fill="none" extrusionOk="0">
                  <a:moveTo>
                    <a:pt x="0" y="5264"/>
                  </a:moveTo>
                  <a:lnTo>
                    <a:pt x="5644" y="1"/>
                  </a:lnTo>
                </a:path>
              </a:pathLst>
            </a:custGeom>
            <a:solidFill>
              <a:schemeClr val="lt1"/>
            </a:solidFill>
            <a:ln w="22625" cap="flat" cmpd="sng">
              <a:solidFill>
                <a:schemeClr val="lt1"/>
              </a:solidFill>
              <a:prstDash val="solid"/>
              <a:miter lim="23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59"/>
            <p:cNvSpPr/>
            <p:nvPr/>
          </p:nvSpPr>
          <p:spPr>
            <a:xfrm>
              <a:off x="635188" y="1229450"/>
              <a:ext cx="135822" cy="145583"/>
            </a:xfrm>
            <a:custGeom>
              <a:avLst/>
              <a:gdLst/>
              <a:ahLst/>
              <a:cxnLst/>
              <a:rect l="l" t="t" r="r" b="b"/>
              <a:pathLst>
                <a:path w="5288" h="5668" fill="none" extrusionOk="0">
                  <a:moveTo>
                    <a:pt x="0" y="0"/>
                  </a:moveTo>
                  <a:lnTo>
                    <a:pt x="5287" y="5668"/>
                  </a:lnTo>
                </a:path>
              </a:pathLst>
            </a:custGeom>
            <a:solidFill>
              <a:schemeClr val="lt1"/>
            </a:solidFill>
            <a:ln w="22625" cap="flat" cmpd="sng">
              <a:solidFill>
                <a:schemeClr val="lt1"/>
              </a:solidFill>
              <a:prstDash val="solid"/>
              <a:miter lim="23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4" name="Google Shape;514;p59">
            <a:hlinkClick r:id="rId3" action="ppaction://hlinksldjump"/>
          </p:cNvPr>
          <p:cNvSpPr/>
          <p:nvPr/>
        </p:nvSpPr>
        <p:spPr>
          <a:xfrm>
            <a:off x="662726" y="431825"/>
            <a:ext cx="254100" cy="254100"/>
          </a:xfrm>
          <a:prstGeom prst="ellipse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600" b="1"/>
          </a:p>
        </p:txBody>
      </p:sp>
      <p:sp>
        <p:nvSpPr>
          <p:cNvPr id="515" name="Google Shape;515;p59">
            <a:hlinkClick r:id="rId4" action="ppaction://hlinksldjump"/>
          </p:cNvPr>
          <p:cNvSpPr/>
          <p:nvPr/>
        </p:nvSpPr>
        <p:spPr>
          <a:xfrm>
            <a:off x="404400" y="796152"/>
            <a:ext cx="175200" cy="175200"/>
          </a:xfrm>
          <a:prstGeom prst="ellipse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000"/>
          </a:p>
        </p:txBody>
      </p:sp>
      <p:sp>
        <p:nvSpPr>
          <p:cNvPr id="516" name="Google Shape;516;p59">
            <a:hlinkClick r:id="" action="ppaction://hlinkshowjump?jump=previousslide"/>
          </p:cNvPr>
          <p:cNvSpPr/>
          <p:nvPr/>
        </p:nvSpPr>
        <p:spPr>
          <a:xfrm rot="10800000">
            <a:off x="745722" y="1066461"/>
            <a:ext cx="88200" cy="882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59">
            <a:hlinkClick r:id="" action="ppaction://hlinkshowjump?jump=nextslide"/>
          </p:cNvPr>
          <p:cNvSpPr/>
          <p:nvPr/>
        </p:nvSpPr>
        <p:spPr>
          <a:xfrm>
            <a:off x="745525" y="1325689"/>
            <a:ext cx="88500" cy="885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E0AE398-F342-7909-7451-9061BA3C2B8A}"/>
              </a:ext>
            </a:extLst>
          </p:cNvPr>
          <p:cNvSpPr txBox="1"/>
          <p:nvPr/>
        </p:nvSpPr>
        <p:spPr>
          <a:xfrm>
            <a:off x="2858784" y="2581690"/>
            <a:ext cx="30368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Medidas gubernamentales y de control institucional</a:t>
            </a:r>
          </a:p>
          <a:p>
            <a:endParaRPr lang="es-MX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Regulación de fabricantes </a:t>
            </a:r>
            <a:r>
              <a:rPr lang="es-MX" dirty="0" err="1">
                <a:solidFill>
                  <a:schemeClr val="bg1"/>
                </a:solidFill>
              </a:rPr>
              <a:t>IoT</a:t>
            </a:r>
            <a:r>
              <a:rPr lang="es-MX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Certificación de seguridad obligatoria.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Prohibición de venta de dispositivos inseguros.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Monitoreo de tráfico anómalo a nivel ISP.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CBCD3CD-59D1-D619-BB19-138E8E86FDAE}"/>
              </a:ext>
            </a:extLst>
          </p:cNvPr>
          <p:cNvSpPr txBox="1"/>
          <p:nvPr/>
        </p:nvSpPr>
        <p:spPr>
          <a:xfrm>
            <a:off x="6050667" y="2589143"/>
            <a:ext cx="30368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b="1" dirty="0">
                <a:solidFill>
                  <a:schemeClr val="bg1"/>
                </a:solidFill>
              </a:rPr>
              <a:t>Herramientas útiles para proteger </a:t>
            </a:r>
            <a:r>
              <a:rPr lang="es-PA" b="1" dirty="0" err="1">
                <a:solidFill>
                  <a:schemeClr val="bg1"/>
                </a:solidFill>
              </a:rPr>
              <a:t>IoT</a:t>
            </a:r>
            <a:endParaRPr lang="es-PA" b="1" dirty="0">
              <a:solidFill>
                <a:schemeClr val="bg1"/>
              </a:solidFill>
            </a:endParaRPr>
          </a:p>
          <a:p>
            <a:endParaRPr lang="es-PA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PA" dirty="0" err="1">
                <a:solidFill>
                  <a:schemeClr val="bg1"/>
                </a:solidFill>
              </a:rPr>
              <a:t>Fing</a:t>
            </a:r>
            <a:r>
              <a:rPr lang="es-PA" dirty="0">
                <a:solidFill>
                  <a:schemeClr val="bg1"/>
                </a:solidFill>
              </a:rPr>
              <a:t> (escaneo de red)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 err="1">
                <a:solidFill>
                  <a:schemeClr val="bg1"/>
                </a:solidFill>
              </a:rPr>
              <a:t>Nmap</a:t>
            </a:r>
            <a:r>
              <a:rPr lang="es-PA" dirty="0">
                <a:solidFill>
                  <a:schemeClr val="bg1"/>
                </a:solidFill>
              </a:rPr>
              <a:t> (auditoría de puertos)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>
                <a:solidFill>
                  <a:schemeClr val="bg1"/>
                </a:solidFill>
              </a:rPr>
              <a:t>Wireshark (análisis de tráfico)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 err="1">
                <a:solidFill>
                  <a:schemeClr val="bg1"/>
                </a:solidFill>
              </a:rPr>
              <a:t>Wazuh</a:t>
            </a:r>
            <a:r>
              <a:rPr lang="es-PA" dirty="0">
                <a:solidFill>
                  <a:schemeClr val="bg1"/>
                </a:solidFill>
              </a:rPr>
              <a:t> (monitoreo)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 err="1">
                <a:solidFill>
                  <a:schemeClr val="bg1"/>
                </a:solidFill>
              </a:rPr>
              <a:t>pfSense</a:t>
            </a:r>
            <a:r>
              <a:rPr lang="es-PA" dirty="0">
                <a:solidFill>
                  <a:schemeClr val="bg1"/>
                </a:solidFill>
              </a:rPr>
              <a:t> (firewall profesional)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A" dirty="0">
                <a:solidFill>
                  <a:schemeClr val="bg1"/>
                </a:solidFill>
              </a:rPr>
              <a:t>Pi-</a:t>
            </a:r>
            <a:r>
              <a:rPr lang="es-PA" dirty="0" err="1">
                <a:solidFill>
                  <a:schemeClr val="bg1"/>
                </a:solidFill>
              </a:rPr>
              <a:t>hole</a:t>
            </a:r>
            <a:r>
              <a:rPr lang="es-PA" dirty="0">
                <a:solidFill>
                  <a:schemeClr val="bg1"/>
                </a:solidFill>
              </a:rPr>
              <a:t> (bloqueo DNS malicioso)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B19CB8D-2317-F1CB-816F-2FB405D9F5E8}"/>
              </a:ext>
            </a:extLst>
          </p:cNvPr>
          <p:cNvSpPr txBox="1"/>
          <p:nvPr/>
        </p:nvSpPr>
        <p:spPr>
          <a:xfrm>
            <a:off x="512118" y="167076"/>
            <a:ext cx="75683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</a:rPr>
              <a:t>Ventajas y Desventajas de </a:t>
            </a:r>
            <a:r>
              <a:rPr lang="es-MX" sz="2000" dirty="0" err="1">
                <a:solidFill>
                  <a:schemeClr val="bg1"/>
                </a:solidFill>
              </a:rPr>
              <a:t>SmartPhone</a:t>
            </a:r>
            <a:r>
              <a:rPr lang="es-MX" sz="2000" dirty="0">
                <a:solidFill>
                  <a:schemeClr val="bg1"/>
                </a:solidFill>
              </a:rPr>
              <a:t> Generación 4 y Generación 5 (4G vs 5G)</a:t>
            </a:r>
            <a:endParaRPr lang="es-PA" sz="2000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3024E5C-FD33-0A43-2C80-BE0336D519BD}"/>
              </a:ext>
            </a:extLst>
          </p:cNvPr>
          <p:cNvSpPr txBox="1"/>
          <p:nvPr/>
        </p:nvSpPr>
        <p:spPr>
          <a:xfrm>
            <a:off x="188843" y="1310093"/>
            <a:ext cx="333954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Ventajas de 4G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Infraestructura estable y madura.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Menos complejidad técnica.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Menos vulnerabilidades por virtualización.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Mejor compatibilidad universal. 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</a:endParaRPr>
          </a:p>
          <a:p>
            <a:r>
              <a:rPr lang="es-MX" b="1" dirty="0">
                <a:solidFill>
                  <a:schemeClr val="bg1"/>
                </a:solidFill>
              </a:rPr>
              <a:t>❌ Desventajas de 4G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Mayor latencia.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Menos capacidad para </a:t>
            </a:r>
            <a:r>
              <a:rPr lang="es-MX" dirty="0" err="1">
                <a:solidFill>
                  <a:schemeClr val="bg1"/>
                </a:solidFill>
              </a:rPr>
              <a:t>IoT</a:t>
            </a:r>
            <a:r>
              <a:rPr lang="es-MX" dirty="0">
                <a:solidFill>
                  <a:schemeClr val="bg1"/>
                </a:solidFill>
              </a:rPr>
              <a:t> masivo.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Menor velocidad para IA en la nube.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60D504C-0A8D-7C71-934C-39EE6EA9437E}"/>
              </a:ext>
            </a:extLst>
          </p:cNvPr>
          <p:cNvSpPr txBox="1"/>
          <p:nvPr/>
        </p:nvSpPr>
        <p:spPr>
          <a:xfrm>
            <a:off x="3508514" y="973483"/>
            <a:ext cx="4572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Ventajas de 5G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Velocidad extremadamente alta.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Latencia muy baja (ideal para </a:t>
            </a:r>
            <a:r>
              <a:rPr lang="es-MX" dirty="0" err="1">
                <a:solidFill>
                  <a:schemeClr val="bg1"/>
                </a:solidFill>
              </a:rPr>
              <a:t>IoT</a:t>
            </a:r>
            <a:r>
              <a:rPr lang="es-MX" dirty="0">
                <a:solidFill>
                  <a:schemeClr val="bg1"/>
                </a:solidFill>
              </a:rPr>
              <a:t> crítico).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Permite ciudades inteligentes y automatización industrial.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Network </a:t>
            </a:r>
            <a:r>
              <a:rPr lang="es-MX" dirty="0" err="1">
                <a:solidFill>
                  <a:schemeClr val="bg1"/>
                </a:solidFill>
              </a:rPr>
              <a:t>slicing</a:t>
            </a:r>
            <a:r>
              <a:rPr lang="es-MX" dirty="0">
                <a:solidFill>
                  <a:schemeClr val="bg1"/>
                </a:solidFill>
              </a:rPr>
              <a:t> (segmentación de redes). 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b="1" dirty="0">
                <a:solidFill>
                  <a:schemeClr val="bg1"/>
                </a:solidFill>
              </a:rPr>
              <a:t>Desventajas de 5G (en ciberseguridad)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Mayor superficie de ataque.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Dependencia fuerte de software y virtualización.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Vulnerabilidades en redes virtualizadas (NFV, SDN).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Network </a:t>
            </a:r>
            <a:r>
              <a:rPr lang="es-MX" dirty="0" err="1">
                <a:solidFill>
                  <a:schemeClr val="bg1"/>
                </a:solidFill>
              </a:rPr>
              <a:t>slicing</a:t>
            </a:r>
            <a:r>
              <a:rPr lang="es-MX" dirty="0">
                <a:solidFill>
                  <a:schemeClr val="bg1"/>
                </a:solidFill>
              </a:rPr>
              <a:t> puede ser explotado si está mal configurado.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Mayor uso de antenas pequeñas (más puntos a proteger).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Riesgo de ataques a infraestructura </a:t>
            </a:r>
            <a:r>
              <a:rPr lang="es-MX" dirty="0" err="1">
                <a:solidFill>
                  <a:schemeClr val="bg1"/>
                </a:solidFill>
              </a:rPr>
              <a:t>IoT</a:t>
            </a:r>
            <a:r>
              <a:rPr lang="es-MX" dirty="0">
                <a:solidFill>
                  <a:schemeClr val="bg1"/>
                </a:solidFill>
              </a:rPr>
              <a:t> masiva conectada.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FAB1566-F62C-00B1-152A-6C1FE0200F3A}"/>
              </a:ext>
            </a:extLst>
          </p:cNvPr>
          <p:cNvSpPr txBox="1"/>
          <p:nvPr/>
        </p:nvSpPr>
        <p:spPr>
          <a:xfrm>
            <a:off x="188843" y="1059864"/>
            <a:ext cx="381662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Para usuarios (personas)</a:t>
            </a:r>
          </a:p>
          <a:p>
            <a:endParaRPr lang="es-MX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MFA en todas las cuentas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Contraseñas únicas con gestor (</a:t>
            </a:r>
            <a:r>
              <a:rPr lang="es-MX" dirty="0" err="1">
                <a:solidFill>
                  <a:schemeClr val="bg1"/>
                </a:solidFill>
              </a:rPr>
              <a:t>Bitwarden</a:t>
            </a:r>
            <a:r>
              <a:rPr lang="es-MX" dirty="0">
                <a:solidFill>
                  <a:schemeClr val="bg1"/>
                </a:solidFill>
              </a:rPr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VPN en </a:t>
            </a:r>
            <a:r>
              <a:rPr lang="es-MX" dirty="0" err="1">
                <a:solidFill>
                  <a:schemeClr val="bg1"/>
                </a:solidFill>
              </a:rPr>
              <a:t>Wi</a:t>
            </a:r>
            <a:r>
              <a:rPr lang="es-MX" dirty="0">
                <a:solidFill>
                  <a:schemeClr val="bg1"/>
                </a:solidFill>
              </a:rPr>
              <a:t>-Fi públicas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DNS seguro (</a:t>
            </a:r>
            <a:r>
              <a:rPr lang="es-MX" dirty="0" err="1">
                <a:solidFill>
                  <a:schemeClr val="bg1"/>
                </a:solidFill>
              </a:rPr>
              <a:t>Cloudflare</a:t>
            </a:r>
            <a:r>
              <a:rPr lang="es-MX" dirty="0">
                <a:solidFill>
                  <a:schemeClr val="bg1"/>
                </a:solidFill>
              </a:rPr>
              <a:t> / Quad9)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No instalar apps fuera de tiendas oficiales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Bloqueo biométrico + PIN fuerte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Copias de seguridad cifradas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Permisos mínimos en apps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42AED24-DB95-91D0-D421-B530950BF33E}"/>
              </a:ext>
            </a:extLst>
          </p:cNvPr>
          <p:cNvSpPr txBox="1"/>
          <p:nvPr/>
        </p:nvSpPr>
        <p:spPr>
          <a:xfrm>
            <a:off x="4482548" y="1059864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Para empresas/universidades</a:t>
            </a:r>
          </a:p>
          <a:p>
            <a:endParaRPr lang="es-MX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MDM obligatorio en móviles corporativos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Segmentación de red (</a:t>
            </a:r>
            <a:r>
              <a:rPr lang="es-MX" dirty="0" err="1">
                <a:solidFill>
                  <a:schemeClr val="bg1"/>
                </a:solidFill>
              </a:rPr>
              <a:t>IoT</a:t>
            </a:r>
            <a:r>
              <a:rPr lang="es-MX" dirty="0">
                <a:solidFill>
                  <a:schemeClr val="bg1"/>
                </a:solidFill>
              </a:rPr>
              <a:t> separado)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Firewall empresarial + reglas estrictas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SIEM (</a:t>
            </a:r>
            <a:r>
              <a:rPr lang="es-MX" dirty="0" err="1">
                <a:solidFill>
                  <a:schemeClr val="bg1"/>
                </a:solidFill>
              </a:rPr>
              <a:t>Wazuh</a:t>
            </a:r>
            <a:r>
              <a:rPr lang="es-MX" dirty="0">
                <a:solidFill>
                  <a:schemeClr val="bg1"/>
                </a:solidFill>
              </a:rPr>
              <a:t> recomendado)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IDS/IPS (Suricata/</a:t>
            </a:r>
            <a:r>
              <a:rPr lang="es-MX" dirty="0" err="1">
                <a:solidFill>
                  <a:schemeClr val="bg1"/>
                </a:solidFill>
              </a:rPr>
              <a:t>Snort</a:t>
            </a:r>
            <a:r>
              <a:rPr lang="es-MX" dirty="0">
                <a:solidFill>
                  <a:schemeClr val="bg1"/>
                </a:solidFill>
              </a:rPr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Zero Trust </a:t>
            </a:r>
            <a:r>
              <a:rPr lang="es-MX" dirty="0" err="1">
                <a:solidFill>
                  <a:schemeClr val="bg1"/>
                </a:solidFill>
              </a:rPr>
              <a:t>Architecture</a:t>
            </a:r>
            <a:r>
              <a:rPr lang="es-MX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Auditorías periódicas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Políticas de redes sociales institucionales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Concientización continua contra phishing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Respuesta a incidentes (IR Plan)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EB95B12-DA8A-2ED0-646B-EF0EEB3B91BA}"/>
              </a:ext>
            </a:extLst>
          </p:cNvPr>
          <p:cNvSpPr txBox="1"/>
          <p:nvPr/>
        </p:nvSpPr>
        <p:spPr>
          <a:xfrm>
            <a:off x="1143000" y="218830"/>
            <a:ext cx="64803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sz="3200" dirty="0">
                <a:solidFill>
                  <a:schemeClr val="bg1"/>
                </a:solidFill>
              </a:rPr>
              <a:t>Medidas de Seguridad Generales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3"/>
          <p:cNvSpPr/>
          <p:nvPr/>
        </p:nvSpPr>
        <p:spPr>
          <a:xfrm>
            <a:off x="492045" y="0"/>
            <a:ext cx="299744" cy="1234986"/>
          </a:xfrm>
          <a:custGeom>
            <a:avLst/>
            <a:gdLst/>
            <a:ahLst/>
            <a:cxnLst/>
            <a:rect l="l" t="t" r="r" b="b"/>
            <a:pathLst>
              <a:path w="11670" h="48082" fill="none" extrusionOk="0">
                <a:moveTo>
                  <a:pt x="11599" y="0"/>
                </a:moveTo>
                <a:lnTo>
                  <a:pt x="11670" y="21647"/>
                </a:lnTo>
                <a:lnTo>
                  <a:pt x="1" y="34388"/>
                </a:lnTo>
                <a:lnTo>
                  <a:pt x="1" y="48081"/>
                </a:lnTo>
                <a:lnTo>
                  <a:pt x="6097" y="48081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23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" name="Google Shape;616;p63"/>
          <p:cNvGrpSpPr/>
          <p:nvPr/>
        </p:nvGrpSpPr>
        <p:grpSpPr>
          <a:xfrm>
            <a:off x="629692" y="1105264"/>
            <a:ext cx="144992" cy="269768"/>
            <a:chOff x="629692" y="1105264"/>
            <a:chExt cx="144992" cy="269768"/>
          </a:xfrm>
        </p:grpSpPr>
        <p:sp>
          <p:nvSpPr>
            <p:cNvPr id="617" name="Google Shape;617;p63"/>
            <p:cNvSpPr/>
            <p:nvPr/>
          </p:nvSpPr>
          <p:spPr>
            <a:xfrm>
              <a:off x="629692" y="1105264"/>
              <a:ext cx="144992" cy="135206"/>
            </a:xfrm>
            <a:custGeom>
              <a:avLst/>
              <a:gdLst/>
              <a:ahLst/>
              <a:cxnLst/>
              <a:rect l="l" t="t" r="r" b="b"/>
              <a:pathLst>
                <a:path w="5645" h="5264" fill="none" extrusionOk="0">
                  <a:moveTo>
                    <a:pt x="0" y="5264"/>
                  </a:moveTo>
                  <a:lnTo>
                    <a:pt x="5644" y="1"/>
                  </a:lnTo>
                </a:path>
              </a:pathLst>
            </a:custGeom>
            <a:solidFill>
              <a:schemeClr val="lt1"/>
            </a:solidFill>
            <a:ln w="22625" cap="flat" cmpd="sng">
              <a:solidFill>
                <a:schemeClr val="lt1"/>
              </a:solidFill>
              <a:prstDash val="solid"/>
              <a:miter lim="23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63"/>
            <p:cNvSpPr/>
            <p:nvPr/>
          </p:nvSpPr>
          <p:spPr>
            <a:xfrm>
              <a:off x="635188" y="1229450"/>
              <a:ext cx="135822" cy="145583"/>
            </a:xfrm>
            <a:custGeom>
              <a:avLst/>
              <a:gdLst/>
              <a:ahLst/>
              <a:cxnLst/>
              <a:rect l="l" t="t" r="r" b="b"/>
              <a:pathLst>
                <a:path w="5288" h="5668" fill="none" extrusionOk="0">
                  <a:moveTo>
                    <a:pt x="0" y="0"/>
                  </a:moveTo>
                  <a:lnTo>
                    <a:pt x="5287" y="5668"/>
                  </a:lnTo>
                </a:path>
              </a:pathLst>
            </a:custGeom>
            <a:solidFill>
              <a:schemeClr val="lt1"/>
            </a:solidFill>
            <a:ln w="22625" cap="flat" cmpd="sng">
              <a:solidFill>
                <a:schemeClr val="lt1"/>
              </a:solidFill>
              <a:prstDash val="solid"/>
              <a:miter lim="23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9" name="Google Shape;619;p63">
            <a:hlinkClick r:id="rId3" action="ppaction://hlinksldjump"/>
          </p:cNvPr>
          <p:cNvSpPr/>
          <p:nvPr/>
        </p:nvSpPr>
        <p:spPr>
          <a:xfrm>
            <a:off x="662726" y="431825"/>
            <a:ext cx="254100" cy="254100"/>
          </a:xfrm>
          <a:prstGeom prst="ellipse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sz="1600" b="1"/>
          </a:p>
        </p:txBody>
      </p:sp>
      <p:sp>
        <p:nvSpPr>
          <p:cNvPr id="620" name="Google Shape;620;p63">
            <a:hlinkClick r:id="rId4" action="ppaction://hlinksldjump"/>
          </p:cNvPr>
          <p:cNvSpPr/>
          <p:nvPr/>
        </p:nvSpPr>
        <p:spPr>
          <a:xfrm>
            <a:off x="404400" y="796152"/>
            <a:ext cx="175200" cy="175200"/>
          </a:xfrm>
          <a:prstGeom prst="ellipse">
            <a:avLst/>
          </a:prstGeom>
          <a:solidFill>
            <a:schemeClr val="dk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000"/>
          </a:p>
        </p:txBody>
      </p:sp>
      <p:sp>
        <p:nvSpPr>
          <p:cNvPr id="621" name="Google Shape;621;p63">
            <a:hlinkClick r:id="" action="ppaction://hlinkshowjump?jump=previousslide"/>
          </p:cNvPr>
          <p:cNvSpPr/>
          <p:nvPr/>
        </p:nvSpPr>
        <p:spPr>
          <a:xfrm rot="10800000">
            <a:off x="745722" y="1066461"/>
            <a:ext cx="88200" cy="882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2" name="Google Shape;622;p63">
            <a:hlinkClick r:id="" action="ppaction://hlinkshowjump?jump=nextslide"/>
          </p:cNvPr>
          <p:cNvSpPr/>
          <p:nvPr/>
        </p:nvSpPr>
        <p:spPr>
          <a:xfrm>
            <a:off x="745525" y="1325689"/>
            <a:ext cx="88500" cy="885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🠺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31C3CD-0BDD-8B30-937A-CAC563D4E209}"/>
              </a:ext>
            </a:extLst>
          </p:cNvPr>
          <p:cNvSpPr txBox="1"/>
          <p:nvPr/>
        </p:nvSpPr>
        <p:spPr>
          <a:xfrm>
            <a:off x="3189486" y="1303263"/>
            <a:ext cx="56066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</a:rPr>
              <a:t>Los dispositivos móviles, redes sociales, </a:t>
            </a:r>
            <a:r>
              <a:rPr lang="es-MX" sz="1600" dirty="0" err="1">
                <a:solidFill>
                  <a:schemeClr val="bg1"/>
                </a:solidFill>
              </a:rPr>
              <a:t>IoT</a:t>
            </a:r>
            <a:r>
              <a:rPr lang="es-MX" sz="1600" dirty="0">
                <a:solidFill>
                  <a:schemeClr val="bg1"/>
                </a:solidFill>
              </a:rPr>
              <a:t> y redes 5G han generado un ecosistema digital extremadamente interconectado, pero también vulnerable. La mitigación real se logra combinando:</a:t>
            </a:r>
          </a:p>
          <a:p>
            <a:pPr algn="just"/>
            <a:r>
              <a:rPr lang="es-MX" sz="1600" dirty="0">
                <a:solidFill>
                  <a:schemeClr val="bg1"/>
                </a:solidFill>
              </a:rPr>
              <a:t>Seguridad técnica (cifrado, segmentación, VPN, IDS/IPS) </a:t>
            </a:r>
          </a:p>
          <a:p>
            <a:pPr algn="just"/>
            <a:r>
              <a:rPr lang="es-MX" sz="1600" dirty="0">
                <a:solidFill>
                  <a:schemeClr val="bg1"/>
                </a:solidFill>
              </a:rPr>
              <a:t>Seguridad organizacional (políticas, auditorías, concientización) </a:t>
            </a:r>
          </a:p>
          <a:p>
            <a:pPr algn="just"/>
            <a:r>
              <a:rPr lang="es-MX" sz="1600" dirty="0">
                <a:solidFill>
                  <a:schemeClr val="bg1"/>
                </a:solidFill>
              </a:rPr>
              <a:t>Seguridad del usuario (buenas prácticas y control de permisos) </a:t>
            </a:r>
          </a:p>
          <a:p>
            <a:pPr algn="just"/>
            <a:r>
              <a:rPr lang="es-MX" sz="1600" dirty="0">
                <a:solidFill>
                  <a:schemeClr val="bg1"/>
                </a:solidFill>
              </a:rPr>
              <a:t>Seguridad legal (regulación </a:t>
            </a:r>
            <a:r>
              <a:rPr lang="es-MX" sz="1600" dirty="0" err="1">
                <a:solidFill>
                  <a:schemeClr val="bg1"/>
                </a:solidFill>
              </a:rPr>
              <a:t>IoT</a:t>
            </a:r>
            <a:r>
              <a:rPr lang="es-MX" sz="1600" dirty="0">
                <a:solidFill>
                  <a:schemeClr val="bg1"/>
                </a:solidFill>
              </a:rPr>
              <a:t> y sanciones contra piratería) </a:t>
            </a:r>
          </a:p>
          <a:p>
            <a:pPr algn="just"/>
            <a:r>
              <a:rPr lang="es-MX" sz="1600" dirty="0">
                <a:solidFill>
                  <a:schemeClr val="bg1"/>
                </a:solidFill>
              </a:rPr>
              <a:t>En términos prácticos: </a:t>
            </a:r>
            <a:r>
              <a:rPr lang="es-MX" sz="1600" b="1" dirty="0">
                <a:solidFill>
                  <a:schemeClr val="bg1"/>
                </a:solidFill>
              </a:rPr>
              <a:t>la estrategia más efectiva hoy en día es aplicar un enfoque Zero Trust</a:t>
            </a:r>
            <a:r>
              <a:rPr lang="es-MX" sz="1600" dirty="0">
                <a:solidFill>
                  <a:schemeClr val="bg1"/>
                </a:solidFill>
              </a:rPr>
              <a:t>, donde ningún dispositivo, aplicación o usuario es confiable por defecto.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3F5F58D-F4C5-2699-8BC2-973F561A7D3D}"/>
              </a:ext>
            </a:extLst>
          </p:cNvPr>
          <p:cNvSpPr txBox="1"/>
          <p:nvPr/>
        </p:nvSpPr>
        <p:spPr>
          <a:xfrm>
            <a:off x="5215993" y="483642"/>
            <a:ext cx="2059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sz="2400" dirty="0">
                <a:solidFill>
                  <a:schemeClr val="bg1"/>
                </a:solidFill>
              </a:rPr>
              <a:t>Conclusión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Company Branding Guidelines XL by Slidesgo">
  <a:themeElements>
    <a:clrScheme name="Simple Light">
      <a:dk1>
        <a:srgbClr val="011446"/>
      </a:dk1>
      <a:lt1>
        <a:srgbClr val="FFFFFF"/>
      </a:lt1>
      <a:dk2>
        <a:srgbClr val="02227F"/>
      </a:dk2>
      <a:lt2>
        <a:srgbClr val="B7B7B7"/>
      </a:lt2>
      <a:accent1>
        <a:srgbClr val="FFFFFF"/>
      </a:accent1>
      <a:accent2>
        <a:srgbClr val="06BAD6"/>
      </a:accent2>
      <a:accent3>
        <a:srgbClr val="A1F1FE"/>
      </a:accent3>
      <a:accent4>
        <a:srgbClr val="079AB1"/>
      </a:accent4>
      <a:accent5>
        <a:srgbClr val="0081B0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1484</Words>
  <Application>Microsoft Office PowerPoint</Application>
  <PresentationFormat>Presentación en pantalla (16:9)</PresentationFormat>
  <Paragraphs>307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4" baseType="lpstr">
      <vt:lpstr>Muli</vt:lpstr>
      <vt:lpstr>Fira Sans Condensed</vt:lpstr>
      <vt:lpstr>Yanone Kaffeesatz</vt:lpstr>
      <vt:lpstr>Arial</vt:lpstr>
      <vt:lpstr>Montserrat Light</vt:lpstr>
      <vt:lpstr>Caveat</vt:lpstr>
      <vt:lpstr>Barlow</vt:lpstr>
      <vt:lpstr>Montserrat ExtraBold</vt:lpstr>
      <vt:lpstr>Ubuntu</vt:lpstr>
      <vt:lpstr>Montserrat</vt:lpstr>
      <vt:lpstr>Tech Company Branding Guidelines XL by Slidesgo</vt:lpstr>
      <vt:lpstr>Presentación de PowerPoint</vt:lpstr>
      <vt:lpstr>Seguridad en dispositivos móviles orientados a IA e IoT</vt:lpstr>
      <vt:lpstr>01</vt:lpstr>
      <vt:lpstr>Presentación de PowerPoint</vt:lpstr>
      <vt:lpstr>02</vt:lpstr>
      <vt:lpstr>Prevenir la Piratería desde dispositivos móviles</vt:lpstr>
      <vt:lpstr>Aplicaciones recomendadas</vt:lpstr>
      <vt:lpstr>Mitigar o eliminar la utilización de equipos IoT en el Crimen Organizado</vt:lpstr>
      <vt:lpstr>Presentación de PowerPoint</vt:lpstr>
      <vt:lpstr>Logo evolution process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Itmar Castillo</cp:lastModifiedBy>
  <cp:revision>1</cp:revision>
  <dcterms:modified xsi:type="dcterms:W3CDTF">2026-04-01T23:48:09Z</dcterms:modified>
</cp:coreProperties>
</file>