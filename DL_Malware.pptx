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2D3142"/>
                </a:solidFill>
                <a:latin typeface="Arial"/>
              </a:defRPr>
            </a:pPr>
            <a:r>
              <a:rPr lang="es-PA" sz="1000" b="0" i="0" u="none" strike="noStrike">
                <a:solidFill>
                  <a:srgbClr val="2D3142"/>
                </a:solidFill>
                <a:latin typeface="Arial"/>
              </a:rPr>
              <a:t>F1-Score por Método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AED9E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ED9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0-4FB0-A15E-F16095599168}"/>
              </c:ext>
            </c:extLst>
          </c:dPt>
          <c:dPt>
            <c:idx val="1"/>
            <c:invertIfNegative val="0"/>
            <c:bubble3D val="0"/>
            <c:spPr>
              <a:solidFill>
                <a:srgbClr val="C7CEE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0-4FB0-A15E-F16095599168}"/>
              </c:ext>
            </c:extLst>
          </c:dPt>
          <c:dPt>
            <c:idx val="2"/>
            <c:invertIfNegative val="0"/>
            <c:bubble3D val="0"/>
            <c:spPr>
              <a:solidFill>
                <a:srgbClr val="B5EAD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0-4FB0-A15E-F16095599168}"/>
              </c:ext>
            </c:extLst>
          </c:dPt>
          <c:dPt>
            <c:idx val="3"/>
            <c:invertIfNegative val="0"/>
            <c:bubble3D val="0"/>
            <c:spPr>
              <a:solidFill>
                <a:srgbClr val="FFDA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610-4FB0-A15E-F16095599168}"/>
              </c:ext>
            </c:extLst>
          </c:dPt>
          <c:dPt>
            <c:idx val="4"/>
            <c:invertIfNegative val="0"/>
            <c:bubble3D val="0"/>
            <c:spPr>
              <a:solidFill>
                <a:srgbClr val="FFB7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610-4FB0-A15E-F1609559916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142"/>
                    </a:solidFill>
                    <a:latin typeface="Arial"/>
                  </a:defRPr>
                </a:pPr>
                <a:endParaRPr lang="es-P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AV Firma</c:v>
                </c:pt>
                <c:pt idx="1">
                  <c:v>ML Clásico</c:v>
                </c:pt>
                <c:pt idx="2">
                  <c:v>CNN</c:v>
                </c:pt>
                <c:pt idx="3">
                  <c:v>LSTM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84</c:v>
                </c:pt>
                <c:pt idx="2">
                  <c:v>95</c:v>
                </c:pt>
                <c:pt idx="3">
                  <c:v>93</c:v>
                </c:pt>
                <c:pt idx="4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610-4FB0-A15E-F160955991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PA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PA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3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B5EAD7">
              <a:alpha val="8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C7CEEA">
              <a:alpha val="75000"/>
            </a:srgbClr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FDAC1">
              <a:alpha val="70000"/>
            </a:srgbClr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Shape 3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AED9E0">
              <a:alpha val="80000"/>
            </a:srgbClr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502920" y="777240"/>
            <a:ext cx="2286000" cy="320040"/>
          </a:xfrm>
          <a:prstGeom prst="roundRect">
            <a:avLst>
              <a:gd name="adj" fmla="val 42857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Ciberseguridad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para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Detección de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Malware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3520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Itmar Castillo 8-1027-180</a:t>
            </a:r>
          </a:p>
          <a:p>
            <a:pPr marL="0" indent="0">
              <a:buNone/>
            </a:pPr>
            <a:r>
              <a:rPr lang="en-US" sz="1200" dirty="0"/>
              <a:t>Jose Moreno 8-1019-2359</a:t>
            </a:r>
          </a:p>
        </p:txBody>
      </p:sp>
      <p:sp>
        <p:nvSpPr>
          <p:cNvPr id="11" name="Shape 9"/>
          <p:cNvSpPr/>
          <p:nvPr/>
        </p:nvSpPr>
        <p:spPr>
          <a:xfrm>
            <a:off x="502920" y="4315968"/>
            <a:ext cx="681228" cy="274320"/>
          </a:xfrm>
          <a:prstGeom prst="roundRect">
            <a:avLst>
              <a:gd name="adj" fmla="val 40000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502920" y="4315968"/>
            <a:ext cx="681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48740" y="4315968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1348740" y="43159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30652" y="4315968"/>
            <a:ext cx="1101852" cy="274320"/>
          </a:xfrm>
          <a:prstGeom prst="roundRect">
            <a:avLst>
              <a:gd name="adj" fmla="val 40000"/>
            </a:avLst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Text 14"/>
          <p:cNvSpPr/>
          <p:nvPr/>
        </p:nvSpPr>
        <p:spPr>
          <a:xfrm>
            <a:off x="2930652" y="4315968"/>
            <a:ext cx="11018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97096" y="4315968"/>
            <a:ext cx="1837944" cy="274320"/>
          </a:xfrm>
          <a:prstGeom prst="roundRect">
            <a:avLst>
              <a:gd name="adj" fmla="val 4000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4197096" y="4315968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9632" y="4315968"/>
            <a:ext cx="1732788" cy="274320"/>
          </a:xfrm>
          <a:prstGeom prst="roundRect">
            <a:avLst>
              <a:gd name="adj" fmla="val 40000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6199632" y="4315968"/>
            <a:ext cx="17327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C7CEEA">
              <a:alpha val="45000"/>
            </a:srgbClr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521208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52120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Malware?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892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Definición, tipos e impacto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91456" y="141732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2" name="Shape 10"/>
          <p:cNvSpPr/>
          <p:nvPr/>
        </p:nvSpPr>
        <p:spPr>
          <a:xfrm>
            <a:off x="4928616" y="1645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4928616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— Deep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8928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RNN, LSTM y arquitecturas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60604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521208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521208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Analizados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081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Bytes, grafos, logs de comportamiento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91456" y="260604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4928616" y="28346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4928616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vs Falsos Positivos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308152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trade-offs y umbrales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79476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Shape 25"/>
          <p:cNvSpPr/>
          <p:nvPr/>
        </p:nvSpPr>
        <p:spPr>
          <a:xfrm>
            <a:off x="521208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8" name="Text 26"/>
          <p:cNvSpPr/>
          <p:nvPr/>
        </p:nvSpPr>
        <p:spPr>
          <a:xfrm>
            <a:off x="52120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/ Estudio Comparativo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4270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MalConv, EMBER, investigaciones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91456" y="3794760"/>
            <a:ext cx="4160520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5240">
            <a:solidFill>
              <a:srgbClr val="E5E7EB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2" name="Shape 30"/>
          <p:cNvSpPr/>
          <p:nvPr/>
        </p:nvSpPr>
        <p:spPr>
          <a:xfrm>
            <a:off x="4928616" y="4023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4928616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y Conclusiones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4270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 y futuro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FFB7B2">
              <a:alpha val="50000"/>
            </a:srgbClr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Fundamentos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Malware?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5303520" cy="658368"/>
          </a:xfrm>
          <a:prstGeom prst="roundRect">
            <a:avLst>
              <a:gd name="adj" fmla="val 19444"/>
            </a:avLst>
          </a:prstGeom>
          <a:solidFill>
            <a:srgbClr val="FFB7B2">
              <a:alpha val="55000"/>
            </a:srgbClr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malicioso diseñado para dañar, infiltrar o explotar sistemas sin consentimiento del usuario.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298448"/>
            <a:ext cx="2834640" cy="914400"/>
          </a:xfrm>
          <a:prstGeom prst="roundRect">
            <a:avLst>
              <a:gd name="adj" fmla="val 18000"/>
            </a:avLst>
          </a:prstGeom>
          <a:solidFill>
            <a:srgbClr val="FFDAC1">
              <a:alpha val="70000"/>
            </a:srgbClr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594360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450,000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muestras por día (AV-TEST, 2024)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33172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FFB7B2">
              <a:alpha val="65000"/>
            </a:srgbClr>
          </a:solidFill>
          <a:ln w="19050">
            <a:solidFill>
              <a:srgbClr val="FFB7B2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548640" y="2459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3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adjunta a ejecutables y se replica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FFDAC1">
              <a:alpha val="65000"/>
            </a:srgbClr>
          </a:solidFill>
          <a:ln w="1905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3456432" y="2459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datos y exige rescate económico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9632" y="233172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C7CEEA">
              <a:alpha val="65000"/>
            </a:srgbClr>
          </a:solidFill>
          <a:ln w="1905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6364224" y="24597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Troyano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disfraza de software legítimo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61188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B5EAD7">
              <a:alpha val="65000"/>
            </a:srgbClr>
          </a:solidFill>
          <a:ln w="1905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1" name="Text 19"/>
          <p:cNvSpPr/>
          <p:nvPr/>
        </p:nvSpPr>
        <p:spPr>
          <a:xfrm>
            <a:off x="548640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AB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Spyware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 sin consentimiento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61188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E2C4F0">
              <a:alpha val="65000"/>
            </a:srgbClr>
          </a:solidFill>
          <a:ln w="19050">
            <a:solidFill>
              <a:srgbClr val="E2C4F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3456432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Rootkit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56432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su presencia en el SO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99632" y="3611880"/>
            <a:ext cx="2743200" cy="1097280"/>
          </a:xfrm>
          <a:prstGeom prst="roundRect">
            <a:avLst>
              <a:gd name="adj" fmla="val 13333"/>
            </a:avLst>
          </a:prstGeom>
          <a:solidFill>
            <a:srgbClr val="AED9E0">
              <a:alpha val="65000"/>
            </a:srgbClr>
          </a:solidFill>
          <a:ln w="1905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6364224" y="37398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Botnet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64224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equipos para ataques masivos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AED9E0">
              <a:alpha val="45000"/>
            </a:srgbClr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Datos Analizados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801368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AED9E0">
              <a:alpha val="50000"/>
            </a:srgbClr>
          </a:solidFill>
          <a:ln w="1270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9" name="Shape 7"/>
          <p:cNvSpPr/>
          <p:nvPr/>
        </p:nvSpPr>
        <p:spPr>
          <a:xfrm>
            <a:off x="585216" y="201168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Text 8"/>
          <p:cNvSpPr/>
          <p:nvPr/>
        </p:nvSpPr>
        <p:spPr>
          <a:xfrm>
            <a:off x="768096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del ejecutable (PE)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5216" y="256032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768096" y="24871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.text y .data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" y="310896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768096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Importaciones de DLL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5216" y="365760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Text 14"/>
          <p:cNvSpPr/>
          <p:nvPr/>
        </p:nvSpPr>
        <p:spPr>
          <a:xfrm>
            <a:off x="768096" y="3584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del archivo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" y="420624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768096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embebidos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141732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3291840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1801368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B5EAD7">
              <a:alpha val="50000"/>
            </a:srgbClr>
          </a:solidFill>
          <a:ln w="1270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3493008" y="2011680"/>
            <a:ext cx="100584" cy="100584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3675888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al sistema (syscalls)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93008" y="2560320"/>
            <a:ext cx="100584" cy="100584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Text 23"/>
          <p:cNvSpPr/>
          <p:nvPr/>
        </p:nvSpPr>
        <p:spPr>
          <a:xfrm>
            <a:off x="3675888" y="24871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al registro Windows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93008" y="3108960"/>
            <a:ext cx="100584" cy="100584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3675888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de red generado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93008" y="3657600"/>
            <a:ext cx="100584" cy="100584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3675888" y="3584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procesos hijos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93008" y="4206240"/>
            <a:ext cx="100584" cy="100584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Text 29"/>
          <p:cNvSpPr/>
          <p:nvPr/>
        </p:nvSpPr>
        <p:spPr>
          <a:xfrm>
            <a:off x="3675888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comportamiento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9632" y="141732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6199632" y="14173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1801368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C7CEEA">
              <a:alpha val="50000"/>
            </a:srgbClr>
          </a:solidFill>
          <a:ln w="1270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5" name="Shape 33"/>
          <p:cNvSpPr/>
          <p:nvPr/>
        </p:nvSpPr>
        <p:spPr>
          <a:xfrm>
            <a:off x="6400800" y="2011680"/>
            <a:ext cx="100584" cy="1005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6" name="Text 34"/>
          <p:cNvSpPr/>
          <p:nvPr/>
        </p:nvSpPr>
        <p:spPr>
          <a:xfrm>
            <a:off x="6583680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bytes + comportamiento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2560320"/>
            <a:ext cx="100584" cy="1005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8" name="Text 36"/>
          <p:cNvSpPr/>
          <p:nvPr/>
        </p:nvSpPr>
        <p:spPr>
          <a:xfrm>
            <a:off x="6583680" y="248716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de llamadas a funciones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3108960"/>
            <a:ext cx="100584" cy="1005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0" name="Text 38"/>
          <p:cNvSpPr/>
          <p:nvPr/>
        </p:nvSpPr>
        <p:spPr>
          <a:xfrm>
            <a:off x="6583680" y="30358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RNN combinados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0" y="3657600"/>
            <a:ext cx="100584" cy="1005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2" name="Text 40"/>
          <p:cNvSpPr/>
          <p:nvPr/>
        </p:nvSpPr>
        <p:spPr>
          <a:xfrm>
            <a:off x="6583680" y="35844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estáticas + dinámicas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4206240"/>
            <a:ext cx="100584" cy="100584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4" name="Text 42"/>
          <p:cNvSpPr/>
          <p:nvPr/>
        </p:nvSpPr>
        <p:spPr>
          <a:xfrm>
            <a:off x="6583680" y="4133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robustez y precisión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FDAC1">
              <a:alpha val="50000"/>
            </a:srgbClr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Arquitecturas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— Redes Convolucionales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389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aplican al malware?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783080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FDAC1">
              <a:alpha val="45000"/>
            </a:srgbClr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512064" y="1929384"/>
            <a:ext cx="292608" cy="292608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512064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856232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binario se convierte en imagen de escala de grises — cada byte equivale a 1 pixel.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532888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FDAC1">
              <a:alpha val="45000"/>
            </a:srgbClr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2" name="Shape 10"/>
          <p:cNvSpPr/>
          <p:nvPr/>
        </p:nvSpPr>
        <p:spPr>
          <a:xfrm>
            <a:off x="512064" y="2679192"/>
            <a:ext cx="292608" cy="292608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512064" y="2679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606040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CNN detecta patrones visuales correlacionados con familias de malware.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282696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FDAC1">
              <a:alpha val="45000"/>
            </a:srgbClr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512064" y="3429000"/>
            <a:ext cx="292608" cy="292608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512064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MalConv: CNN 1D sobre bytes raw sin preprocesamiento manual (Raff et al., 2018).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4032504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FDAC1">
              <a:alpha val="45000"/>
            </a:srgbClr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0" name="Shape 18"/>
          <p:cNvSpPr/>
          <p:nvPr/>
        </p:nvSpPr>
        <p:spPr>
          <a:xfrm>
            <a:off x="512064" y="4178808"/>
            <a:ext cx="292608" cy="292608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Text 19"/>
          <p:cNvSpPr/>
          <p:nvPr/>
        </p:nvSpPr>
        <p:spPr>
          <a:xfrm>
            <a:off x="512064" y="4178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105656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Eficaz contra variantes polimórficas que evaden firmas AV tradicionales.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1554480"/>
            <a:ext cx="566928" cy="2286000"/>
          </a:xfrm>
          <a:prstGeom prst="roundRect">
            <a:avLst>
              <a:gd name="adj" fmla="val 12903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5715000" y="1554480"/>
            <a:ext cx="56692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(Bytes)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281928" y="2660904"/>
            <a:ext cx="914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6" name="Shape 24"/>
          <p:cNvSpPr/>
          <p:nvPr/>
        </p:nvSpPr>
        <p:spPr>
          <a:xfrm>
            <a:off x="6373368" y="1609344"/>
            <a:ext cx="566928" cy="2176272"/>
          </a:xfrm>
          <a:prstGeom prst="roundRect">
            <a:avLst>
              <a:gd name="adj" fmla="val 12903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6373368" y="1609344"/>
            <a:ext cx="566928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40296" y="2660904"/>
            <a:ext cx="914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Shape 27"/>
          <p:cNvSpPr/>
          <p:nvPr/>
        </p:nvSpPr>
        <p:spPr>
          <a:xfrm>
            <a:off x="7031736" y="1664208"/>
            <a:ext cx="566928" cy="2066544"/>
          </a:xfrm>
          <a:prstGeom prst="roundRect">
            <a:avLst>
              <a:gd name="adj" fmla="val 12903"/>
            </a:avLst>
          </a:prstGeom>
          <a:solidFill>
            <a:srgbClr val="E2C4F0"/>
          </a:solidFill>
          <a:ln w="12700">
            <a:solidFill>
              <a:srgbClr val="E2C4F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7031736" y="1664208"/>
            <a:ext cx="566928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598664" y="2660904"/>
            <a:ext cx="914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2" name="Shape 30"/>
          <p:cNvSpPr/>
          <p:nvPr/>
        </p:nvSpPr>
        <p:spPr>
          <a:xfrm>
            <a:off x="7690104" y="1719072"/>
            <a:ext cx="566928" cy="1956816"/>
          </a:xfrm>
          <a:prstGeom prst="roundRect">
            <a:avLst>
              <a:gd name="adj" fmla="val 12903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7690104" y="1719072"/>
            <a:ext cx="566928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257032" y="2660904"/>
            <a:ext cx="91440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Shape 33"/>
          <p:cNvSpPr/>
          <p:nvPr/>
        </p:nvSpPr>
        <p:spPr>
          <a:xfrm>
            <a:off x="8348472" y="1773936"/>
            <a:ext cx="566928" cy="1847088"/>
          </a:xfrm>
          <a:prstGeom prst="roundRect">
            <a:avLst>
              <a:gd name="adj" fmla="val 12903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6" name="Text 34"/>
          <p:cNvSpPr/>
          <p:nvPr/>
        </p:nvSpPr>
        <p:spPr>
          <a:xfrm>
            <a:off x="8348472" y="1773936"/>
            <a:ext cx="566928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(Clase)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77840" y="39319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CNN 1D — Bytes de Malware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" y="4663440"/>
            <a:ext cx="8412480" cy="320040"/>
          </a:xfrm>
          <a:prstGeom prst="roundRect">
            <a:avLst>
              <a:gd name="adj" fmla="val 34286"/>
            </a:avLst>
          </a:prstGeom>
          <a:solidFill>
            <a:srgbClr val="B5EAD7">
              <a:alpha val="6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9" name="Text 37"/>
          <p:cNvSpPr/>
          <p:nvPr/>
        </p:nvSpPr>
        <p:spPr>
          <a:xfrm>
            <a:off x="50292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clave: Aprende directamente de los bytes — no requiere feature engineering manual.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C7CEEA">
              <a:alpha val="45000"/>
            </a:srgbClr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Arquitecturas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RNN / LSTM — Análisis de Secuencias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89888"/>
          <a:ext cx="530352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Clásica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E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5C6B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Memoria largo plazo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buena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Gradiente desvaneciente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grave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entrenamiento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Equilibrada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en malware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Secuencias cortas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 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5943600" y="1417320"/>
            <a:ext cx="2834640" cy="1051560"/>
          </a:xfrm>
          <a:prstGeom prst="roundRect">
            <a:avLst>
              <a:gd name="adj" fmla="val 13913"/>
            </a:avLst>
          </a:prstGeom>
          <a:solidFill>
            <a:srgbClr val="AED9E0">
              <a:alpha val="60000"/>
            </a:srgbClr>
          </a:solidFill>
          <a:ln w="1905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8" name="Text 5"/>
          <p:cNvSpPr/>
          <p:nvPr/>
        </p:nvSpPr>
        <p:spPr>
          <a:xfrm>
            <a:off x="6108192" y="1508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Sequences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08192" y="1819656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syscalls modelada como tokens. LSTM predice si el patrón es malicioso.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0" y="2633472"/>
            <a:ext cx="2834640" cy="1051560"/>
          </a:xfrm>
          <a:prstGeom prst="roundRect">
            <a:avLst>
              <a:gd name="adj" fmla="val 13913"/>
            </a:avLst>
          </a:prstGeom>
          <a:solidFill>
            <a:srgbClr val="FFDAC1">
              <a:alpha val="60000"/>
            </a:srgbClr>
          </a:solidFill>
          <a:ln w="1905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Text 8"/>
          <p:cNvSpPr/>
          <p:nvPr/>
        </p:nvSpPr>
        <p:spPr>
          <a:xfrm>
            <a:off x="6108192" y="2724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108192" y="3035808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red analizados byte a byte para detectar servidores C&amp;C.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3849624"/>
            <a:ext cx="2834640" cy="1051560"/>
          </a:xfrm>
          <a:prstGeom prst="roundRect">
            <a:avLst>
              <a:gd name="adj" fmla="val 13913"/>
            </a:avLst>
          </a:prstGeom>
          <a:solidFill>
            <a:srgbClr val="B5EAD7">
              <a:alpha val="60000"/>
            </a:srgbClr>
          </a:solidFill>
          <a:ln w="1905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4" name="Text 11"/>
          <p:cNvSpPr/>
          <p:nvPr/>
        </p:nvSpPr>
        <p:spPr>
          <a:xfrm>
            <a:off x="6108192" y="394106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Analysis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08192" y="42519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eventos convertidos en embeddings con LSTM bidireccional.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3AF2BED-3A2F-52F1-F697-F3F182075EEE}"/>
              </a:ext>
            </a:extLst>
          </p:cNvPr>
          <p:cNvSpPr txBox="1"/>
          <p:nvPr/>
        </p:nvSpPr>
        <p:spPr>
          <a:xfrm>
            <a:off x="365760" y="3906391"/>
            <a:ext cx="485102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RNN (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Recurrent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Neural Network):</a:t>
            </a:r>
            <a:r>
              <a:rPr kumimoji="0" lang="es-PA" altLang="es-PA" sz="105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Red Neuronal Recurrente.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A" altLang="es-PA" sz="105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LSTM (Long Short-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Term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Memory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):</a:t>
            </a:r>
            <a:r>
              <a:rPr kumimoji="0" lang="es-PA" altLang="es-PA" sz="105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Memoria a Largo y Corto Plazo.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A" altLang="es-PA" sz="105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GRU (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Gated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Recurrent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</a:t>
            </a:r>
            <a:r>
              <a:rPr kumimoji="0" lang="es-PA" altLang="es-PA" sz="1050" b="1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Unit</a:t>
            </a:r>
            <a:r>
              <a:rPr kumimoji="0" lang="es-PA" altLang="es-PA" sz="1050" b="1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):</a:t>
            </a:r>
            <a:r>
              <a:rPr kumimoji="0" lang="es-PA" altLang="es-PA" sz="105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 Unidad Recurrente con Compuerta</a:t>
            </a:r>
            <a:r>
              <a:rPr kumimoji="0" lang="es-PA" altLang="es-PA" sz="105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 </a:t>
            </a:r>
            <a:endParaRPr kumimoji="0" lang="es-PA" altLang="es-PA" sz="1050" b="0" i="0" u="none" strike="noStrike" cap="none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B5EAD7">
              <a:alpha val="5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Métricas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Precisión vs. Falsos Positivos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2011680" cy="1353312"/>
          </a:xfrm>
          <a:prstGeom prst="roundRect">
            <a:avLst>
              <a:gd name="adj" fmla="val 12162"/>
            </a:avLst>
          </a:prstGeom>
          <a:solidFill>
            <a:srgbClr val="B5EAD7">
              <a:alpha val="60000"/>
            </a:srgbClr>
          </a:solidFill>
          <a:ln w="1905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 / Total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389888"/>
            <a:ext cx="2011680" cy="1353312"/>
          </a:xfrm>
          <a:prstGeom prst="roundRect">
            <a:avLst>
              <a:gd name="adj" fmla="val 12162"/>
            </a:avLst>
          </a:prstGeom>
          <a:solidFill>
            <a:srgbClr val="AED9E0">
              <a:alpha val="60000"/>
            </a:srgbClr>
          </a:solidFill>
          <a:ln w="1905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97.1%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(TP+FP)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36592" y="1389888"/>
            <a:ext cx="1839020" cy="1143000"/>
          </a:xfrm>
          <a:prstGeom prst="roundRect">
            <a:avLst>
              <a:gd name="adj" fmla="val 12162"/>
            </a:avLst>
          </a:prstGeom>
          <a:solidFill>
            <a:srgbClr val="FFDAC1">
              <a:alpha val="60000"/>
            </a:srgbClr>
          </a:solidFill>
          <a:ln w="1905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4736592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6592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96.8%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36592" y="22585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(TP+FN)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12864" y="1389888"/>
            <a:ext cx="1847088" cy="1143000"/>
          </a:xfrm>
          <a:prstGeom prst="roundRect">
            <a:avLst>
              <a:gd name="adj" fmla="val 12162"/>
            </a:avLst>
          </a:prstGeom>
          <a:solidFill>
            <a:srgbClr val="C7CEEA">
              <a:alpha val="60000"/>
            </a:srgbClr>
          </a:solidFill>
          <a:ln w="1905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6912864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12864" y="1737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" y="2926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Dilema del Umbral de Decisión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" y="3383280"/>
            <a:ext cx="5074920" cy="457200"/>
          </a:xfrm>
          <a:prstGeom prst="roundRect">
            <a:avLst>
              <a:gd name="adj" fmla="val 24000"/>
            </a:avLst>
          </a:prstGeom>
          <a:solidFill>
            <a:srgbClr val="FFDAC1">
              <a:alpha val="50000"/>
            </a:srgbClr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4" name="Shape 22"/>
          <p:cNvSpPr/>
          <p:nvPr/>
        </p:nvSpPr>
        <p:spPr>
          <a:xfrm>
            <a:off x="521208" y="3529584"/>
            <a:ext cx="164592" cy="164592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5" name="Text 23"/>
          <p:cNvSpPr/>
          <p:nvPr/>
        </p:nvSpPr>
        <p:spPr>
          <a:xfrm>
            <a:off x="804672" y="341985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ALTO  →  menos falsos positivos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" y="363016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archivos maliciosos escapan (FN). Riesgo de infección.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3950208"/>
            <a:ext cx="5074920" cy="457200"/>
          </a:xfrm>
          <a:prstGeom prst="roundRect">
            <a:avLst>
              <a:gd name="adj" fmla="val 24000"/>
            </a:avLst>
          </a:prstGeom>
          <a:solidFill>
            <a:srgbClr val="FFB7B2">
              <a:alpha val="50000"/>
            </a:srgbClr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8" name="Shape 26"/>
          <p:cNvSpPr/>
          <p:nvPr/>
        </p:nvSpPr>
        <p:spPr>
          <a:xfrm>
            <a:off x="521208" y="4096512"/>
            <a:ext cx="164592" cy="164592"/>
          </a:xfrm>
          <a:prstGeom prst="ellipse">
            <a:avLst/>
          </a:prstGeom>
          <a:solidFill>
            <a:srgbClr val="D63B34"/>
          </a:solidFill>
          <a:ln w="12700">
            <a:solidFill>
              <a:srgbClr val="D63B34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804672" y="398678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BAJO  →  más detección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41970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archivos legítimos bloqueados (FP). Impacto operativo.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" y="4517136"/>
            <a:ext cx="5074920" cy="457200"/>
          </a:xfrm>
          <a:prstGeom prst="roundRect">
            <a:avLst>
              <a:gd name="adj" fmla="val 24000"/>
            </a:avLst>
          </a:prstGeom>
          <a:solidFill>
            <a:srgbClr val="B5EAD7">
              <a:alpha val="5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2" name="Shape 30"/>
          <p:cNvSpPr/>
          <p:nvPr/>
        </p:nvSpPr>
        <p:spPr>
          <a:xfrm>
            <a:off x="521208" y="4663440"/>
            <a:ext cx="164592" cy="164592"/>
          </a:xfrm>
          <a:prstGeom prst="ellipse">
            <a:avLst/>
          </a:prstGeom>
          <a:solidFill>
            <a:srgbClr val="3DAB7A"/>
          </a:solidFill>
          <a:ln w="12700">
            <a:solidFill>
              <a:srgbClr val="3DAB7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804672" y="45537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Optimo: Maximizar F1-Score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476402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ajustado al contexto (empresa vs. usuario personal).</a:t>
            </a:r>
            <a:endParaRPr lang="en-US" sz="85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1276898722"/>
              </p:ext>
            </p:extLst>
          </p:nvPr>
        </p:nvGraphicFramePr>
        <p:xfrm>
          <a:off x="5705856" y="2606040"/>
          <a:ext cx="3255264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Text 3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FDAC1">
              <a:alpha val="50000"/>
            </a:srgbClr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Caso Real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MalConv &amp; Dataset EMBER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160520" cy="3429000"/>
          </a:xfrm>
          <a:prstGeom prst="roundRect">
            <a:avLst>
              <a:gd name="adj" fmla="val 5333"/>
            </a:avLst>
          </a:prstGeom>
          <a:solidFill>
            <a:srgbClr val="AED9E0">
              <a:alpha val="45000"/>
            </a:srgbClr>
          </a:solidFill>
          <a:ln w="1905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4160520" cy="365760"/>
          </a:xfrm>
          <a:prstGeom prst="roundRect">
            <a:avLst>
              <a:gd name="adj" fmla="val 50000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384048" y="1572768"/>
            <a:ext cx="4160520" cy="182880"/>
          </a:xfrm>
          <a:prstGeom prst="rect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MalConv  —  Raff et al., 2018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Endgame / Elastic Security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749808" y="20848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 1D sobre bytes raw del 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42616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749808" y="2560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hasta 2 MB sin preprocesamiento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Text 14"/>
          <p:cNvSpPr/>
          <p:nvPr/>
        </p:nvSpPr>
        <p:spPr>
          <a:xfrm>
            <a:off x="749808" y="30358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bytes → vectores de 8 dims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92.2% en 1M de muestras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00584" cy="100584"/>
          </a:xfrm>
          <a:prstGeom prst="ellipse">
            <a:avLst/>
          </a:prstGeom>
          <a:solidFill>
            <a:srgbClr val="2B7A8A"/>
          </a:solidFill>
          <a:ln w="12700">
            <a:solidFill>
              <a:srgbClr val="2B7A8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749808" y="3986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&lt; 50 ms por archivo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1389888"/>
            <a:ext cx="4160520" cy="3429000"/>
          </a:xfrm>
          <a:prstGeom prst="roundRect">
            <a:avLst>
              <a:gd name="adj" fmla="val 5333"/>
            </a:avLst>
          </a:prstGeom>
          <a:solidFill>
            <a:srgbClr val="FFDAC1">
              <a:alpha val="45000"/>
            </a:srgbClr>
          </a:solidFill>
          <a:ln w="1905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4727448" y="1389888"/>
            <a:ext cx="4160520" cy="365760"/>
          </a:xfrm>
          <a:prstGeom prst="roundRect">
            <a:avLst>
              <a:gd name="adj" fmla="val 5000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Shape 21"/>
          <p:cNvSpPr/>
          <p:nvPr/>
        </p:nvSpPr>
        <p:spPr>
          <a:xfrm>
            <a:off x="4727448" y="1572768"/>
            <a:ext cx="4160520" cy="182880"/>
          </a:xfrm>
          <a:prstGeom prst="rect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481888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EMBER  —  Anderson, 2018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17830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Endgame Research / Benchmark estándar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167128"/>
            <a:ext cx="100584" cy="100584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5093208" y="208483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muestras de PE de Windows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642616"/>
            <a:ext cx="100584" cy="100584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5093208" y="2560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Header, secciones, imports, strings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118104"/>
            <a:ext cx="100584" cy="100584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1" name="Text 29"/>
          <p:cNvSpPr/>
          <p:nvPr/>
        </p:nvSpPr>
        <p:spPr>
          <a:xfrm>
            <a:off x="5093208" y="30358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800K entrenamiento / 200K test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593592"/>
            <a:ext cx="100584" cy="100584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5093208" y="35112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LightGBM: 98.2% AUC-ROC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4069080"/>
            <a:ext cx="100584" cy="100584"/>
          </a:xfrm>
          <a:prstGeom prst="ellipse">
            <a:avLst/>
          </a:prstGeom>
          <a:solidFill>
            <a:srgbClr val="E07040"/>
          </a:solidFill>
          <a:ln w="12700">
            <a:solidFill>
              <a:srgbClr val="E0704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5" name="Text 33"/>
          <p:cNvSpPr/>
          <p:nvPr/>
        </p:nvSpPr>
        <p:spPr>
          <a:xfrm>
            <a:off x="5093208" y="39867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benchmark universal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4919472"/>
            <a:ext cx="8503920" cy="320040"/>
          </a:xfrm>
          <a:prstGeom prst="roundRect">
            <a:avLst>
              <a:gd name="adj" fmla="val 40000"/>
            </a:avLst>
          </a:prstGeom>
          <a:solidFill>
            <a:srgbClr val="B5EAD7">
              <a:alpha val="7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7" name="Text 35"/>
          <p:cNvSpPr/>
          <p:nvPr/>
        </p:nvSpPr>
        <p:spPr>
          <a:xfrm>
            <a:off x="502920" y="496519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CNN bytes + features EMBER  →  99.1% detección con FPR &lt; 0.1%  (Microsoft Research, 2022)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FFF1A8">
              <a:alpha val="50000"/>
            </a:srgbClr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Comparativo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Comparativa de Métodos de Detección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389888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58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Firmas AV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/ firma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rápida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Heurístico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manuales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Clásico (RF)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manuales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(MalConv)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(API Calls)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Syscalls seq.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CNN+LSTM 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Híbrido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31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buena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84048" y="4663440"/>
            <a:ext cx="8412480" cy="320040"/>
          </a:xfrm>
          <a:prstGeom prst="roundRect">
            <a:avLst>
              <a:gd name="adj" fmla="val 34286"/>
            </a:avLst>
          </a:prstGeom>
          <a:solidFill>
            <a:srgbClr val="FFF1A8">
              <a:alpha val="60000"/>
            </a:srgbClr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5"/>
          <p:cNvSpPr/>
          <p:nvPr/>
        </p:nvSpPr>
        <p:spPr>
          <a:xfrm>
            <a:off x="50292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Ensemble CNN+LSTM es el más preciso pero exige mayor cómputo — ideal para entornos empresariales dedicados.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286000" cy="2286000"/>
          </a:xfrm>
          <a:prstGeom prst="ellipse">
            <a:avLst/>
          </a:prstGeom>
          <a:solidFill>
            <a:srgbClr val="FFB7B2">
              <a:alpha val="50000"/>
            </a:srgbClr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Riesgos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Desafíos Actuales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FFB7B2">
              <a:alpha val="50000"/>
            </a:srgbClr>
          </a:solidFill>
          <a:ln w="19050">
            <a:solidFill>
              <a:srgbClr val="FFB7B2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49961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828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modificado para evadir clasificadores DL, inyectando bytes benignos sin alterar funcionalidad.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91456" y="1389888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FFDAC1">
              <a:alpha val="50000"/>
            </a:srgbClr>
          </a:solidFill>
          <a:ln w="1905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2" name="Shape 10"/>
          <p:cNvSpPr/>
          <p:nvPr/>
        </p:nvSpPr>
        <p:spPr>
          <a:xfrm>
            <a:off x="4974336" y="1572768"/>
            <a:ext cx="384048" cy="384048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4974336" y="15727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77256" y="149961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Poisoning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77256" y="1828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Atacantes contaminan datos de entrenamiento con muestras etiquetadas incorrectamente.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651760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AED9E0">
              <a:alpha val="50000"/>
            </a:srgbClr>
          </a:solidFill>
          <a:ln w="1905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384048" cy="384048"/>
          </a:xfrm>
          <a:prstGeom prst="ellipse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8" name="Text 16"/>
          <p:cNvSpPr/>
          <p:nvPr/>
        </p:nvSpPr>
        <p:spPr>
          <a:xfrm>
            <a:off x="566928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9848" y="27614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090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familias de malware evolucionan rápido. Modelos de hace 6 meses pueden perder efectividad.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91456" y="2651760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C7CEEA">
              <a:alpha val="50000"/>
            </a:srgbClr>
          </a:solidFill>
          <a:ln w="1905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2" name="Shape 20"/>
          <p:cNvSpPr/>
          <p:nvPr/>
        </p:nvSpPr>
        <p:spPr>
          <a:xfrm>
            <a:off x="4974336" y="2834640"/>
            <a:ext cx="384048" cy="384048"/>
          </a:xfrm>
          <a:prstGeom prst="ellipse">
            <a:avLst/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4974336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77256" y="27614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309067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profundos requieren GPUs. Dificulta adopción en endpoints con recursos limitados.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913632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E2C4F0">
              <a:alpha val="50000"/>
            </a:srgbClr>
          </a:solidFill>
          <a:ln w="19050">
            <a:solidFill>
              <a:srgbClr val="E2C4F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Shape 25"/>
          <p:cNvSpPr/>
          <p:nvPr/>
        </p:nvSpPr>
        <p:spPr>
          <a:xfrm>
            <a:off x="566928" y="4096512"/>
            <a:ext cx="384048" cy="384048"/>
          </a:xfrm>
          <a:prstGeom prst="ellipse">
            <a:avLst/>
          </a:prstGeom>
          <a:solidFill>
            <a:srgbClr val="E2C4F0"/>
          </a:solidFill>
          <a:ln w="12700">
            <a:solidFill>
              <a:srgbClr val="E2C4F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8" name="Text 26"/>
          <p:cNvSpPr/>
          <p:nvPr/>
        </p:nvSpPr>
        <p:spPr>
          <a:xfrm>
            <a:off x="566928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9848" y="40233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 (XAI)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9848" y="43525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son 'caja negra'. Dificulta auditorías, cumplimiento regulatorio y confianza.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91456" y="3913632"/>
            <a:ext cx="4160520" cy="1097280"/>
          </a:xfrm>
          <a:prstGeom prst="roundRect">
            <a:avLst>
              <a:gd name="adj" fmla="val 15000"/>
            </a:avLst>
          </a:prstGeom>
          <a:solidFill>
            <a:srgbClr val="FFF1A8">
              <a:alpha val="50000"/>
            </a:srgbClr>
          </a:solidFill>
          <a:ln w="19050">
            <a:solidFill>
              <a:srgbClr val="FFF1A8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2" name="Shape 30"/>
          <p:cNvSpPr/>
          <p:nvPr/>
        </p:nvSpPr>
        <p:spPr>
          <a:xfrm>
            <a:off x="4974336" y="4096512"/>
            <a:ext cx="384048" cy="384048"/>
          </a:xfrm>
          <a:prstGeom prst="ellipse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3" name="Text 31"/>
          <p:cNvSpPr/>
          <p:nvPr/>
        </p:nvSpPr>
        <p:spPr>
          <a:xfrm>
            <a:off x="4974336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77256" y="40233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en Producción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77256" y="435254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del 1% en 10M archivos = 100,000 bloqueos falsos/día. Impacto operativo enorme.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AED9E0">
              <a:alpha val="45000"/>
            </a:srgbClr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B5EAD7">
              <a:alpha val="45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— Sistema de Detección DL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508760" cy="1280160"/>
          </a:xfrm>
          <a:prstGeom prst="roundRect">
            <a:avLst>
              <a:gd name="adj" fmla="val 14286"/>
            </a:avLst>
          </a:prstGeom>
          <a:solidFill>
            <a:srgbClr val="FFB7B2">
              <a:alpha val="70000"/>
            </a:srgbClr>
          </a:solidFill>
          <a:ln w="25400">
            <a:solidFill>
              <a:srgbClr val="FFB7B2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Sospechoso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2066544"/>
            <a:ext cx="210312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0" name="Shape 8"/>
          <p:cNvSpPr/>
          <p:nvPr/>
        </p:nvSpPr>
        <p:spPr>
          <a:xfrm>
            <a:off x="2221992" y="1463040"/>
            <a:ext cx="1508760" cy="1280160"/>
          </a:xfrm>
          <a:prstGeom prst="roundRect">
            <a:avLst>
              <a:gd name="adj" fmla="val 14286"/>
            </a:avLst>
          </a:prstGeom>
          <a:solidFill>
            <a:srgbClr val="FFDAC1">
              <a:alpha val="70000"/>
            </a:srgbClr>
          </a:solidFill>
          <a:ln w="2540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2221992" y="14630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0752" y="2066544"/>
            <a:ext cx="210312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3941064" y="1463040"/>
            <a:ext cx="1508760" cy="1280160"/>
          </a:xfrm>
          <a:prstGeom prst="roundRect">
            <a:avLst>
              <a:gd name="adj" fmla="val 14286"/>
            </a:avLst>
          </a:prstGeom>
          <a:solidFill>
            <a:srgbClr val="C7CEEA">
              <a:alpha val="70000"/>
            </a:srgbClr>
          </a:solidFill>
          <a:ln w="2540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3941064" y="14630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CNN/LSTM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2066544"/>
            <a:ext cx="210312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5660136" y="1463040"/>
            <a:ext cx="1508760" cy="1280160"/>
          </a:xfrm>
          <a:prstGeom prst="roundRect">
            <a:avLst>
              <a:gd name="adj" fmla="val 14286"/>
            </a:avLst>
          </a:prstGeom>
          <a:solidFill>
            <a:srgbClr val="AED9E0">
              <a:alpha val="70000"/>
            </a:srgbClr>
          </a:solidFill>
          <a:ln w="2540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5660136" y="14630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68896" y="2066544"/>
            <a:ext cx="210312" cy="7315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Shape 17"/>
          <p:cNvSpPr/>
          <p:nvPr/>
        </p:nvSpPr>
        <p:spPr>
          <a:xfrm>
            <a:off x="7379208" y="1463040"/>
            <a:ext cx="1508760" cy="1280160"/>
          </a:xfrm>
          <a:prstGeom prst="roundRect">
            <a:avLst>
              <a:gd name="adj" fmla="val 14286"/>
            </a:avLst>
          </a:prstGeom>
          <a:solidFill>
            <a:srgbClr val="B5EAD7">
              <a:alpha val="70000"/>
            </a:srgbClr>
          </a:solidFill>
          <a:ln w="2540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0" name="Text 18"/>
          <p:cNvSpPr/>
          <p:nvPr/>
        </p:nvSpPr>
        <p:spPr>
          <a:xfrm>
            <a:off x="7379208" y="14630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Alerta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21992" y="28803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Estático / Dinámico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0136" y="28346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Sospechoso /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Malicioso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3913632"/>
            <a:ext cx="2697480" cy="914400"/>
          </a:xfrm>
          <a:prstGeom prst="roundRect">
            <a:avLst>
              <a:gd name="adj" fmla="val 16000"/>
            </a:avLst>
          </a:prstGeom>
          <a:solidFill>
            <a:srgbClr val="FFB7B2">
              <a:alpha val="50000"/>
            </a:srgbClr>
          </a:solidFill>
          <a:ln w="12700">
            <a:solidFill>
              <a:srgbClr val="FFB7B2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667512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 de Malware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Troyano, Rootkit...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913632"/>
            <a:ext cx="2697480" cy="914400"/>
          </a:xfrm>
          <a:prstGeom prst="roundRect">
            <a:avLst>
              <a:gd name="adj" fmla="val 16000"/>
            </a:avLst>
          </a:prstGeom>
          <a:solidFill>
            <a:srgbClr val="C7CEEA">
              <a:alpha val="50000"/>
            </a:srgbClr>
          </a:solidFill>
          <a:ln w="1270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7" name="Text 25"/>
          <p:cNvSpPr/>
          <p:nvPr/>
        </p:nvSpPr>
        <p:spPr>
          <a:xfrm>
            <a:off x="3520440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Confianza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0–1 por clase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3913632"/>
            <a:ext cx="2697480" cy="914400"/>
          </a:xfrm>
          <a:prstGeom prst="roundRect">
            <a:avLst>
              <a:gd name="adj" fmla="val 16000"/>
            </a:avLst>
          </a:prstGeom>
          <a:solidFill>
            <a:srgbClr val="B5EAD7">
              <a:alpha val="50000"/>
            </a:srgbClr>
          </a:solidFill>
          <a:ln w="1270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30" name="Text 28"/>
          <p:cNvSpPr/>
          <p:nvPr/>
        </p:nvSpPr>
        <p:spPr>
          <a:xfrm>
            <a:off x="6373368" y="4005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Automatizada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73368" y="43159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Cuarentena, bloqueo, alerta SIEM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B5EAD7">
              <a:alpha val="50000"/>
            </a:srgbClr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2011680" cy="2011680"/>
          </a:xfrm>
          <a:prstGeom prst="ellipse">
            <a:avLst/>
          </a:prstGeom>
          <a:solidFill>
            <a:srgbClr val="C7CEEA">
              <a:alpha val="45000"/>
            </a:srgbClr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8412480" cy="640080"/>
          </a:xfrm>
          <a:prstGeom prst="roundRect">
            <a:avLst>
              <a:gd name="adj" fmla="val 22857"/>
            </a:avLst>
          </a:prstGeom>
          <a:solidFill>
            <a:srgbClr val="B5EAD7">
              <a:alpha val="45000"/>
            </a:srgbClr>
          </a:solidFill>
          <a:ln w="15240">
            <a:solidFill>
              <a:srgbClr val="B5EAD7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8" name="Shape 6"/>
          <p:cNvSpPr/>
          <p:nvPr/>
        </p:nvSpPr>
        <p:spPr>
          <a:xfrm>
            <a:off x="530352" y="1536192"/>
            <a:ext cx="347472" cy="347472"/>
          </a:xfrm>
          <a:prstGeom prst="ellipse">
            <a:avLst/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530352" y="15361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A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444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supera métodos tradicionales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7190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y LSTM alcanzan 94-98% de accuracy vs. 72% de firmas AV en detección de malware moderno.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139696"/>
            <a:ext cx="8412480" cy="640080"/>
          </a:xfrm>
          <a:prstGeom prst="roundRect">
            <a:avLst>
              <a:gd name="adj" fmla="val 22857"/>
            </a:avLst>
          </a:prstGeom>
          <a:solidFill>
            <a:srgbClr val="AED9E0">
              <a:alpha val="45000"/>
            </a:srgbClr>
          </a:solidFill>
          <a:ln w="15240">
            <a:solidFill>
              <a:srgbClr val="AED9E0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3" name="Shape 11"/>
          <p:cNvSpPr/>
          <p:nvPr/>
        </p:nvSpPr>
        <p:spPr>
          <a:xfrm>
            <a:off x="530352" y="2286000"/>
            <a:ext cx="347472" cy="347472"/>
          </a:xfrm>
          <a:prstGeom prst="ellipse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4128" y="21945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híbrido es el más robusto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4688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análisis estático + dinámico con Ensemble ofrece la mejor relación precisión/falsos positivos.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889504"/>
            <a:ext cx="8412480" cy="640080"/>
          </a:xfrm>
          <a:prstGeom prst="roundRect">
            <a:avLst>
              <a:gd name="adj" fmla="val 22857"/>
            </a:avLst>
          </a:prstGeom>
          <a:solidFill>
            <a:srgbClr val="FFB7B2">
              <a:alpha val="45000"/>
            </a:srgbClr>
          </a:solidFill>
          <a:ln w="15240">
            <a:solidFill>
              <a:srgbClr val="FFB7B2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8" name="Shape 16"/>
          <p:cNvSpPr/>
          <p:nvPr/>
        </p:nvSpPr>
        <p:spPr>
          <a:xfrm>
            <a:off x="530352" y="3035808"/>
            <a:ext cx="347472" cy="347472"/>
          </a:xfrm>
          <a:prstGeom prst="ellipse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530352" y="3035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" y="29443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attacks: el mayor reto actual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2186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carrera armamentista exige modelos re-entrenados continuamente con nuevas muestras.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639312"/>
            <a:ext cx="8412480" cy="640080"/>
          </a:xfrm>
          <a:prstGeom prst="roundRect">
            <a:avLst>
              <a:gd name="adj" fmla="val 22857"/>
            </a:avLst>
          </a:prstGeom>
          <a:solidFill>
            <a:srgbClr val="FFDAC1">
              <a:alpha val="45000"/>
            </a:srgbClr>
          </a:solidFill>
          <a:ln w="15240">
            <a:solidFill>
              <a:srgbClr val="FFDAC1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3" name="Shape 21"/>
          <p:cNvSpPr/>
          <p:nvPr/>
        </p:nvSpPr>
        <p:spPr>
          <a:xfrm>
            <a:off x="530352" y="3785616"/>
            <a:ext cx="347472" cy="347472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4" name="Text 22"/>
          <p:cNvSpPr/>
          <p:nvPr/>
        </p:nvSpPr>
        <p:spPr>
          <a:xfrm>
            <a:off x="530352" y="37856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6941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correctas son esenciales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9684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y AUC-ROC son más relevantes que Accuracy en escenarios con clases desbalanceadas.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4389120"/>
            <a:ext cx="8412480" cy="640080"/>
          </a:xfrm>
          <a:prstGeom prst="roundRect">
            <a:avLst>
              <a:gd name="adj" fmla="val 22857"/>
            </a:avLst>
          </a:prstGeom>
          <a:solidFill>
            <a:srgbClr val="C7CEEA">
              <a:alpha val="45000"/>
            </a:srgbClr>
          </a:solidFill>
          <a:ln w="15240">
            <a:solidFill>
              <a:srgbClr val="C7CEEA"/>
            </a:solidFill>
            <a:prstDash val="solid"/>
          </a:ln>
          <a:effectLst>
            <a:outerShdw blurRad="127000" dist="38100" dir="8100000" algn="bl" rotWithShape="0">
              <a:srgbClr val="C0C0C0">
                <a:alpha val="18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28" name="Shape 26"/>
          <p:cNvSpPr/>
          <p:nvPr/>
        </p:nvSpPr>
        <p:spPr>
          <a:xfrm>
            <a:off x="530352" y="4535424"/>
            <a:ext cx="347472" cy="347472"/>
          </a:xfrm>
          <a:prstGeom prst="ellipse">
            <a:avLst/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9" name="Text 27"/>
          <p:cNvSpPr/>
          <p:nvPr/>
        </p:nvSpPr>
        <p:spPr>
          <a:xfrm>
            <a:off x="530352" y="45354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" y="44439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futuro: LLMs + DL en ciberseguridad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24128" y="47183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SecurityBERT y CyberSecEval usan transformers para análisis de código y threat intelligence.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FDAC1">
              <a:alpha val="40000"/>
            </a:srgbClr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43750"/>
            </a:avLst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 IEEE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91440" cy="91440"/>
          </a:xfrm>
          <a:prstGeom prst="ellipse">
            <a:avLst/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E. Raff et al., "Malware Detection by Eating a Whole EXE," AAAI Workshop on AI for Cybersecurity, 2018.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901952"/>
            <a:ext cx="91440" cy="91440"/>
          </a:xfrm>
          <a:prstGeom prst="ellipse">
            <a:avLst/>
          </a:prstGeom>
          <a:solidFill>
            <a:srgbClr val="AED9E0"/>
          </a:solidFill>
          <a:ln w="12700">
            <a:solidFill>
              <a:srgbClr val="AED9E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H. S. Anderson and P. Roth, "EMBER: An Open Dataset for Training Static PE Malware Machine Learning Models," arXiv:1804.04637, 2018.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91440" cy="91440"/>
          </a:xfrm>
          <a:prstGeom prst="ellipse">
            <a:avLst/>
          </a:prstGeom>
          <a:solidFill>
            <a:srgbClr val="C7CEEA"/>
          </a:solidFill>
          <a:ln w="12700">
            <a:solidFill>
              <a:srgbClr val="C7CEE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1" name="Text 9"/>
          <p:cNvSpPr/>
          <p:nvPr/>
        </p:nvSpPr>
        <p:spPr>
          <a:xfrm>
            <a:off x="594360" y="2304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Sewak, S. K. Sahay, and H. Rathore, "An Overview of Deep Learning Architecture," Int. Journal of Next-Generation Computing, 2018.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816352"/>
            <a:ext cx="91440" cy="91440"/>
          </a:xfrm>
          <a:prstGeom prst="ellipse">
            <a:avLst/>
          </a:prstGeom>
          <a:solidFill>
            <a:srgbClr val="FFDAC1"/>
          </a:solidFill>
          <a:ln w="12700">
            <a:solidFill>
              <a:srgbClr val="FFDAC1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3" name="Text 11"/>
          <p:cNvSpPr/>
          <p:nvPr/>
        </p:nvSpPr>
        <p:spPr>
          <a:xfrm>
            <a:off x="594360" y="27614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Y. Ye et al., "A Survey on Malware Detection Using Data Mining Techniques," ACM Comput. Surv., vol. 50, no. 3, 2017.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273552"/>
            <a:ext cx="91440" cy="91440"/>
          </a:xfrm>
          <a:prstGeom prst="ellipse">
            <a:avLst/>
          </a:prstGeom>
          <a:solidFill>
            <a:srgbClr val="FFB7B2"/>
          </a:solidFill>
          <a:ln w="12700">
            <a:solidFill>
              <a:srgbClr val="FFB7B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5" name="Text 13"/>
          <p:cNvSpPr/>
          <p:nvPr/>
        </p:nvSpPr>
        <p:spPr>
          <a:xfrm>
            <a:off x="594360" y="32186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I. Goodfellow, Y. Bengio, and A. Courville, Deep Learning. MIT Press, 2016. Available: http://www.deeplearningbook.org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730752"/>
            <a:ext cx="91440" cy="91440"/>
          </a:xfrm>
          <a:prstGeom prst="ellipse">
            <a:avLst/>
          </a:prstGeom>
          <a:solidFill>
            <a:srgbClr val="E2C4F0"/>
          </a:solidFill>
          <a:ln w="12700">
            <a:solidFill>
              <a:srgbClr val="E2C4F0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594360" y="36758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Microsoft Research, "Windows Malware Dataset with PE API Calls," 2022. Available: https://github.com/microsoft/malware-detection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187952"/>
            <a:ext cx="91440" cy="91440"/>
          </a:xfrm>
          <a:prstGeom prst="ellipse">
            <a:avLst/>
          </a:prstGeom>
          <a:solidFill>
            <a:srgbClr val="FFF1A8"/>
          </a:solidFill>
          <a:ln w="12700">
            <a:solidFill>
              <a:srgbClr val="FFF1A8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9" name="Text 17"/>
          <p:cNvSpPr/>
          <p:nvPr/>
        </p:nvSpPr>
        <p:spPr>
          <a:xfrm>
            <a:off x="594360" y="41330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B. Athiwaratkun and J. W. Stokes, "Malware Classification with LSTM and GRU," in Proc. IEEE ICASSP, 2017, pp. 2482-2486.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91440" cy="91440"/>
          </a:xfrm>
          <a:prstGeom prst="ellipse">
            <a:avLst/>
          </a:prstGeom>
          <a:solidFill>
            <a:srgbClr val="B5EAD7"/>
          </a:solidFill>
          <a:ln w="12700">
            <a:solidFill>
              <a:srgbClr val="B5EAD7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1" name="Text 19"/>
          <p:cNvSpPr/>
          <p:nvPr/>
        </p:nvSpPr>
        <p:spPr>
          <a:xfrm>
            <a:off x="594360" y="459028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AV-TEST Institute, "The AV-TEST Security Report 2023/2024," AV-TEST GmbH, Magdeburg, Germany, 2024.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86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para Detección de Malware  ·  IA en Ciberseguridad  · 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1393</Words>
  <Application>Microsoft Office PowerPoint</Application>
  <PresentationFormat>Presentación en pantalla (16:9)</PresentationFormat>
  <Paragraphs>303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Georgia</vt:lpstr>
      <vt:lpstr>Google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para Detección de Malware</dc:title>
  <dc:subject>PptxGenJS Presentation</dc:subject>
  <dc:creator>PptxGenJS</dc:creator>
  <cp:lastModifiedBy>Itmar Castillo</cp:lastModifiedBy>
  <cp:revision>2</cp:revision>
  <dcterms:created xsi:type="dcterms:W3CDTF">2026-05-05T22:22:04Z</dcterms:created>
  <dcterms:modified xsi:type="dcterms:W3CDTF">2026-05-06T00:34:16Z</dcterms:modified>
</cp:coreProperties>
</file>