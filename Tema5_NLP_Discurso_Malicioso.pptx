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Motivadores de inversión (relevancia relativa citada en informes de industria)</c:v>
                </c:pt>
              </c:strCache>
            </c:strRef>
          </c:tx>
          <c:spPr>
            <a:solidFill>
              <a:srgbClr val="1B1F3B"/>
            </a:solidFill>
            <a:effectLst/>
          </c:spPr>
          <c:invertIfNegative val="0"/>
          <c:dPt>
            <c:idx val="0"/>
            <c:invertIfNegative val="0"/>
            <c:bubble3D val="0"/>
            <c:spPr>
              <a:solidFill>
                <a:srgbClr val="1B1F3B"/>
              </a:solidFill>
              <a:effectLst/>
            </c:spPr>
            <c:extLst>
              <c:ext xmlns:c16="http://schemas.microsoft.com/office/drawing/2014/chart" uri="{C3380CC4-5D6E-409C-BE32-E72D297353CC}">
                <c16:uniqueId val="{00000001-E6C6-4A48-92C2-2BA94EEFE820}"/>
              </c:ext>
            </c:extLst>
          </c:dPt>
          <c:dPt>
            <c:idx val="1"/>
            <c:invertIfNegative val="0"/>
            <c:bubble3D val="0"/>
            <c:spPr>
              <a:solidFill>
                <a:srgbClr val="3B4270"/>
              </a:solidFill>
              <a:effectLst/>
            </c:spPr>
            <c:extLst>
              <c:ext xmlns:c16="http://schemas.microsoft.com/office/drawing/2014/chart" uri="{C3380CC4-5D6E-409C-BE32-E72D297353CC}">
                <c16:uniqueId val="{00000003-E6C6-4A48-92C2-2BA94EEFE820}"/>
              </c:ext>
            </c:extLst>
          </c:dPt>
          <c:dPt>
            <c:idx val="2"/>
            <c:invertIfNegative val="0"/>
            <c:bubble3D val="0"/>
            <c:spPr>
              <a:solidFill>
                <a:srgbClr val="2EC4B6"/>
              </a:solidFill>
              <a:effectLst/>
            </c:spPr>
            <c:extLst>
              <c:ext xmlns:c16="http://schemas.microsoft.com/office/drawing/2014/chart" uri="{C3380CC4-5D6E-409C-BE32-E72D297353CC}">
                <c16:uniqueId val="{00000005-E6C6-4A48-92C2-2BA94EEFE820}"/>
              </c:ext>
            </c:extLst>
          </c:dPt>
          <c:dPt>
            <c:idx val="3"/>
            <c:invertIfNegative val="0"/>
            <c:bubble3D val="0"/>
            <c:spPr>
              <a:solidFill>
                <a:srgbClr val="E63946"/>
              </a:solidFill>
              <a:effectLst/>
            </c:spPr>
            <c:extLst>
              <c:ext xmlns:c16="http://schemas.microsoft.com/office/drawing/2014/chart" uri="{C3380CC4-5D6E-409C-BE32-E72D297353CC}">
                <c16:uniqueId val="{00000007-E6C6-4A48-92C2-2BA94EEFE820}"/>
              </c:ext>
            </c:extLst>
          </c:dPt>
          <c:dPt>
            <c:idx val="4"/>
            <c:invertIfNegative val="0"/>
            <c:bubble3D val="0"/>
            <c:spPr>
              <a:solidFill>
                <a:srgbClr val="F4A261"/>
              </a:solidFill>
              <a:effectLst/>
            </c:spPr>
            <c:extLst>
              <c:ext xmlns:c16="http://schemas.microsoft.com/office/drawing/2014/chart" uri="{C3380CC4-5D6E-409C-BE32-E72D297353CC}">
                <c16:uniqueId val="{00000009-E6C6-4A48-92C2-2BA94EEFE820}"/>
              </c:ext>
            </c:extLst>
          </c:dPt>
          <c:dLbls>
            <c:numFmt formatCode="#,##0" sourceLinked="0"/>
            <c:spPr>
              <a:noFill/>
              <a:ln>
                <a:noFill/>
              </a:ln>
              <a:effectLst/>
            </c:spPr>
            <c:txPr>
              <a:bodyPr/>
              <a:lstStyle/>
              <a:p>
                <a:pPr>
                  <a:defRPr sz="1100" b="0" i="0" u="none" strike="noStrike">
                    <a:solidFill>
                      <a:srgbClr val="FFFFFF"/>
                    </a:solidFill>
                    <a:latin typeface="Arial"/>
                  </a:defRPr>
                </a:pPr>
                <a:endParaRPr lang="es-P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Riesgo
reputacional</c:v>
                </c:pt>
                <c:pt idx="1">
                  <c:v>Cumplimiento
regulatorio</c:v>
                </c:pt>
                <c:pt idx="2">
                  <c:v>Reducción de
costo de moderación</c:v>
                </c:pt>
                <c:pt idx="3">
                  <c:v>Prevención de
phishing/fraude</c:v>
                </c:pt>
                <c:pt idx="4">
                  <c:v>Bienestar de
usuarios</c:v>
                </c:pt>
              </c:strCache>
            </c:strRef>
          </c:cat>
          <c:val>
            <c:numRef>
              <c:f>Sheet1!$B$2:$B$6</c:f>
              <c:numCache>
                <c:formatCode>General</c:formatCode>
                <c:ptCount val="5"/>
                <c:pt idx="0">
                  <c:v>88</c:v>
                </c:pt>
                <c:pt idx="1">
                  <c:v>82</c:v>
                </c:pt>
                <c:pt idx="2">
                  <c:v>75</c:v>
                </c:pt>
                <c:pt idx="3">
                  <c:v>91</c:v>
                </c:pt>
                <c:pt idx="4">
                  <c:v>70</c:v>
                </c:pt>
              </c:numCache>
            </c:numRef>
          </c:val>
          <c:extLst>
            <c:ext xmlns:c16="http://schemas.microsoft.com/office/drawing/2014/chart" uri="{C3380CC4-5D6E-409C-BE32-E72D297353CC}">
              <c16:uniqueId val="{0000000A-E6C6-4A48-92C2-2BA94EEFE8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s-PA"/>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s-PA"/>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681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3B4270">
              <a:alpha val="60000"/>
            </a:srgbClr>
          </a:solidFill>
          <a:ln/>
        </p:spPr>
      </p:sp>
      <p:sp>
        <p:nvSpPr>
          <p:cNvPr id="3" name="Shape 1"/>
          <p:cNvSpPr/>
          <p:nvPr/>
        </p:nvSpPr>
        <p:spPr>
          <a:xfrm>
            <a:off x="-1828800" y="4389120"/>
            <a:ext cx="4114800" cy="4114800"/>
          </a:xfrm>
          <a:prstGeom prst="ellipse">
            <a:avLst/>
          </a:prstGeom>
          <a:solidFill>
            <a:srgbClr val="E63946">
              <a:alpha val="25000"/>
            </a:srgbClr>
          </a:solidFill>
          <a:ln/>
        </p:spPr>
      </p:sp>
      <p:sp>
        <p:nvSpPr>
          <p:cNvPr id="4" name="Text 2"/>
          <p:cNvSpPr/>
          <p:nvPr/>
        </p:nvSpPr>
        <p:spPr>
          <a:xfrm>
            <a:off x="640080" y="640080"/>
            <a:ext cx="7315200" cy="365760"/>
          </a:xfrm>
          <a:prstGeom prst="rect">
            <a:avLst/>
          </a:prstGeom>
          <a:noFill/>
          <a:ln/>
        </p:spPr>
        <p:txBody>
          <a:bodyPr wrap="square" rtlCol="0" anchor="ctr"/>
          <a:lstStyle/>
          <a:p>
            <a:pPr marL="0" indent="0">
              <a:buNone/>
            </a:pPr>
            <a:r>
              <a:rPr lang="en-US" sz="1300" b="1" kern="0" spc="300" dirty="0">
                <a:solidFill>
                  <a:srgbClr val="2EC4B6"/>
                </a:solidFill>
                <a:latin typeface="Calibri" pitchFamily="34" charset="0"/>
                <a:ea typeface="Calibri" pitchFamily="34" charset="-122"/>
                <a:cs typeface="Calibri" pitchFamily="34" charset="-120"/>
              </a:rPr>
              <a:t>IA APLICADA A LA CIBERSEGURIDAD</a:t>
            </a:r>
            <a:endParaRPr lang="en-US" sz="1300" dirty="0"/>
          </a:p>
        </p:txBody>
      </p:sp>
      <p:sp>
        <p:nvSpPr>
          <p:cNvPr id="5" name="Text 3"/>
          <p:cNvSpPr/>
          <p:nvPr/>
        </p:nvSpPr>
        <p:spPr>
          <a:xfrm>
            <a:off x="640080" y="1188720"/>
            <a:ext cx="9601200" cy="237744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Técnicas de NLP para Detección de</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Discurso Malicioso, Ciberacoso y</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Amenazas Digitales</a:t>
            </a:r>
            <a:endParaRPr lang="en-US" sz="4000" dirty="0"/>
          </a:p>
        </p:txBody>
      </p:sp>
      <p:sp>
        <p:nvSpPr>
          <p:cNvPr id="6" name="Text 4"/>
          <p:cNvSpPr/>
          <p:nvPr/>
        </p:nvSpPr>
        <p:spPr>
          <a:xfrm>
            <a:off x="640080" y="3657600"/>
            <a:ext cx="7315200" cy="457200"/>
          </a:xfrm>
          <a:prstGeom prst="rect">
            <a:avLst/>
          </a:prstGeom>
          <a:noFill/>
          <a:ln/>
        </p:spPr>
        <p:txBody>
          <a:bodyPr wrap="square" rtlCol="0" anchor="ctr"/>
          <a:lstStyle/>
          <a:p>
            <a:pPr marL="0" indent="0">
              <a:buNone/>
            </a:pPr>
            <a:r>
              <a:rPr lang="en-US" sz="1600" i="1" dirty="0">
                <a:solidFill>
                  <a:srgbClr val="C7CCE8"/>
                </a:solidFill>
                <a:latin typeface="Calibri" pitchFamily="34" charset="0"/>
                <a:ea typeface="Calibri" pitchFamily="34" charset="-122"/>
                <a:cs typeface="Calibri" pitchFamily="34" charset="-120"/>
              </a:rPr>
              <a:t>Sustentación técnica grupal — Tema 5</a:t>
            </a:r>
            <a:endParaRPr lang="en-US" sz="1600" dirty="0"/>
          </a:p>
        </p:txBody>
      </p:sp>
      <p:sp>
        <p:nvSpPr>
          <p:cNvPr id="7" name="Shape 5"/>
          <p:cNvSpPr/>
          <p:nvPr/>
        </p:nvSpPr>
        <p:spPr>
          <a:xfrm>
            <a:off x="640080" y="4480560"/>
            <a:ext cx="6035040" cy="1554480"/>
          </a:xfrm>
          <a:prstGeom prst="roundRect">
            <a:avLst>
              <a:gd name="adj" fmla="val 4706"/>
            </a:avLst>
          </a:prstGeom>
          <a:solidFill>
            <a:srgbClr val="3B4270"/>
          </a:solidFill>
          <a:ln/>
        </p:spPr>
      </p:sp>
      <p:sp>
        <p:nvSpPr>
          <p:cNvPr id="8" name="Shape 6"/>
          <p:cNvSpPr/>
          <p:nvPr/>
        </p:nvSpPr>
        <p:spPr>
          <a:xfrm>
            <a:off x="868680" y="4709160"/>
            <a:ext cx="640080" cy="640080"/>
          </a:xfrm>
          <a:prstGeom prst="ellipse">
            <a:avLst/>
          </a:prstGeom>
          <a:solidFill>
            <a:srgbClr val="E63946"/>
          </a:solidFill>
          <a:ln/>
        </p:spPr>
      </p:sp>
      <p:pic>
        <p:nvPicPr>
          <p:cNvPr id="9" name="Image 0" descr="preencoded.png"/>
          <p:cNvPicPr>
            <a:picLocks noChangeAspect="1"/>
          </p:cNvPicPr>
          <p:nvPr/>
        </p:nvPicPr>
        <p:blipFill>
          <a:blip r:embed="rId3"/>
          <a:stretch>
            <a:fillRect/>
          </a:stretch>
        </p:blipFill>
        <p:spPr>
          <a:xfrm>
            <a:off x="951890" y="4792370"/>
            <a:ext cx="473659" cy="473659"/>
          </a:xfrm>
          <a:prstGeom prst="rect">
            <a:avLst/>
          </a:prstGeom>
        </p:spPr>
      </p:pic>
      <p:sp>
        <p:nvSpPr>
          <p:cNvPr id="10" name="Text 7"/>
          <p:cNvSpPr/>
          <p:nvPr/>
        </p:nvSpPr>
        <p:spPr>
          <a:xfrm>
            <a:off x="1691640" y="4617720"/>
            <a:ext cx="4846320" cy="12801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Mónica González   ·   Itmar Castillo   ·   José Moreno</a:t>
            </a:r>
            <a:endParaRPr lang="en-US" sz="1500" dirty="0"/>
          </a:p>
          <a:p>
            <a:pPr marL="0" indent="0">
              <a:buNone/>
            </a:pPr>
            <a:r>
              <a:rPr lang="en-US" sz="1200" i="1" dirty="0">
                <a:solidFill>
                  <a:srgbClr val="C7CCE8"/>
                </a:solidFill>
                <a:latin typeface="Calibri" pitchFamily="34" charset="0"/>
                <a:ea typeface="Calibri" pitchFamily="34" charset="-122"/>
                <a:cs typeface="Calibri" pitchFamily="34" charset="-120"/>
              </a:rPr>
              <a:t>Licenciatura en Ciberseguridad — FISC — UTP</a:t>
            </a:r>
            <a:endParaRPr lang="en-US" sz="1500" dirty="0"/>
          </a:p>
        </p:txBody>
      </p:sp>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12"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1 · PRESENTACIÓN DEL EQUIPO</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¿Por qué este tema importa hoy?</a:t>
            </a:r>
            <a:endParaRPr lang="en-US" sz="3000" dirty="0"/>
          </a:p>
        </p:txBody>
      </p:sp>
      <p:sp>
        <p:nvSpPr>
          <p:cNvPr id="4" name="Shape 2"/>
          <p:cNvSpPr/>
          <p:nvPr/>
        </p:nvSpPr>
        <p:spPr>
          <a:xfrm>
            <a:off x="548640" y="1600200"/>
            <a:ext cx="3566160" cy="1874520"/>
          </a:xfrm>
          <a:prstGeom prst="roundRect">
            <a:avLst>
              <a:gd name="adj" fmla="val 3902"/>
            </a:avLst>
          </a:prstGeom>
          <a:solidFill>
            <a:srgbClr val="FFFFFF"/>
          </a:solidFill>
          <a:ln/>
          <a:effectLst>
            <a:outerShdw blurRad="101600" dist="38100" dir="5400000" algn="bl" rotWithShape="0">
              <a:srgbClr val="000000">
                <a:alpha val="12000"/>
              </a:srgbClr>
            </a:outerShdw>
          </a:effectLst>
        </p:spPr>
      </p:sp>
      <p:sp>
        <p:nvSpPr>
          <p:cNvPr id="5" name="Text 3"/>
          <p:cNvSpPr/>
          <p:nvPr/>
        </p:nvSpPr>
        <p:spPr>
          <a:xfrm>
            <a:off x="777240" y="1783080"/>
            <a:ext cx="3108960" cy="640080"/>
          </a:xfrm>
          <a:prstGeom prst="rect">
            <a:avLst/>
          </a:prstGeom>
          <a:noFill/>
          <a:ln/>
        </p:spPr>
        <p:txBody>
          <a:bodyPr wrap="square" rtlCol="0" anchor="ctr"/>
          <a:lstStyle/>
          <a:p>
            <a:pPr marL="0" indent="0">
              <a:buNone/>
            </a:pPr>
            <a:r>
              <a:rPr lang="en-US" sz="3400" b="1" dirty="0">
                <a:solidFill>
                  <a:srgbClr val="1B1F3B"/>
                </a:solidFill>
                <a:latin typeface="Cambria" pitchFamily="34" charset="0"/>
                <a:ea typeface="Cambria" pitchFamily="34" charset="-122"/>
                <a:cs typeface="Cambria" pitchFamily="34" charset="-120"/>
              </a:rPr>
              <a:t>+95%</a:t>
            </a:r>
            <a:endParaRPr lang="en-US" sz="3400" dirty="0"/>
          </a:p>
        </p:txBody>
      </p:sp>
      <p:sp>
        <p:nvSpPr>
          <p:cNvPr id="6" name="Text 4"/>
          <p:cNvSpPr/>
          <p:nvPr/>
        </p:nvSpPr>
        <p:spPr>
          <a:xfrm>
            <a:off x="777240" y="2423160"/>
            <a:ext cx="3108960" cy="91440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de la moderación de contenido en redes grandes ya pasa por un primer filtro automatizado</a:t>
            </a:r>
            <a:endParaRPr lang="en-US" sz="1250" dirty="0"/>
          </a:p>
        </p:txBody>
      </p:sp>
      <p:sp>
        <p:nvSpPr>
          <p:cNvPr id="7" name="Shape 5"/>
          <p:cNvSpPr/>
          <p:nvPr/>
        </p:nvSpPr>
        <p:spPr>
          <a:xfrm>
            <a:off x="4343400" y="1600200"/>
            <a:ext cx="3566160" cy="1874520"/>
          </a:xfrm>
          <a:prstGeom prst="roundRect">
            <a:avLst>
              <a:gd name="adj" fmla="val 3902"/>
            </a:avLst>
          </a:prstGeom>
          <a:solidFill>
            <a:srgbClr val="FFFFFF"/>
          </a:solidFill>
          <a:ln/>
          <a:effectLst>
            <a:outerShdw blurRad="101600" dist="38100" dir="5400000" algn="bl" rotWithShape="0">
              <a:srgbClr val="000000">
                <a:alpha val="12000"/>
              </a:srgbClr>
            </a:outerShdw>
          </a:effectLst>
        </p:spPr>
      </p:sp>
      <p:sp>
        <p:nvSpPr>
          <p:cNvPr id="8" name="Text 6"/>
          <p:cNvSpPr/>
          <p:nvPr/>
        </p:nvSpPr>
        <p:spPr>
          <a:xfrm>
            <a:off x="4572000" y="1783080"/>
            <a:ext cx="3108960" cy="640080"/>
          </a:xfrm>
          <a:prstGeom prst="rect">
            <a:avLst/>
          </a:prstGeom>
          <a:noFill/>
          <a:ln/>
        </p:spPr>
        <p:txBody>
          <a:bodyPr wrap="square" rtlCol="0" anchor="ctr"/>
          <a:lstStyle/>
          <a:p>
            <a:pPr marL="0" indent="0">
              <a:buNone/>
            </a:pPr>
            <a:r>
              <a:rPr lang="en-US" sz="3400" b="1" dirty="0">
                <a:solidFill>
                  <a:srgbClr val="1B1F3B"/>
                </a:solidFill>
                <a:latin typeface="Cambria" pitchFamily="34" charset="0"/>
                <a:ea typeface="Cambria" pitchFamily="34" charset="-122"/>
                <a:cs typeface="Cambria" pitchFamily="34" charset="-120"/>
              </a:rPr>
              <a:t>4</a:t>
            </a:r>
            <a:endParaRPr lang="en-US" sz="3400" dirty="0"/>
          </a:p>
        </p:txBody>
      </p:sp>
      <p:sp>
        <p:nvSpPr>
          <p:cNvPr id="9" name="Text 7"/>
          <p:cNvSpPr/>
          <p:nvPr/>
        </p:nvSpPr>
        <p:spPr>
          <a:xfrm>
            <a:off x="4572000" y="2423160"/>
            <a:ext cx="3108960" cy="91440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categorías de amenaza que el equipo demostrará: acoso, odio, phishing y texto neutral</a:t>
            </a:r>
            <a:endParaRPr lang="en-US" sz="1250" dirty="0"/>
          </a:p>
        </p:txBody>
      </p:sp>
      <p:sp>
        <p:nvSpPr>
          <p:cNvPr id="10" name="Shape 8"/>
          <p:cNvSpPr/>
          <p:nvPr/>
        </p:nvSpPr>
        <p:spPr>
          <a:xfrm>
            <a:off x="8138160" y="1600200"/>
            <a:ext cx="3566160" cy="1874520"/>
          </a:xfrm>
          <a:prstGeom prst="roundRect">
            <a:avLst>
              <a:gd name="adj" fmla="val 3902"/>
            </a:avLst>
          </a:prstGeom>
          <a:solidFill>
            <a:srgbClr val="FFFFFF"/>
          </a:solidFill>
          <a:ln/>
          <a:effectLst>
            <a:outerShdw blurRad="101600" dist="38100" dir="5400000" algn="bl" rotWithShape="0">
              <a:srgbClr val="000000">
                <a:alpha val="12000"/>
              </a:srgbClr>
            </a:outerShdw>
          </a:effectLst>
        </p:spPr>
      </p:sp>
      <p:sp>
        <p:nvSpPr>
          <p:cNvPr id="11" name="Text 9"/>
          <p:cNvSpPr/>
          <p:nvPr/>
        </p:nvSpPr>
        <p:spPr>
          <a:xfrm>
            <a:off x="8366760" y="1783080"/>
            <a:ext cx="3108960" cy="640080"/>
          </a:xfrm>
          <a:prstGeom prst="rect">
            <a:avLst/>
          </a:prstGeom>
          <a:noFill/>
          <a:ln/>
        </p:spPr>
        <p:txBody>
          <a:bodyPr wrap="square" rtlCol="0" anchor="ctr"/>
          <a:lstStyle/>
          <a:p>
            <a:pPr marL="0" indent="0">
              <a:buNone/>
            </a:pPr>
            <a:r>
              <a:rPr lang="en-US" sz="3400" b="1" dirty="0">
                <a:solidFill>
                  <a:srgbClr val="1B1F3B"/>
                </a:solidFill>
                <a:latin typeface="Cambria" pitchFamily="34" charset="0"/>
                <a:ea typeface="Cambria" pitchFamily="34" charset="-122"/>
                <a:cs typeface="Cambria" pitchFamily="34" charset="-120"/>
              </a:rPr>
              <a:t>BERT</a:t>
            </a:r>
            <a:endParaRPr lang="en-US" sz="3400" dirty="0"/>
          </a:p>
        </p:txBody>
      </p:sp>
      <p:sp>
        <p:nvSpPr>
          <p:cNvPr id="12" name="Text 10"/>
          <p:cNvSpPr/>
          <p:nvPr/>
        </p:nvSpPr>
        <p:spPr>
          <a:xfrm>
            <a:off x="8366760" y="2423160"/>
            <a:ext cx="3108960" cy="914400"/>
          </a:xfrm>
          <a:prstGeom prst="rect">
            <a:avLst/>
          </a:prstGeom>
          <a:noFill/>
          <a:ln/>
        </p:spPr>
        <p:txBody>
          <a:bodyPr wrap="square"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arquitectura Transformer que revolucionó la comprensión contextual del lenguaje malicioso</a:t>
            </a:r>
            <a:endParaRPr lang="en-US" sz="1250" dirty="0"/>
          </a:p>
        </p:txBody>
      </p:sp>
      <p:sp>
        <p:nvSpPr>
          <p:cNvPr id="13" name="Text 11"/>
          <p:cNvSpPr/>
          <p:nvPr/>
        </p:nvSpPr>
        <p:spPr>
          <a:xfrm>
            <a:off x="548640" y="3794760"/>
            <a:ext cx="10881360" cy="914400"/>
          </a:xfrm>
          <a:prstGeom prst="rect">
            <a:avLst/>
          </a:prstGeom>
          <a:noFill/>
          <a:ln/>
        </p:spPr>
        <p:txBody>
          <a:bodyPr wrap="square" rtlCol="0" anchor="ctr"/>
          <a:lstStyle/>
          <a:p>
            <a:pPr marL="0" indent="0">
              <a:lnSpc>
                <a:spcPts val="2100"/>
              </a:lnSpc>
              <a:buNone/>
            </a:pPr>
            <a:r>
              <a:rPr lang="en-US" sz="1500" b="1" dirty="0">
                <a:solidFill>
                  <a:srgbClr val="1B1F3B"/>
                </a:solidFill>
                <a:latin typeface="Calibri" pitchFamily="34" charset="0"/>
                <a:ea typeface="Calibri" pitchFamily="34" charset="-122"/>
                <a:cs typeface="Calibri" pitchFamily="34" charset="-120"/>
              </a:rPr>
              <a:t>El problema: </a:t>
            </a:r>
            <a:r>
              <a:rPr lang="en-US" sz="1500" dirty="0">
                <a:solidFill>
                  <a:srgbClr val="3B4270"/>
                </a:solidFill>
                <a:latin typeface="Calibri" pitchFamily="34" charset="0"/>
                <a:ea typeface="Calibri" pitchFamily="34" charset="-122"/>
                <a:cs typeface="Calibri" pitchFamily="34" charset="-120"/>
              </a:rPr>
              <a:t>el volumen de contenido generado en redes sociales, mensajería y foros superó hace tiempo la capacidad humana de moderación. Cada minuto se publican millones de mensajes; una fracción de ellos son ciberacoso, discurso de odio, phishing o desinformación dirigida a personas reales.</a:t>
            </a:r>
            <a:endParaRPr lang="en-US" sz="1500" dirty="0"/>
          </a:p>
        </p:txBody>
      </p:sp>
      <p:sp>
        <p:nvSpPr>
          <p:cNvPr id="14" name="Shape 12"/>
          <p:cNvSpPr/>
          <p:nvPr/>
        </p:nvSpPr>
        <p:spPr>
          <a:xfrm>
            <a:off x="548640" y="4892040"/>
            <a:ext cx="10881360" cy="1234440"/>
          </a:xfrm>
          <a:prstGeom prst="roundRect">
            <a:avLst>
              <a:gd name="adj" fmla="val 5926"/>
            </a:avLst>
          </a:prstGeom>
          <a:solidFill>
            <a:srgbClr val="1B1F3B"/>
          </a:solidFill>
          <a:ln/>
        </p:spPr>
      </p:sp>
      <p:sp>
        <p:nvSpPr>
          <p:cNvPr id="15" name="Shape 13"/>
          <p:cNvSpPr/>
          <p:nvPr/>
        </p:nvSpPr>
        <p:spPr>
          <a:xfrm>
            <a:off x="777240" y="5120640"/>
            <a:ext cx="777240" cy="777240"/>
          </a:xfrm>
          <a:prstGeom prst="ellipse">
            <a:avLst/>
          </a:prstGeom>
          <a:solidFill>
            <a:srgbClr val="E63946"/>
          </a:solidFill>
          <a:ln/>
        </p:spPr>
      </p:sp>
      <p:pic>
        <p:nvPicPr>
          <p:cNvPr id="16" name="Image 0" descr="preencoded.png"/>
          <p:cNvPicPr>
            <a:picLocks noChangeAspect="1"/>
          </p:cNvPicPr>
          <p:nvPr/>
        </p:nvPicPr>
        <p:blipFill>
          <a:blip r:embed="rId3"/>
          <a:stretch>
            <a:fillRect/>
          </a:stretch>
        </p:blipFill>
        <p:spPr>
          <a:xfrm>
            <a:off x="878281" y="5221681"/>
            <a:ext cx="575158" cy="575158"/>
          </a:xfrm>
          <a:prstGeom prst="rect">
            <a:avLst/>
          </a:prstGeom>
        </p:spPr>
      </p:pic>
      <p:sp>
        <p:nvSpPr>
          <p:cNvPr id="17" name="Text 14"/>
          <p:cNvSpPr/>
          <p:nvPr/>
        </p:nvSpPr>
        <p:spPr>
          <a:xfrm>
            <a:off x="1737360" y="5029200"/>
            <a:ext cx="9509760" cy="10515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Objetivo de la sustentación
</a:t>
            </a:r>
            <a:endParaRPr lang="en-US" sz="1500" dirty="0"/>
          </a:p>
          <a:p>
            <a:pPr marL="0" indent="0">
              <a:buNone/>
            </a:pPr>
            <a:r>
              <a:rPr lang="en-US" sz="1250" dirty="0">
                <a:solidFill>
                  <a:srgbClr val="D8DAF0"/>
                </a:solidFill>
                <a:latin typeface="Calibri" pitchFamily="34" charset="0"/>
                <a:ea typeface="Calibri" pitchFamily="34" charset="-122"/>
                <a:cs typeface="Calibri" pitchFamily="34" charset="-120"/>
              </a:rPr>
              <a:t>Demostrar cómo un modelo de NLP clasifica automáticamente texto en categorías de amenaza, evaluar su desempeño con métricas apropiadas, y discutir sus límites técnicos, éticos y legales.</a:t>
            </a:r>
            <a:endParaRPr lang="en-US" sz="150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19" name="Text 1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2 · CONTEXTO DEL PROBLEMA</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Un problema de escala global</a:t>
            </a:r>
            <a:endParaRPr lang="en-US" sz="3000" dirty="0"/>
          </a:p>
        </p:txBody>
      </p:sp>
      <p:sp>
        <p:nvSpPr>
          <p:cNvPr id="4" name="Shape 2"/>
          <p:cNvSpPr/>
          <p:nvPr/>
        </p:nvSpPr>
        <p:spPr>
          <a:xfrm>
            <a:off x="548640" y="1600200"/>
            <a:ext cx="10881360" cy="1234440"/>
          </a:xfrm>
          <a:prstGeom prst="roundRect">
            <a:avLst>
              <a:gd name="adj" fmla="val 5926"/>
            </a:avLst>
          </a:prstGeom>
          <a:solidFill>
            <a:srgbClr val="F5F6FA"/>
          </a:solidFill>
          <a:ln/>
        </p:spPr>
      </p:sp>
      <p:sp>
        <p:nvSpPr>
          <p:cNvPr id="5" name="Shape 3"/>
          <p:cNvSpPr/>
          <p:nvPr/>
        </p:nvSpPr>
        <p:spPr>
          <a:xfrm>
            <a:off x="777240" y="1856232"/>
            <a:ext cx="731520" cy="731520"/>
          </a:xfrm>
          <a:prstGeom prst="ellipse">
            <a:avLst/>
          </a:prstGeom>
          <a:solidFill>
            <a:srgbClr val="1B1F3B"/>
          </a:solidFill>
          <a:ln/>
        </p:spPr>
      </p:sp>
      <p:pic>
        <p:nvPicPr>
          <p:cNvPr id="6" name="Image 0" descr="preencoded.png"/>
          <p:cNvPicPr>
            <a:picLocks noChangeAspect="1"/>
          </p:cNvPicPr>
          <p:nvPr/>
        </p:nvPicPr>
        <p:blipFill>
          <a:blip r:embed="rId3"/>
          <a:stretch>
            <a:fillRect/>
          </a:stretch>
        </p:blipFill>
        <p:spPr>
          <a:xfrm>
            <a:off x="872338" y="1951330"/>
            <a:ext cx="541325" cy="541325"/>
          </a:xfrm>
          <a:prstGeom prst="rect">
            <a:avLst/>
          </a:prstGeom>
        </p:spPr>
      </p:pic>
      <p:sp>
        <p:nvSpPr>
          <p:cNvPr id="7" name="Text 4"/>
          <p:cNvSpPr/>
          <p:nvPr/>
        </p:nvSpPr>
        <p:spPr>
          <a:xfrm>
            <a:off x="1783080" y="1737360"/>
            <a:ext cx="3657600" cy="96012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Alcance global</a:t>
            </a:r>
            <a:endParaRPr lang="en-US" sz="1500" dirty="0"/>
          </a:p>
        </p:txBody>
      </p:sp>
      <p:sp>
        <p:nvSpPr>
          <p:cNvPr id="8" name="Text 5"/>
          <p:cNvSpPr/>
          <p:nvPr/>
        </p:nvSpPr>
        <p:spPr>
          <a:xfrm>
            <a:off x="5577840" y="1737360"/>
            <a:ext cx="5623560" cy="9601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El ciberacoso y el discurso de odio en línea afectan a plataformas en decenas de idiomas y millones de usuarios simultáneamente; la moderación humana no escala al ritmo del contenido generado.</a:t>
            </a:r>
            <a:endParaRPr lang="en-US" sz="1200" dirty="0"/>
          </a:p>
        </p:txBody>
      </p:sp>
      <p:sp>
        <p:nvSpPr>
          <p:cNvPr id="9" name="Shape 6"/>
          <p:cNvSpPr/>
          <p:nvPr/>
        </p:nvSpPr>
        <p:spPr>
          <a:xfrm>
            <a:off x="548640" y="3017520"/>
            <a:ext cx="10881360" cy="1234440"/>
          </a:xfrm>
          <a:prstGeom prst="roundRect">
            <a:avLst>
              <a:gd name="adj" fmla="val 5926"/>
            </a:avLst>
          </a:prstGeom>
          <a:solidFill>
            <a:srgbClr val="F5F6FA"/>
          </a:solidFill>
          <a:ln/>
        </p:spPr>
      </p:sp>
      <p:sp>
        <p:nvSpPr>
          <p:cNvPr id="10" name="Shape 7"/>
          <p:cNvSpPr/>
          <p:nvPr/>
        </p:nvSpPr>
        <p:spPr>
          <a:xfrm>
            <a:off x="777240" y="3273552"/>
            <a:ext cx="731520" cy="731520"/>
          </a:xfrm>
          <a:prstGeom prst="ellipse">
            <a:avLst/>
          </a:prstGeom>
          <a:solidFill>
            <a:srgbClr val="1B1F3B"/>
          </a:solidFill>
          <a:ln/>
        </p:spPr>
      </p:sp>
      <p:pic>
        <p:nvPicPr>
          <p:cNvPr id="11" name="Image 1" descr="preencoded.png"/>
          <p:cNvPicPr>
            <a:picLocks noChangeAspect="1"/>
          </p:cNvPicPr>
          <p:nvPr/>
        </p:nvPicPr>
        <p:blipFill>
          <a:blip r:embed="rId4"/>
          <a:stretch>
            <a:fillRect/>
          </a:stretch>
        </p:blipFill>
        <p:spPr>
          <a:xfrm>
            <a:off x="872338" y="3368650"/>
            <a:ext cx="541325" cy="541325"/>
          </a:xfrm>
          <a:prstGeom prst="rect">
            <a:avLst/>
          </a:prstGeom>
        </p:spPr>
      </p:pic>
      <p:sp>
        <p:nvSpPr>
          <p:cNvPr id="12" name="Text 8"/>
          <p:cNvSpPr/>
          <p:nvPr/>
        </p:nvSpPr>
        <p:spPr>
          <a:xfrm>
            <a:off x="1783080" y="3154680"/>
            <a:ext cx="3657600" cy="96012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Impacto social</a:t>
            </a:r>
            <a:endParaRPr lang="en-US" sz="1500" dirty="0"/>
          </a:p>
        </p:txBody>
      </p:sp>
      <p:sp>
        <p:nvSpPr>
          <p:cNvPr id="13" name="Text 9"/>
          <p:cNvSpPr/>
          <p:nvPr/>
        </p:nvSpPr>
        <p:spPr>
          <a:xfrm>
            <a:off x="5577840" y="3154680"/>
            <a:ext cx="5623560" cy="9601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Adolescentes y minorías (étnicas, religiosas, de género) son los grupos más frecuentemente atacados; el acoso digital se asocia con ansiedad, aislamiento y abandono de plataformas.</a:t>
            </a:r>
            <a:endParaRPr lang="en-US" sz="1200" dirty="0"/>
          </a:p>
        </p:txBody>
      </p:sp>
      <p:sp>
        <p:nvSpPr>
          <p:cNvPr id="14" name="Shape 10"/>
          <p:cNvSpPr/>
          <p:nvPr/>
        </p:nvSpPr>
        <p:spPr>
          <a:xfrm>
            <a:off x="548640" y="4434840"/>
            <a:ext cx="10881360" cy="1234440"/>
          </a:xfrm>
          <a:prstGeom prst="roundRect">
            <a:avLst>
              <a:gd name="adj" fmla="val 5926"/>
            </a:avLst>
          </a:prstGeom>
          <a:solidFill>
            <a:srgbClr val="F5F6FA"/>
          </a:solidFill>
          <a:ln/>
        </p:spPr>
      </p:sp>
      <p:sp>
        <p:nvSpPr>
          <p:cNvPr id="15" name="Shape 11"/>
          <p:cNvSpPr/>
          <p:nvPr/>
        </p:nvSpPr>
        <p:spPr>
          <a:xfrm>
            <a:off x="777240" y="4690872"/>
            <a:ext cx="731520" cy="731520"/>
          </a:xfrm>
          <a:prstGeom prst="ellipse">
            <a:avLst/>
          </a:prstGeom>
          <a:solidFill>
            <a:srgbClr val="1B1F3B"/>
          </a:solidFill>
          <a:ln/>
        </p:spPr>
      </p:sp>
      <p:pic>
        <p:nvPicPr>
          <p:cNvPr id="16" name="Image 2" descr="preencoded.png"/>
          <p:cNvPicPr>
            <a:picLocks noChangeAspect="1"/>
          </p:cNvPicPr>
          <p:nvPr/>
        </p:nvPicPr>
        <p:blipFill>
          <a:blip r:embed="rId5"/>
          <a:stretch>
            <a:fillRect/>
          </a:stretch>
        </p:blipFill>
        <p:spPr>
          <a:xfrm>
            <a:off x="872338" y="4785970"/>
            <a:ext cx="541325" cy="541325"/>
          </a:xfrm>
          <a:prstGeom prst="rect">
            <a:avLst/>
          </a:prstGeom>
        </p:spPr>
      </p:pic>
      <p:sp>
        <p:nvSpPr>
          <p:cNvPr id="17" name="Text 12"/>
          <p:cNvSpPr/>
          <p:nvPr/>
        </p:nvSpPr>
        <p:spPr>
          <a:xfrm>
            <a:off x="1783080" y="4572000"/>
            <a:ext cx="3657600" cy="96012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Vector combinado</a:t>
            </a:r>
            <a:endParaRPr lang="en-US" sz="1500" dirty="0"/>
          </a:p>
        </p:txBody>
      </p:sp>
      <p:sp>
        <p:nvSpPr>
          <p:cNvPr id="18" name="Text 13"/>
          <p:cNvSpPr/>
          <p:nvPr/>
        </p:nvSpPr>
        <p:spPr>
          <a:xfrm>
            <a:off x="5577840" y="4572000"/>
            <a:ext cx="5623560" cy="9601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El phishing basado en ingeniería social (texto persuasivo, urgencia falsa) sigue siendo el vector de entrada más común en incidentes de ciberseguridad corporativa.</a:t>
            </a:r>
            <a:endParaRPr lang="en-US" sz="1200" dirty="0"/>
          </a:p>
        </p:txBody>
      </p:sp>
      <p:sp>
        <p:nvSpPr>
          <p:cNvPr id="19"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0" name="Text 1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2 · CONTEXTO DEL PROBLEMA</a:t>
            </a:r>
            <a:endParaRPr lang="en-US" sz="1200" dirty="0"/>
          </a:p>
        </p:txBody>
      </p:sp>
      <p:sp>
        <p:nvSpPr>
          <p:cNvPr id="3" name="Text 1"/>
          <p:cNvSpPr/>
          <p:nvPr/>
        </p:nvSpPr>
        <p:spPr>
          <a:xfrm>
            <a:off x="548640" y="685800"/>
            <a:ext cx="10881360" cy="640080"/>
          </a:xfrm>
          <a:prstGeom prst="rect">
            <a:avLst/>
          </a:prstGeom>
          <a:noFill/>
          <a:ln/>
        </p:spPr>
        <p:txBody>
          <a:bodyPr wrap="square" rtlCol="0" anchor="ctr"/>
          <a:lstStyle/>
          <a:p>
            <a:pPr marL="0" indent="0">
              <a:buNone/>
            </a:pPr>
            <a:r>
              <a:rPr lang="en-US" sz="2700" b="1" dirty="0">
                <a:solidFill>
                  <a:srgbClr val="1B1F3B"/>
                </a:solidFill>
                <a:latin typeface="Cambria" pitchFamily="34" charset="0"/>
                <a:ea typeface="Cambria" pitchFamily="34" charset="-122"/>
                <a:cs typeface="Cambria" pitchFamily="34" charset="-120"/>
              </a:rPr>
              <a:t>¿Por qué las organizaciones invierten en esto?</a:t>
            </a:r>
            <a:endParaRPr lang="en-US" sz="2700" dirty="0"/>
          </a:p>
        </p:txBody>
      </p:sp>
      <p:sp>
        <p:nvSpPr>
          <p:cNvPr id="4" name="Text 2"/>
          <p:cNvSpPr/>
          <p:nvPr/>
        </p:nvSpPr>
        <p:spPr>
          <a:xfrm>
            <a:off x="548640" y="1371600"/>
            <a:ext cx="10881360" cy="45720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Razones documentadas por la industria (ENISA, IBM X-Force, Verizon DBIR) para automatizar la detección de lenguaje malicioso:</a:t>
            </a:r>
            <a:endParaRPr lang="en-US" sz="1300" dirty="0"/>
          </a:p>
        </p:txBody>
      </p:sp>
      <p:graphicFrame>
        <p:nvGraphicFramePr>
          <p:cNvPr id="5" name="Chart 0"/>
          <p:cNvGraphicFramePr/>
          <p:nvPr/>
        </p:nvGraphicFramePr>
        <p:xfrm>
          <a:off x="548640" y="1920240"/>
          <a:ext cx="108813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3 · BASES TÉCNICAS Y CONCEPTUALES</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El pipeline de NLP, paso a paso</a:t>
            </a:r>
            <a:endParaRPr lang="en-US" sz="3000" dirty="0"/>
          </a:p>
        </p:txBody>
      </p:sp>
      <p:sp>
        <p:nvSpPr>
          <p:cNvPr id="4" name="Shape 2"/>
          <p:cNvSpPr/>
          <p:nvPr/>
        </p:nvSpPr>
        <p:spPr>
          <a:xfrm>
            <a:off x="548640" y="1691640"/>
            <a:ext cx="1993392" cy="2468880"/>
          </a:xfrm>
          <a:prstGeom prst="roundRect">
            <a:avLst>
              <a:gd name="adj" fmla="val 3670"/>
            </a:avLst>
          </a:prstGeom>
          <a:solidFill>
            <a:srgbClr val="F5F6FA"/>
          </a:solidFill>
          <a:ln w="12700">
            <a:solidFill>
              <a:srgbClr val="E2E4F0"/>
            </a:solidFill>
            <a:prstDash val="solid"/>
          </a:ln>
        </p:spPr>
      </p:sp>
      <p:sp>
        <p:nvSpPr>
          <p:cNvPr id="5" name="Shape 3"/>
          <p:cNvSpPr/>
          <p:nvPr/>
        </p:nvSpPr>
        <p:spPr>
          <a:xfrm>
            <a:off x="1202436" y="1920240"/>
            <a:ext cx="685800" cy="685800"/>
          </a:xfrm>
          <a:prstGeom prst="ellipse">
            <a:avLst/>
          </a:prstGeom>
          <a:solidFill>
            <a:srgbClr val="1B1F3B"/>
          </a:solidFill>
          <a:ln/>
        </p:spPr>
      </p:sp>
      <p:pic>
        <p:nvPicPr>
          <p:cNvPr id="6" name="Image 0" descr="preencoded.png"/>
          <p:cNvPicPr>
            <a:picLocks noChangeAspect="1"/>
          </p:cNvPicPr>
          <p:nvPr/>
        </p:nvPicPr>
        <p:blipFill>
          <a:blip r:embed="rId3"/>
          <a:stretch>
            <a:fillRect/>
          </a:stretch>
        </p:blipFill>
        <p:spPr>
          <a:xfrm>
            <a:off x="1291590" y="2009394"/>
            <a:ext cx="507492" cy="507492"/>
          </a:xfrm>
          <a:prstGeom prst="rect">
            <a:avLst/>
          </a:prstGeom>
        </p:spPr>
      </p:pic>
      <p:sp>
        <p:nvSpPr>
          <p:cNvPr id="7" name="Text 4"/>
          <p:cNvSpPr/>
          <p:nvPr/>
        </p:nvSpPr>
        <p:spPr>
          <a:xfrm>
            <a:off x="640080" y="2743200"/>
            <a:ext cx="1810512" cy="457200"/>
          </a:xfrm>
          <a:prstGeom prst="rect">
            <a:avLst/>
          </a:prstGeom>
          <a:noFill/>
          <a:ln/>
        </p:spPr>
        <p:txBody>
          <a:bodyPr wrap="square" rtlCol="0" anchor="ctr"/>
          <a:lstStyle/>
          <a:p>
            <a:pPr marL="0" indent="0" algn="ctr">
              <a:buNone/>
            </a:pPr>
            <a:r>
              <a:rPr lang="en-US" sz="1300" b="1" dirty="0">
                <a:solidFill>
                  <a:srgbClr val="1B1F3B"/>
                </a:solidFill>
                <a:latin typeface="Cambria" pitchFamily="34" charset="0"/>
                <a:ea typeface="Cambria" pitchFamily="34" charset="-122"/>
                <a:cs typeface="Cambria" pitchFamily="34" charset="-120"/>
              </a:rPr>
              <a:t>1. Texto crudo</a:t>
            </a:r>
            <a:endParaRPr lang="en-US" sz="1300" dirty="0"/>
          </a:p>
        </p:txBody>
      </p:sp>
      <p:sp>
        <p:nvSpPr>
          <p:cNvPr id="8" name="Text 5"/>
          <p:cNvSpPr/>
          <p:nvPr/>
        </p:nvSpPr>
        <p:spPr>
          <a:xfrm>
            <a:off x="658368" y="3200400"/>
            <a:ext cx="1773936" cy="91440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Mensaje, comentario o correo sin procesar</a:t>
            </a:r>
            <a:endParaRPr lang="en-US" sz="1000" dirty="0"/>
          </a:p>
        </p:txBody>
      </p:sp>
      <p:sp>
        <p:nvSpPr>
          <p:cNvPr id="9" name="Text 6"/>
          <p:cNvSpPr/>
          <p:nvPr/>
        </p:nvSpPr>
        <p:spPr>
          <a:xfrm>
            <a:off x="2496312" y="2148840"/>
            <a:ext cx="274320" cy="365760"/>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10" name="Shape 7"/>
          <p:cNvSpPr/>
          <p:nvPr/>
        </p:nvSpPr>
        <p:spPr>
          <a:xfrm>
            <a:off x="2706624" y="1691640"/>
            <a:ext cx="1993392" cy="2468880"/>
          </a:xfrm>
          <a:prstGeom prst="roundRect">
            <a:avLst>
              <a:gd name="adj" fmla="val 3670"/>
            </a:avLst>
          </a:prstGeom>
          <a:solidFill>
            <a:srgbClr val="FFFFFF"/>
          </a:solidFill>
          <a:ln w="12700">
            <a:solidFill>
              <a:srgbClr val="E2E4F0"/>
            </a:solidFill>
            <a:prstDash val="solid"/>
          </a:ln>
        </p:spPr>
      </p:sp>
      <p:sp>
        <p:nvSpPr>
          <p:cNvPr id="11" name="Shape 8"/>
          <p:cNvSpPr/>
          <p:nvPr/>
        </p:nvSpPr>
        <p:spPr>
          <a:xfrm>
            <a:off x="3360420" y="1920240"/>
            <a:ext cx="685800" cy="685800"/>
          </a:xfrm>
          <a:prstGeom prst="ellipse">
            <a:avLst/>
          </a:prstGeom>
          <a:solidFill>
            <a:srgbClr val="1B1F3B"/>
          </a:solidFill>
          <a:ln/>
        </p:spPr>
      </p:sp>
      <p:pic>
        <p:nvPicPr>
          <p:cNvPr id="12" name="Image 1" descr="preencoded.png"/>
          <p:cNvPicPr>
            <a:picLocks noChangeAspect="1"/>
          </p:cNvPicPr>
          <p:nvPr/>
        </p:nvPicPr>
        <p:blipFill>
          <a:blip r:embed="rId4"/>
          <a:stretch>
            <a:fillRect/>
          </a:stretch>
        </p:blipFill>
        <p:spPr>
          <a:xfrm>
            <a:off x="3449574" y="2009394"/>
            <a:ext cx="507492" cy="507492"/>
          </a:xfrm>
          <a:prstGeom prst="rect">
            <a:avLst/>
          </a:prstGeom>
        </p:spPr>
      </p:pic>
      <p:sp>
        <p:nvSpPr>
          <p:cNvPr id="13" name="Text 9"/>
          <p:cNvSpPr/>
          <p:nvPr/>
        </p:nvSpPr>
        <p:spPr>
          <a:xfrm>
            <a:off x="2798064" y="2743200"/>
            <a:ext cx="1810512" cy="457200"/>
          </a:xfrm>
          <a:prstGeom prst="rect">
            <a:avLst/>
          </a:prstGeom>
          <a:noFill/>
          <a:ln/>
        </p:spPr>
        <p:txBody>
          <a:bodyPr wrap="square" rtlCol="0" anchor="ctr"/>
          <a:lstStyle/>
          <a:p>
            <a:pPr marL="0" indent="0" algn="ctr">
              <a:buNone/>
            </a:pPr>
            <a:r>
              <a:rPr lang="en-US" sz="1300" b="1" dirty="0">
                <a:solidFill>
                  <a:srgbClr val="1B1F3B"/>
                </a:solidFill>
                <a:latin typeface="Cambria" pitchFamily="34" charset="0"/>
                <a:ea typeface="Cambria" pitchFamily="34" charset="-122"/>
                <a:cs typeface="Cambria" pitchFamily="34" charset="-120"/>
              </a:rPr>
              <a:t>2. Tokenización</a:t>
            </a:r>
            <a:endParaRPr lang="en-US" sz="1300" dirty="0"/>
          </a:p>
        </p:txBody>
      </p:sp>
      <p:sp>
        <p:nvSpPr>
          <p:cNvPr id="14" name="Text 10"/>
          <p:cNvSpPr/>
          <p:nvPr/>
        </p:nvSpPr>
        <p:spPr>
          <a:xfrm>
            <a:off x="2816352" y="3200400"/>
            <a:ext cx="1773936" cy="91440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Se divide el texto en palabras/subpalabras</a:t>
            </a:r>
            <a:endParaRPr lang="en-US" sz="1000" dirty="0"/>
          </a:p>
        </p:txBody>
      </p:sp>
      <p:sp>
        <p:nvSpPr>
          <p:cNvPr id="15" name="Text 11"/>
          <p:cNvSpPr/>
          <p:nvPr/>
        </p:nvSpPr>
        <p:spPr>
          <a:xfrm>
            <a:off x="4654296" y="2148840"/>
            <a:ext cx="274320" cy="365760"/>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16" name="Shape 12"/>
          <p:cNvSpPr/>
          <p:nvPr/>
        </p:nvSpPr>
        <p:spPr>
          <a:xfrm>
            <a:off x="4864608" y="1691640"/>
            <a:ext cx="1993392" cy="2468880"/>
          </a:xfrm>
          <a:prstGeom prst="roundRect">
            <a:avLst>
              <a:gd name="adj" fmla="val 3670"/>
            </a:avLst>
          </a:prstGeom>
          <a:solidFill>
            <a:srgbClr val="F5F6FA"/>
          </a:solidFill>
          <a:ln w="12700">
            <a:solidFill>
              <a:srgbClr val="E2E4F0"/>
            </a:solidFill>
            <a:prstDash val="solid"/>
          </a:ln>
        </p:spPr>
      </p:sp>
      <p:sp>
        <p:nvSpPr>
          <p:cNvPr id="17" name="Shape 13"/>
          <p:cNvSpPr/>
          <p:nvPr/>
        </p:nvSpPr>
        <p:spPr>
          <a:xfrm>
            <a:off x="5518404" y="1920240"/>
            <a:ext cx="685800" cy="685800"/>
          </a:xfrm>
          <a:prstGeom prst="ellipse">
            <a:avLst/>
          </a:prstGeom>
          <a:solidFill>
            <a:srgbClr val="1B1F3B"/>
          </a:solidFill>
          <a:ln/>
        </p:spPr>
      </p:sp>
      <p:pic>
        <p:nvPicPr>
          <p:cNvPr id="18" name="Image 2" descr="preencoded.png"/>
          <p:cNvPicPr>
            <a:picLocks noChangeAspect="1"/>
          </p:cNvPicPr>
          <p:nvPr/>
        </p:nvPicPr>
        <p:blipFill>
          <a:blip r:embed="rId5"/>
          <a:stretch>
            <a:fillRect/>
          </a:stretch>
        </p:blipFill>
        <p:spPr>
          <a:xfrm>
            <a:off x="5607558" y="2009394"/>
            <a:ext cx="507492" cy="507492"/>
          </a:xfrm>
          <a:prstGeom prst="rect">
            <a:avLst/>
          </a:prstGeom>
        </p:spPr>
      </p:pic>
      <p:sp>
        <p:nvSpPr>
          <p:cNvPr id="19" name="Text 14"/>
          <p:cNvSpPr/>
          <p:nvPr/>
        </p:nvSpPr>
        <p:spPr>
          <a:xfrm>
            <a:off x="4956048" y="2743200"/>
            <a:ext cx="1810512" cy="457200"/>
          </a:xfrm>
          <a:prstGeom prst="rect">
            <a:avLst/>
          </a:prstGeom>
          <a:noFill/>
          <a:ln/>
        </p:spPr>
        <p:txBody>
          <a:bodyPr wrap="square" rtlCol="0" anchor="ctr"/>
          <a:lstStyle/>
          <a:p>
            <a:pPr marL="0" indent="0" algn="ctr">
              <a:buNone/>
            </a:pPr>
            <a:r>
              <a:rPr lang="en-US" sz="1300" b="1" dirty="0">
                <a:solidFill>
                  <a:srgbClr val="1B1F3B"/>
                </a:solidFill>
                <a:latin typeface="Cambria" pitchFamily="34" charset="0"/>
                <a:ea typeface="Cambria" pitchFamily="34" charset="-122"/>
                <a:cs typeface="Cambria" pitchFamily="34" charset="-120"/>
              </a:rPr>
              <a:t>3. Vectorización</a:t>
            </a:r>
            <a:endParaRPr lang="en-US" sz="1300" dirty="0"/>
          </a:p>
        </p:txBody>
      </p:sp>
      <p:sp>
        <p:nvSpPr>
          <p:cNvPr id="20" name="Text 15"/>
          <p:cNvSpPr/>
          <p:nvPr/>
        </p:nvSpPr>
        <p:spPr>
          <a:xfrm>
            <a:off x="4974336" y="3200400"/>
            <a:ext cx="1773936" cy="91440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TF-IDF o embeddings (Word2Vec, BERT)</a:t>
            </a:r>
            <a:endParaRPr lang="en-US" sz="1000" dirty="0"/>
          </a:p>
        </p:txBody>
      </p:sp>
      <p:sp>
        <p:nvSpPr>
          <p:cNvPr id="21" name="Text 16"/>
          <p:cNvSpPr/>
          <p:nvPr/>
        </p:nvSpPr>
        <p:spPr>
          <a:xfrm>
            <a:off x="6812280" y="2148840"/>
            <a:ext cx="274320" cy="365760"/>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22" name="Shape 17"/>
          <p:cNvSpPr/>
          <p:nvPr/>
        </p:nvSpPr>
        <p:spPr>
          <a:xfrm>
            <a:off x="7022592" y="1691640"/>
            <a:ext cx="1993392" cy="2468880"/>
          </a:xfrm>
          <a:prstGeom prst="roundRect">
            <a:avLst>
              <a:gd name="adj" fmla="val 3670"/>
            </a:avLst>
          </a:prstGeom>
          <a:solidFill>
            <a:srgbClr val="FFFFFF"/>
          </a:solidFill>
          <a:ln w="12700">
            <a:solidFill>
              <a:srgbClr val="E2E4F0"/>
            </a:solidFill>
            <a:prstDash val="solid"/>
          </a:ln>
        </p:spPr>
      </p:sp>
      <p:sp>
        <p:nvSpPr>
          <p:cNvPr id="23" name="Shape 18"/>
          <p:cNvSpPr/>
          <p:nvPr/>
        </p:nvSpPr>
        <p:spPr>
          <a:xfrm>
            <a:off x="7676388" y="1920240"/>
            <a:ext cx="685800" cy="685800"/>
          </a:xfrm>
          <a:prstGeom prst="ellipse">
            <a:avLst/>
          </a:prstGeom>
          <a:solidFill>
            <a:srgbClr val="1B1F3B"/>
          </a:solidFill>
          <a:ln/>
        </p:spPr>
      </p:sp>
      <p:pic>
        <p:nvPicPr>
          <p:cNvPr id="24" name="Image 3" descr="preencoded.png"/>
          <p:cNvPicPr>
            <a:picLocks noChangeAspect="1"/>
          </p:cNvPicPr>
          <p:nvPr/>
        </p:nvPicPr>
        <p:blipFill>
          <a:blip r:embed="rId6"/>
          <a:stretch>
            <a:fillRect/>
          </a:stretch>
        </p:blipFill>
        <p:spPr>
          <a:xfrm>
            <a:off x="7765542" y="2009394"/>
            <a:ext cx="507492" cy="507492"/>
          </a:xfrm>
          <a:prstGeom prst="rect">
            <a:avLst/>
          </a:prstGeom>
        </p:spPr>
      </p:pic>
      <p:sp>
        <p:nvSpPr>
          <p:cNvPr id="25" name="Text 19"/>
          <p:cNvSpPr/>
          <p:nvPr/>
        </p:nvSpPr>
        <p:spPr>
          <a:xfrm>
            <a:off x="7114032" y="2743200"/>
            <a:ext cx="1810512" cy="457200"/>
          </a:xfrm>
          <a:prstGeom prst="rect">
            <a:avLst/>
          </a:prstGeom>
          <a:noFill/>
          <a:ln/>
        </p:spPr>
        <p:txBody>
          <a:bodyPr wrap="square" rtlCol="0" anchor="ctr"/>
          <a:lstStyle/>
          <a:p>
            <a:pPr marL="0" indent="0" algn="ctr">
              <a:buNone/>
            </a:pPr>
            <a:r>
              <a:rPr lang="en-US" sz="1300" b="1" dirty="0">
                <a:solidFill>
                  <a:srgbClr val="1B1F3B"/>
                </a:solidFill>
                <a:latin typeface="Cambria" pitchFamily="34" charset="0"/>
                <a:ea typeface="Cambria" pitchFamily="34" charset="-122"/>
                <a:cs typeface="Cambria" pitchFamily="34" charset="-120"/>
              </a:rPr>
              <a:t>4. Clasificación</a:t>
            </a:r>
            <a:endParaRPr lang="en-US" sz="1300" dirty="0"/>
          </a:p>
        </p:txBody>
      </p:sp>
      <p:sp>
        <p:nvSpPr>
          <p:cNvPr id="26" name="Text 20"/>
          <p:cNvSpPr/>
          <p:nvPr/>
        </p:nvSpPr>
        <p:spPr>
          <a:xfrm>
            <a:off x="7132320" y="3200400"/>
            <a:ext cx="1773936" cy="91440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El modelo asigna una categoría de riesgo</a:t>
            </a:r>
            <a:endParaRPr lang="en-US" sz="1000" dirty="0"/>
          </a:p>
        </p:txBody>
      </p:sp>
      <p:sp>
        <p:nvSpPr>
          <p:cNvPr id="27" name="Text 21"/>
          <p:cNvSpPr/>
          <p:nvPr/>
        </p:nvSpPr>
        <p:spPr>
          <a:xfrm>
            <a:off x="8970264" y="2148840"/>
            <a:ext cx="274320" cy="365760"/>
          </a:xfrm>
          <a:prstGeom prst="rect">
            <a:avLst/>
          </a:prstGeom>
          <a:noFill/>
          <a:ln/>
        </p:spPr>
        <p:txBody>
          <a:bodyPr wrap="square" rtlCol="0" anchor="ctr"/>
          <a:lstStyle/>
          <a:p>
            <a:pPr marL="0" indent="0" algn="ctr">
              <a:buNone/>
            </a:pPr>
            <a:r>
              <a:rPr lang="en-US" sz="1800" dirty="0">
                <a:solidFill>
                  <a:srgbClr val="6B7280"/>
                </a:solidFill>
              </a:rPr>
              <a:t>→</a:t>
            </a:r>
            <a:endParaRPr lang="en-US" sz="1800" dirty="0"/>
          </a:p>
        </p:txBody>
      </p:sp>
      <p:sp>
        <p:nvSpPr>
          <p:cNvPr id="28" name="Shape 22"/>
          <p:cNvSpPr/>
          <p:nvPr/>
        </p:nvSpPr>
        <p:spPr>
          <a:xfrm>
            <a:off x="9180576" y="1691640"/>
            <a:ext cx="1993392" cy="2468880"/>
          </a:xfrm>
          <a:prstGeom prst="roundRect">
            <a:avLst>
              <a:gd name="adj" fmla="val 3670"/>
            </a:avLst>
          </a:prstGeom>
          <a:solidFill>
            <a:srgbClr val="F5F6FA"/>
          </a:solidFill>
          <a:ln w="12700">
            <a:solidFill>
              <a:srgbClr val="E2E4F0"/>
            </a:solidFill>
            <a:prstDash val="solid"/>
          </a:ln>
        </p:spPr>
      </p:sp>
      <p:sp>
        <p:nvSpPr>
          <p:cNvPr id="29" name="Shape 23"/>
          <p:cNvSpPr/>
          <p:nvPr/>
        </p:nvSpPr>
        <p:spPr>
          <a:xfrm>
            <a:off x="9834372" y="1920240"/>
            <a:ext cx="685800" cy="685800"/>
          </a:xfrm>
          <a:prstGeom prst="ellipse">
            <a:avLst/>
          </a:prstGeom>
          <a:solidFill>
            <a:srgbClr val="E63946"/>
          </a:solidFill>
          <a:ln/>
        </p:spPr>
      </p:sp>
      <p:pic>
        <p:nvPicPr>
          <p:cNvPr id="30" name="Image 4" descr="preencoded.png"/>
          <p:cNvPicPr>
            <a:picLocks noChangeAspect="1"/>
          </p:cNvPicPr>
          <p:nvPr/>
        </p:nvPicPr>
        <p:blipFill>
          <a:blip r:embed="rId7"/>
          <a:stretch>
            <a:fillRect/>
          </a:stretch>
        </p:blipFill>
        <p:spPr>
          <a:xfrm>
            <a:off x="9923526" y="2009394"/>
            <a:ext cx="507492" cy="507492"/>
          </a:xfrm>
          <a:prstGeom prst="rect">
            <a:avLst/>
          </a:prstGeom>
        </p:spPr>
      </p:pic>
      <p:sp>
        <p:nvSpPr>
          <p:cNvPr id="31" name="Text 24"/>
          <p:cNvSpPr/>
          <p:nvPr/>
        </p:nvSpPr>
        <p:spPr>
          <a:xfrm>
            <a:off x="9272016" y="2743200"/>
            <a:ext cx="1810512" cy="457200"/>
          </a:xfrm>
          <a:prstGeom prst="rect">
            <a:avLst/>
          </a:prstGeom>
          <a:noFill/>
          <a:ln/>
        </p:spPr>
        <p:txBody>
          <a:bodyPr wrap="square" rtlCol="0" anchor="ctr"/>
          <a:lstStyle/>
          <a:p>
            <a:pPr marL="0" indent="0" algn="ctr">
              <a:buNone/>
            </a:pPr>
            <a:r>
              <a:rPr lang="en-US" sz="1300" b="1" dirty="0">
                <a:solidFill>
                  <a:srgbClr val="1B1F3B"/>
                </a:solidFill>
                <a:latin typeface="Cambria" pitchFamily="34" charset="0"/>
                <a:ea typeface="Cambria" pitchFamily="34" charset="-122"/>
                <a:cs typeface="Cambria" pitchFamily="34" charset="-120"/>
              </a:rPr>
              <a:t>5. Acción</a:t>
            </a:r>
            <a:endParaRPr lang="en-US" sz="1300" dirty="0"/>
          </a:p>
        </p:txBody>
      </p:sp>
      <p:sp>
        <p:nvSpPr>
          <p:cNvPr id="32" name="Text 25"/>
          <p:cNvSpPr/>
          <p:nvPr/>
        </p:nvSpPr>
        <p:spPr>
          <a:xfrm>
            <a:off x="9290304" y="3200400"/>
            <a:ext cx="1773936" cy="91440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Alerta, bloqueo o escalado a un analista</a:t>
            </a:r>
            <a:endParaRPr lang="en-US" sz="1000" dirty="0"/>
          </a:p>
        </p:txBody>
      </p:sp>
      <p:sp>
        <p:nvSpPr>
          <p:cNvPr id="33" name="Text 26"/>
          <p:cNvSpPr/>
          <p:nvPr/>
        </p:nvSpPr>
        <p:spPr>
          <a:xfrm>
            <a:off x="548640" y="4526280"/>
            <a:ext cx="10881360" cy="1097280"/>
          </a:xfrm>
          <a:prstGeom prst="rect">
            <a:avLst/>
          </a:prstGeom>
          <a:noFill/>
          <a:ln/>
        </p:spPr>
        <p:txBody>
          <a:bodyPr wrap="square" rtlCol="0" anchor="ctr"/>
          <a:lstStyle/>
          <a:p>
            <a:pPr marL="0" indent="0">
              <a:lnSpc>
                <a:spcPts val="1900"/>
              </a:lnSpc>
              <a:buNone/>
            </a:pPr>
            <a:r>
              <a:rPr lang="en-US" sz="1350" b="1" dirty="0">
                <a:solidFill>
                  <a:srgbClr val="1B1F3B"/>
                </a:solidFill>
                <a:latin typeface="Calibri" pitchFamily="34" charset="0"/>
                <a:ea typeface="Calibri" pitchFamily="34" charset="-122"/>
                <a:cs typeface="Calibri" pitchFamily="34" charset="-120"/>
              </a:rPr>
              <a:t>Fundamento teórico: </a:t>
            </a:r>
            <a:r>
              <a:rPr lang="en-US" sz="1350" dirty="0">
                <a:solidFill>
                  <a:srgbClr val="3B4270"/>
                </a:solidFill>
                <a:latin typeface="Calibri" pitchFamily="34" charset="0"/>
                <a:ea typeface="Calibri" pitchFamily="34" charset="-122"/>
                <a:cs typeface="Calibri" pitchFamily="34" charset="-120"/>
              </a:rPr>
              <a:t>el aprendizaje supervisado (clasificación de texto etiquetado) es la base de este pipeline. Modelos como BERT (Devlin et al., 2019) añaden representación contextual bidireccional, mejorando la detección de sarcasmo, negación y lenguaje codificado frente a TF-IDF clásico.</a:t>
            </a:r>
            <a:endParaRPr lang="en-US" sz="1350" dirty="0"/>
          </a:p>
        </p:txBody>
      </p:sp>
      <p:sp>
        <p:nvSpPr>
          <p:cNvPr id="34" name="Text 27"/>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35" name="Text 2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320040"/>
          </a:xfrm>
          <a:prstGeom prst="rect">
            <a:avLst/>
          </a:prstGeom>
          <a:noFill/>
          <a:ln/>
        </p:spPr>
        <p:txBody>
          <a:bodyPr wrap="square" rtlCol="0" anchor="ctr"/>
          <a:lstStyle/>
          <a:p>
            <a:pPr marL="0" indent="0">
              <a:buNone/>
            </a:pPr>
            <a:r>
              <a:rPr lang="en-US" sz="1200" b="1" kern="0" spc="200" dirty="0">
                <a:solidFill>
                  <a:srgbClr val="2EC4B6"/>
                </a:solidFill>
                <a:latin typeface="Calibri" pitchFamily="34" charset="0"/>
                <a:ea typeface="Calibri" pitchFamily="34" charset="-122"/>
                <a:cs typeface="Calibri" pitchFamily="34" charset="-120"/>
              </a:rPr>
              <a:t>SECCIÓN 3 · BASES TÉCNICAS Y CONCEPTUALES</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 TF-IDF a los Transformers</a:t>
            </a:r>
            <a:endParaRPr lang="en-US" sz="3000" dirty="0"/>
          </a:p>
        </p:txBody>
      </p:sp>
      <p:sp>
        <p:nvSpPr>
          <p:cNvPr id="4" name="Shape 2"/>
          <p:cNvSpPr/>
          <p:nvPr/>
        </p:nvSpPr>
        <p:spPr>
          <a:xfrm>
            <a:off x="548640" y="1600200"/>
            <a:ext cx="5257800" cy="4480560"/>
          </a:xfrm>
          <a:prstGeom prst="roundRect">
            <a:avLst>
              <a:gd name="adj" fmla="val 1633"/>
            </a:avLst>
          </a:prstGeom>
          <a:solidFill>
            <a:srgbClr val="3B4270"/>
          </a:solidFill>
          <a:ln/>
        </p:spPr>
      </p:sp>
      <p:sp>
        <p:nvSpPr>
          <p:cNvPr id="5" name="Shape 3"/>
          <p:cNvSpPr/>
          <p:nvPr/>
        </p:nvSpPr>
        <p:spPr>
          <a:xfrm>
            <a:off x="5989320" y="1600200"/>
            <a:ext cx="5623560" cy="4480560"/>
          </a:xfrm>
          <a:prstGeom prst="roundRect">
            <a:avLst>
              <a:gd name="adj" fmla="val 1633"/>
            </a:avLst>
          </a:prstGeom>
          <a:solidFill>
            <a:srgbClr val="2EC4B6"/>
          </a:solidFill>
          <a:ln/>
        </p:spPr>
      </p:sp>
      <p:sp>
        <p:nvSpPr>
          <p:cNvPr id="6" name="Text 4"/>
          <p:cNvSpPr/>
          <p:nvPr/>
        </p:nvSpPr>
        <p:spPr>
          <a:xfrm>
            <a:off x="868680" y="1828800"/>
            <a:ext cx="475488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Enfoque clásico: TF-IDF + ML</a:t>
            </a:r>
            <a:endParaRPr lang="en-US" sz="1700" dirty="0"/>
          </a:p>
        </p:txBody>
      </p:sp>
      <p:sp>
        <p:nvSpPr>
          <p:cNvPr id="7" name="Text 5"/>
          <p:cNvSpPr/>
          <p:nvPr/>
        </p:nvSpPr>
        <p:spPr>
          <a:xfrm>
            <a:off x="868680" y="2377440"/>
            <a:ext cx="4754880" cy="3474720"/>
          </a:xfrm>
          <a:prstGeom prst="rect">
            <a:avLst/>
          </a:prstGeom>
          <a:noFill/>
          <a:ln/>
        </p:spPr>
        <p:txBody>
          <a:bodyPr wrap="square" rtlCol="0" anchor="ctr"/>
          <a:lstStyle/>
          <a:p>
            <a:pPr marL="0" indent="0">
              <a:lnSpc>
                <a:spcPct val="150000"/>
              </a:lnSpc>
              <a:buNone/>
            </a:pPr>
            <a:r>
              <a:rPr lang="en-US" sz="1350" dirty="0">
                <a:solidFill>
                  <a:srgbClr val="D8DAF0"/>
                </a:solidFill>
                <a:latin typeface="Calibri" pitchFamily="34" charset="0"/>
                <a:ea typeface="Calibri" pitchFamily="34" charset="-122"/>
                <a:cs typeface="Calibri" pitchFamily="34" charset="-120"/>
              </a:rPr>
              <a:t>• Cuenta frecuencia de palabras/n-gramas
</a:t>
            </a:r>
            <a:endParaRPr lang="en-US" sz="1350" dirty="0"/>
          </a:p>
          <a:p>
            <a:pPr marL="0" indent="0">
              <a:lnSpc>
                <a:spcPct val="150000"/>
              </a:lnSpc>
              <a:buNone/>
            </a:pPr>
            <a:r>
              <a:rPr lang="en-US" sz="1350" dirty="0">
                <a:solidFill>
                  <a:srgbClr val="D8DAF0"/>
                </a:solidFill>
                <a:latin typeface="Calibri" pitchFamily="34" charset="0"/>
                <a:ea typeface="Calibri" pitchFamily="34" charset="-122"/>
                <a:cs typeface="Calibri" pitchFamily="34" charset="-120"/>
              </a:rPr>
              <a:t>• Rápido de entrenar, interpretable
</a:t>
            </a:r>
            <a:endParaRPr lang="en-US" sz="1350" dirty="0"/>
          </a:p>
          <a:p>
            <a:pPr marL="0" indent="0">
              <a:lnSpc>
                <a:spcPct val="150000"/>
              </a:lnSpc>
              <a:buNone/>
            </a:pPr>
            <a:r>
              <a:rPr lang="en-US" sz="1350" dirty="0">
                <a:solidFill>
                  <a:srgbClr val="D8DAF0"/>
                </a:solidFill>
                <a:latin typeface="Calibri" pitchFamily="34" charset="0"/>
                <a:ea typeface="Calibri" pitchFamily="34" charset="-122"/>
                <a:cs typeface="Calibri" pitchFamily="34" charset="-120"/>
              </a:rPr>
              <a:t>• No entiende contexto ni orden real
</a:t>
            </a:r>
            <a:endParaRPr lang="en-US" sz="1350" dirty="0"/>
          </a:p>
          <a:p>
            <a:pPr marL="0" indent="0">
              <a:lnSpc>
                <a:spcPct val="150000"/>
              </a:lnSpc>
              <a:buNone/>
            </a:pPr>
            <a:r>
              <a:rPr lang="en-US" sz="1350" dirty="0">
                <a:solidFill>
                  <a:srgbClr val="D8DAF0"/>
                </a:solidFill>
                <a:latin typeface="Calibri" pitchFamily="34" charset="0"/>
                <a:ea typeface="Calibri" pitchFamily="34" charset="-122"/>
                <a:cs typeface="Calibri" pitchFamily="34" charset="-120"/>
              </a:rPr>
              <a:t>• Falla con sarcasmo y negación
</a:t>
            </a:r>
            <a:endParaRPr lang="en-US" sz="1350" dirty="0"/>
          </a:p>
          <a:p>
            <a:pPr marL="0" indent="0">
              <a:lnSpc>
                <a:spcPct val="150000"/>
              </a:lnSpc>
              <a:buNone/>
            </a:pPr>
            <a:r>
              <a:rPr lang="en-US" sz="1350" dirty="0">
                <a:solidFill>
                  <a:srgbClr val="D8DAF0"/>
                </a:solidFill>
                <a:latin typeface="Calibri" pitchFamily="34" charset="0"/>
                <a:ea typeface="Calibri" pitchFamily="34" charset="-122"/>
                <a:cs typeface="Calibri" pitchFamily="34" charset="-120"/>
              </a:rPr>
              <a:t>• Ideal como línea base (nuestra simulación)</a:t>
            </a:r>
            <a:endParaRPr lang="en-US" sz="1350" dirty="0"/>
          </a:p>
        </p:txBody>
      </p:sp>
      <p:sp>
        <p:nvSpPr>
          <p:cNvPr id="8" name="Text 6"/>
          <p:cNvSpPr/>
          <p:nvPr/>
        </p:nvSpPr>
        <p:spPr>
          <a:xfrm>
            <a:off x="6309360" y="1828800"/>
            <a:ext cx="5120640" cy="457200"/>
          </a:xfrm>
          <a:prstGeom prst="rect">
            <a:avLst/>
          </a:prstGeom>
          <a:noFill/>
          <a:ln/>
        </p:spPr>
        <p:txBody>
          <a:bodyPr wrap="square"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Enfoque moderno: BERT / RoBERTa</a:t>
            </a:r>
            <a:endParaRPr lang="en-US" sz="1700" dirty="0"/>
          </a:p>
        </p:txBody>
      </p:sp>
      <p:sp>
        <p:nvSpPr>
          <p:cNvPr id="9" name="Text 7"/>
          <p:cNvSpPr/>
          <p:nvPr/>
        </p:nvSpPr>
        <p:spPr>
          <a:xfrm>
            <a:off x="6309360" y="2377440"/>
            <a:ext cx="5120640" cy="3474720"/>
          </a:xfrm>
          <a:prstGeom prst="rect">
            <a:avLst/>
          </a:prstGeom>
          <a:noFill/>
          <a:ln/>
        </p:spPr>
        <p:txBody>
          <a:bodyPr wrap="square" rtlCol="0" anchor="ctr"/>
          <a:lstStyle/>
          <a:p>
            <a:pPr marL="0" indent="0">
              <a:lnSpc>
                <a:spcPct val="150000"/>
              </a:lnSpc>
              <a:buNone/>
            </a:pPr>
            <a:r>
              <a:rPr lang="en-US" sz="1350" dirty="0">
                <a:solidFill>
                  <a:srgbClr val="1B1F3B"/>
                </a:solidFill>
                <a:latin typeface="Calibri" pitchFamily="34" charset="0"/>
                <a:ea typeface="Calibri" pitchFamily="34" charset="-122"/>
                <a:cs typeface="Calibri" pitchFamily="34" charset="-120"/>
              </a:rPr>
              <a:t>• Embeddings contextuales bidireccionales
</a:t>
            </a:r>
            <a:endParaRPr lang="en-US" sz="1350" dirty="0"/>
          </a:p>
          <a:p>
            <a:pPr marL="0" indent="0">
              <a:lnSpc>
                <a:spcPct val="150000"/>
              </a:lnSpc>
              <a:buNone/>
            </a:pPr>
            <a:r>
              <a:rPr lang="en-US" sz="1350" dirty="0">
                <a:solidFill>
                  <a:srgbClr val="1B1F3B"/>
                </a:solidFill>
                <a:latin typeface="Calibri" pitchFamily="34" charset="0"/>
                <a:ea typeface="Calibri" pitchFamily="34" charset="-122"/>
                <a:cs typeface="Calibri" pitchFamily="34" charset="-120"/>
              </a:rPr>
              <a:t>• Preentrenado en corpus masivo + fine-tuning
</a:t>
            </a:r>
            <a:endParaRPr lang="en-US" sz="1350" dirty="0"/>
          </a:p>
          <a:p>
            <a:pPr marL="0" indent="0">
              <a:lnSpc>
                <a:spcPct val="150000"/>
              </a:lnSpc>
              <a:buNone/>
            </a:pPr>
            <a:r>
              <a:rPr lang="en-US" sz="1350" dirty="0">
                <a:solidFill>
                  <a:srgbClr val="1B1F3B"/>
                </a:solidFill>
                <a:latin typeface="Calibri" pitchFamily="34" charset="0"/>
                <a:ea typeface="Calibri" pitchFamily="34" charset="-122"/>
                <a:cs typeface="Calibri" pitchFamily="34" charset="-120"/>
              </a:rPr>
              <a:t>• Captura sarcasmo, negación, contexto largo
</a:t>
            </a:r>
            <a:endParaRPr lang="en-US" sz="1350" dirty="0"/>
          </a:p>
          <a:p>
            <a:pPr marL="0" indent="0">
              <a:lnSpc>
                <a:spcPct val="150000"/>
              </a:lnSpc>
              <a:buNone/>
            </a:pPr>
            <a:r>
              <a:rPr lang="en-US" sz="1350" dirty="0">
                <a:solidFill>
                  <a:srgbClr val="1B1F3B"/>
                </a:solidFill>
                <a:latin typeface="Calibri" pitchFamily="34" charset="0"/>
                <a:ea typeface="Calibri" pitchFamily="34" charset="-122"/>
                <a:cs typeface="Calibri" pitchFamily="34" charset="-120"/>
              </a:rPr>
              <a:t>• HateBERT: BERT re-entrenado en Reddit
  para lenguaje abusivo (Caselli et al., 2021)
</a:t>
            </a:r>
            <a:endParaRPr lang="en-US" sz="1350" dirty="0"/>
          </a:p>
          <a:p>
            <a:pPr marL="0" indent="0">
              <a:lnSpc>
                <a:spcPct val="150000"/>
              </a:lnSpc>
              <a:buNone/>
            </a:pPr>
            <a:r>
              <a:rPr lang="en-US" sz="1350" dirty="0">
                <a:solidFill>
                  <a:srgbClr val="1B1F3B"/>
                </a:solidFill>
                <a:latin typeface="Calibri" pitchFamily="34" charset="0"/>
                <a:ea typeface="Calibri" pitchFamily="34" charset="-122"/>
                <a:cs typeface="Calibri" pitchFamily="34" charset="-120"/>
              </a:rPr>
              <a:t>• Mayor costo computacional</a:t>
            </a:r>
            <a:endParaRPr lang="en-US" sz="1350" dirty="0"/>
          </a:p>
        </p:txBody>
      </p:sp>
      <p:sp>
        <p:nvSpPr>
          <p:cNvPr id="10" name="Text 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11"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3 · BASES TÉCNICAS Y CONCEPTUALES</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Arquitectura de la solución propuesta</a:t>
            </a:r>
            <a:endParaRPr lang="en-US" sz="2800" dirty="0"/>
          </a:p>
        </p:txBody>
      </p:sp>
      <p:sp>
        <p:nvSpPr>
          <p:cNvPr id="4" name="Shape 2"/>
          <p:cNvSpPr/>
          <p:nvPr/>
        </p:nvSpPr>
        <p:spPr>
          <a:xfrm>
            <a:off x="548640" y="1600200"/>
            <a:ext cx="10881360" cy="960120"/>
          </a:xfrm>
          <a:prstGeom prst="roundRect">
            <a:avLst>
              <a:gd name="adj" fmla="val 5714"/>
            </a:avLst>
          </a:prstGeom>
          <a:solidFill>
            <a:srgbClr val="FFFFFF"/>
          </a:solidFill>
          <a:ln w="12700">
            <a:solidFill>
              <a:srgbClr val="E2E4F0"/>
            </a:solidFill>
            <a:prstDash val="solid"/>
          </a:ln>
        </p:spPr>
      </p:sp>
      <p:sp>
        <p:nvSpPr>
          <p:cNvPr id="5" name="Shape 3"/>
          <p:cNvSpPr/>
          <p:nvPr/>
        </p:nvSpPr>
        <p:spPr>
          <a:xfrm>
            <a:off x="731520" y="1737360"/>
            <a:ext cx="685800" cy="685800"/>
          </a:xfrm>
          <a:prstGeom prst="ellipse">
            <a:avLst/>
          </a:prstGeom>
          <a:solidFill>
            <a:srgbClr val="1B1F3B"/>
          </a:solidFill>
          <a:ln/>
        </p:spPr>
      </p:sp>
      <p:pic>
        <p:nvPicPr>
          <p:cNvPr id="6" name="Image 0" descr="preencoded.png"/>
          <p:cNvPicPr>
            <a:picLocks noChangeAspect="1"/>
          </p:cNvPicPr>
          <p:nvPr/>
        </p:nvPicPr>
        <p:blipFill>
          <a:blip r:embed="rId3"/>
          <a:stretch>
            <a:fillRect/>
          </a:stretch>
        </p:blipFill>
        <p:spPr>
          <a:xfrm>
            <a:off x="820674" y="1826514"/>
            <a:ext cx="507492" cy="507492"/>
          </a:xfrm>
          <a:prstGeom prst="rect">
            <a:avLst/>
          </a:prstGeom>
        </p:spPr>
      </p:pic>
      <p:sp>
        <p:nvSpPr>
          <p:cNvPr id="7" name="Text 4"/>
          <p:cNvSpPr/>
          <p:nvPr/>
        </p:nvSpPr>
        <p:spPr>
          <a:xfrm>
            <a:off x="1554480" y="1673352"/>
            <a:ext cx="2743200" cy="822960"/>
          </a:xfrm>
          <a:prstGeom prst="rect">
            <a:avLst/>
          </a:prstGeom>
          <a:noFill/>
          <a:ln/>
        </p:spPr>
        <p:txBody>
          <a:bodyPr wrap="square" rtlCol="0" anchor="ctr"/>
          <a:lstStyle/>
          <a:p>
            <a:pPr marL="0" indent="0">
              <a:buNone/>
            </a:pPr>
            <a:r>
              <a:rPr lang="en-US" sz="1350" b="1" dirty="0">
                <a:solidFill>
                  <a:srgbClr val="1B1F3B"/>
                </a:solidFill>
                <a:latin typeface="Cambria" pitchFamily="34" charset="0"/>
                <a:ea typeface="Cambria" pitchFamily="34" charset="-122"/>
                <a:cs typeface="Cambria" pitchFamily="34" charset="-120"/>
              </a:rPr>
              <a:t>Capa de ingesta</a:t>
            </a:r>
            <a:endParaRPr lang="en-US" sz="1350" dirty="0"/>
          </a:p>
        </p:txBody>
      </p:sp>
      <p:sp>
        <p:nvSpPr>
          <p:cNvPr id="8" name="Text 5"/>
          <p:cNvSpPr/>
          <p:nvPr/>
        </p:nvSpPr>
        <p:spPr>
          <a:xfrm>
            <a:off x="4297680" y="1673352"/>
            <a:ext cx="6949440" cy="82296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Mensajes, comentarios y correos entrantes desde la plataforma (API / stream en tiempo real)</a:t>
            </a:r>
            <a:endParaRPr lang="en-US" sz="1150" dirty="0"/>
          </a:p>
        </p:txBody>
      </p:sp>
      <p:sp>
        <p:nvSpPr>
          <p:cNvPr id="9" name="Shape 6"/>
          <p:cNvSpPr/>
          <p:nvPr/>
        </p:nvSpPr>
        <p:spPr>
          <a:xfrm>
            <a:off x="960120" y="2743200"/>
            <a:ext cx="10058400" cy="960120"/>
          </a:xfrm>
          <a:prstGeom prst="roundRect">
            <a:avLst>
              <a:gd name="adj" fmla="val 5714"/>
            </a:avLst>
          </a:prstGeom>
          <a:solidFill>
            <a:srgbClr val="FFFFFF"/>
          </a:solidFill>
          <a:ln w="12700">
            <a:solidFill>
              <a:srgbClr val="E2E4F0"/>
            </a:solidFill>
            <a:prstDash val="solid"/>
          </a:ln>
        </p:spPr>
      </p:sp>
      <p:sp>
        <p:nvSpPr>
          <p:cNvPr id="10" name="Shape 7"/>
          <p:cNvSpPr/>
          <p:nvPr/>
        </p:nvSpPr>
        <p:spPr>
          <a:xfrm>
            <a:off x="1143000" y="2880360"/>
            <a:ext cx="685800" cy="685800"/>
          </a:xfrm>
          <a:prstGeom prst="ellipse">
            <a:avLst/>
          </a:prstGeom>
          <a:solidFill>
            <a:srgbClr val="1B1F3B"/>
          </a:solidFill>
          <a:ln/>
        </p:spPr>
      </p:sp>
      <p:pic>
        <p:nvPicPr>
          <p:cNvPr id="11" name="Image 1" descr="preencoded.png"/>
          <p:cNvPicPr>
            <a:picLocks noChangeAspect="1"/>
          </p:cNvPicPr>
          <p:nvPr/>
        </p:nvPicPr>
        <p:blipFill>
          <a:blip r:embed="rId4"/>
          <a:stretch>
            <a:fillRect/>
          </a:stretch>
        </p:blipFill>
        <p:spPr>
          <a:xfrm>
            <a:off x="1232154" y="2969514"/>
            <a:ext cx="507492" cy="507492"/>
          </a:xfrm>
          <a:prstGeom prst="rect">
            <a:avLst/>
          </a:prstGeom>
        </p:spPr>
      </p:pic>
      <p:sp>
        <p:nvSpPr>
          <p:cNvPr id="12" name="Text 8"/>
          <p:cNvSpPr/>
          <p:nvPr/>
        </p:nvSpPr>
        <p:spPr>
          <a:xfrm>
            <a:off x="1965960" y="2816352"/>
            <a:ext cx="2743200" cy="822960"/>
          </a:xfrm>
          <a:prstGeom prst="rect">
            <a:avLst/>
          </a:prstGeom>
          <a:noFill/>
          <a:ln/>
        </p:spPr>
        <p:txBody>
          <a:bodyPr wrap="square" rtlCol="0" anchor="ctr"/>
          <a:lstStyle/>
          <a:p>
            <a:pPr marL="0" indent="0">
              <a:buNone/>
            </a:pPr>
            <a:r>
              <a:rPr lang="en-US" sz="1350" b="1" dirty="0">
                <a:solidFill>
                  <a:srgbClr val="1B1F3B"/>
                </a:solidFill>
                <a:latin typeface="Cambria" pitchFamily="34" charset="0"/>
                <a:ea typeface="Cambria" pitchFamily="34" charset="-122"/>
                <a:cs typeface="Cambria" pitchFamily="34" charset="-120"/>
              </a:rPr>
              <a:t>Capa de preprocesamiento</a:t>
            </a:r>
            <a:endParaRPr lang="en-US" sz="1350" dirty="0"/>
          </a:p>
        </p:txBody>
      </p:sp>
      <p:sp>
        <p:nvSpPr>
          <p:cNvPr id="13" name="Text 9"/>
          <p:cNvSpPr/>
          <p:nvPr/>
        </p:nvSpPr>
        <p:spPr>
          <a:xfrm>
            <a:off x="4709160" y="2816352"/>
            <a:ext cx="6126480" cy="82296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Limpieza, normalización, tokenización, remoción de URLs y ruido</a:t>
            </a:r>
            <a:endParaRPr lang="en-US" sz="1150" dirty="0"/>
          </a:p>
        </p:txBody>
      </p:sp>
      <p:sp>
        <p:nvSpPr>
          <p:cNvPr id="14" name="Shape 10"/>
          <p:cNvSpPr/>
          <p:nvPr/>
        </p:nvSpPr>
        <p:spPr>
          <a:xfrm>
            <a:off x="1371600" y="3886200"/>
            <a:ext cx="9235440" cy="960120"/>
          </a:xfrm>
          <a:prstGeom prst="roundRect">
            <a:avLst>
              <a:gd name="adj" fmla="val 5714"/>
            </a:avLst>
          </a:prstGeom>
          <a:solidFill>
            <a:srgbClr val="FFFFFF"/>
          </a:solidFill>
          <a:ln w="12700">
            <a:solidFill>
              <a:srgbClr val="E2E4F0"/>
            </a:solidFill>
            <a:prstDash val="solid"/>
          </a:ln>
        </p:spPr>
      </p:sp>
      <p:sp>
        <p:nvSpPr>
          <p:cNvPr id="15" name="Shape 11"/>
          <p:cNvSpPr/>
          <p:nvPr/>
        </p:nvSpPr>
        <p:spPr>
          <a:xfrm>
            <a:off x="1554480" y="4023360"/>
            <a:ext cx="685800" cy="685800"/>
          </a:xfrm>
          <a:prstGeom prst="ellipse">
            <a:avLst/>
          </a:prstGeom>
          <a:solidFill>
            <a:srgbClr val="1B1F3B"/>
          </a:solidFill>
          <a:ln/>
        </p:spPr>
      </p:sp>
      <p:pic>
        <p:nvPicPr>
          <p:cNvPr id="16" name="Image 2" descr="preencoded.png"/>
          <p:cNvPicPr>
            <a:picLocks noChangeAspect="1"/>
          </p:cNvPicPr>
          <p:nvPr/>
        </p:nvPicPr>
        <p:blipFill>
          <a:blip r:embed="rId5"/>
          <a:stretch>
            <a:fillRect/>
          </a:stretch>
        </p:blipFill>
        <p:spPr>
          <a:xfrm>
            <a:off x="1643634" y="4112514"/>
            <a:ext cx="507492" cy="507492"/>
          </a:xfrm>
          <a:prstGeom prst="rect">
            <a:avLst/>
          </a:prstGeom>
        </p:spPr>
      </p:pic>
      <p:sp>
        <p:nvSpPr>
          <p:cNvPr id="17" name="Text 12"/>
          <p:cNvSpPr/>
          <p:nvPr/>
        </p:nvSpPr>
        <p:spPr>
          <a:xfrm>
            <a:off x="2377440" y="3959352"/>
            <a:ext cx="2743200" cy="822960"/>
          </a:xfrm>
          <a:prstGeom prst="rect">
            <a:avLst/>
          </a:prstGeom>
          <a:noFill/>
          <a:ln/>
        </p:spPr>
        <p:txBody>
          <a:bodyPr wrap="square" rtlCol="0" anchor="ctr"/>
          <a:lstStyle/>
          <a:p>
            <a:pPr marL="0" indent="0">
              <a:buNone/>
            </a:pPr>
            <a:r>
              <a:rPr lang="en-US" sz="1350" b="1" dirty="0">
                <a:solidFill>
                  <a:srgbClr val="1B1F3B"/>
                </a:solidFill>
                <a:latin typeface="Cambria" pitchFamily="34" charset="0"/>
                <a:ea typeface="Cambria" pitchFamily="34" charset="-122"/>
                <a:cs typeface="Cambria" pitchFamily="34" charset="-120"/>
              </a:rPr>
              <a:t>Capa de clasificación</a:t>
            </a:r>
            <a:endParaRPr lang="en-US" sz="1350" dirty="0"/>
          </a:p>
        </p:txBody>
      </p:sp>
      <p:sp>
        <p:nvSpPr>
          <p:cNvPr id="18" name="Text 13"/>
          <p:cNvSpPr/>
          <p:nvPr/>
        </p:nvSpPr>
        <p:spPr>
          <a:xfrm>
            <a:off x="5120640" y="3959352"/>
            <a:ext cx="5303520" cy="82296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Modelo NLP (TF-IDF+ML o Transformer fine-tuned) asigna probabilidad por clase de amenaza</a:t>
            </a:r>
            <a:endParaRPr lang="en-US" sz="1150" dirty="0"/>
          </a:p>
        </p:txBody>
      </p:sp>
      <p:sp>
        <p:nvSpPr>
          <p:cNvPr id="19" name="Shape 14"/>
          <p:cNvSpPr/>
          <p:nvPr/>
        </p:nvSpPr>
        <p:spPr>
          <a:xfrm>
            <a:off x="1783080" y="5029200"/>
            <a:ext cx="8412480" cy="960120"/>
          </a:xfrm>
          <a:prstGeom prst="roundRect">
            <a:avLst>
              <a:gd name="adj" fmla="val 5714"/>
            </a:avLst>
          </a:prstGeom>
          <a:solidFill>
            <a:srgbClr val="FFFFFF"/>
          </a:solidFill>
          <a:ln w="12700">
            <a:solidFill>
              <a:srgbClr val="E2E4F0"/>
            </a:solidFill>
            <a:prstDash val="solid"/>
          </a:ln>
        </p:spPr>
      </p:sp>
      <p:sp>
        <p:nvSpPr>
          <p:cNvPr id="20" name="Shape 15"/>
          <p:cNvSpPr/>
          <p:nvPr/>
        </p:nvSpPr>
        <p:spPr>
          <a:xfrm>
            <a:off x="1965960" y="5166360"/>
            <a:ext cx="685800" cy="685800"/>
          </a:xfrm>
          <a:prstGeom prst="ellipse">
            <a:avLst/>
          </a:prstGeom>
          <a:solidFill>
            <a:srgbClr val="E63946"/>
          </a:solidFill>
          <a:ln/>
        </p:spPr>
      </p:sp>
      <p:pic>
        <p:nvPicPr>
          <p:cNvPr id="21" name="Image 3" descr="preencoded.png"/>
          <p:cNvPicPr>
            <a:picLocks noChangeAspect="1"/>
          </p:cNvPicPr>
          <p:nvPr/>
        </p:nvPicPr>
        <p:blipFill>
          <a:blip r:embed="rId6"/>
          <a:stretch>
            <a:fillRect/>
          </a:stretch>
        </p:blipFill>
        <p:spPr>
          <a:xfrm>
            <a:off x="2055114" y="5255514"/>
            <a:ext cx="507492" cy="507492"/>
          </a:xfrm>
          <a:prstGeom prst="rect">
            <a:avLst/>
          </a:prstGeom>
        </p:spPr>
      </p:pic>
      <p:sp>
        <p:nvSpPr>
          <p:cNvPr id="22" name="Text 16"/>
          <p:cNvSpPr/>
          <p:nvPr/>
        </p:nvSpPr>
        <p:spPr>
          <a:xfrm>
            <a:off x="2788920" y="5102352"/>
            <a:ext cx="2743200" cy="822960"/>
          </a:xfrm>
          <a:prstGeom prst="rect">
            <a:avLst/>
          </a:prstGeom>
          <a:noFill/>
          <a:ln/>
        </p:spPr>
        <p:txBody>
          <a:bodyPr wrap="square" rtlCol="0" anchor="ctr"/>
          <a:lstStyle/>
          <a:p>
            <a:pPr marL="0" indent="0">
              <a:buNone/>
            </a:pPr>
            <a:r>
              <a:rPr lang="en-US" sz="1350" b="1" dirty="0">
                <a:solidFill>
                  <a:srgbClr val="1B1F3B"/>
                </a:solidFill>
                <a:latin typeface="Cambria" pitchFamily="34" charset="0"/>
                <a:ea typeface="Cambria" pitchFamily="34" charset="-122"/>
                <a:cs typeface="Cambria" pitchFamily="34" charset="-120"/>
              </a:rPr>
              <a:t>Capa de respuesta</a:t>
            </a:r>
            <a:endParaRPr lang="en-US" sz="1350" dirty="0"/>
          </a:p>
        </p:txBody>
      </p:sp>
      <p:sp>
        <p:nvSpPr>
          <p:cNvPr id="23" name="Text 17"/>
          <p:cNvSpPr/>
          <p:nvPr/>
        </p:nvSpPr>
        <p:spPr>
          <a:xfrm>
            <a:off x="5532120" y="5102352"/>
            <a:ext cx="4480560" cy="82296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Enrutamiento automático: descartar, marcar para revisión humana, o bloquear/alertar</a:t>
            </a:r>
            <a:endParaRPr lang="en-US" sz="1150" dirty="0"/>
          </a:p>
        </p:txBody>
      </p:sp>
      <p:sp>
        <p:nvSpPr>
          <p:cNvPr id="24" name="Text 1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320040"/>
          </a:xfrm>
          <a:prstGeom prst="rect">
            <a:avLst/>
          </a:prstGeom>
          <a:noFill/>
          <a:ln/>
        </p:spPr>
        <p:txBody>
          <a:bodyPr wrap="square" rtlCol="0" anchor="ctr"/>
          <a:lstStyle/>
          <a:p>
            <a:pPr marL="0" indent="0">
              <a:buNone/>
            </a:pPr>
            <a:r>
              <a:rPr lang="en-US" sz="1200" b="1" kern="0" spc="150" dirty="0">
                <a:solidFill>
                  <a:srgbClr val="E63946"/>
                </a:solidFill>
                <a:latin typeface="Calibri" pitchFamily="34" charset="0"/>
                <a:ea typeface="Calibri" pitchFamily="34" charset="-122"/>
                <a:cs typeface="Calibri" pitchFamily="34" charset="-120"/>
              </a:rPr>
              <a:t>SECCIÓN 4 · INVESTIGACIÓN Y REVISIÓN BIBLIOGRÁFICA</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Fundamentos académicos del trabajo</a:t>
            </a:r>
            <a:endParaRPr lang="en-US" sz="2800" dirty="0"/>
          </a:p>
        </p:txBody>
      </p:sp>
      <p:sp>
        <p:nvSpPr>
          <p:cNvPr id="4" name="Shape 2"/>
          <p:cNvSpPr/>
          <p:nvPr/>
        </p:nvSpPr>
        <p:spPr>
          <a:xfrm>
            <a:off x="548640" y="1508760"/>
            <a:ext cx="5349240" cy="1005840"/>
          </a:xfrm>
          <a:prstGeom prst="roundRect">
            <a:avLst>
              <a:gd name="adj" fmla="val 5455"/>
            </a:avLst>
          </a:prstGeom>
          <a:solidFill>
            <a:srgbClr val="F5F6FA"/>
          </a:solidFill>
          <a:ln/>
        </p:spPr>
      </p:sp>
      <p:sp>
        <p:nvSpPr>
          <p:cNvPr id="5" name="Text 3"/>
          <p:cNvSpPr/>
          <p:nvPr/>
        </p:nvSpPr>
        <p:spPr>
          <a:xfrm>
            <a:off x="731520" y="1581912"/>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Devlin et al. (2019)</a:t>
            </a:r>
            <a:endParaRPr lang="en-US" sz="1200" dirty="0"/>
          </a:p>
        </p:txBody>
      </p:sp>
      <p:sp>
        <p:nvSpPr>
          <p:cNvPr id="6" name="Text 4"/>
          <p:cNvSpPr/>
          <p:nvPr/>
        </p:nvSpPr>
        <p:spPr>
          <a:xfrm>
            <a:off x="731520" y="1856232"/>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BERT: Pre-training of Deep Bidirectional Transformers</a:t>
            </a:r>
            <a:endParaRPr lang="en-US" sz="1150" dirty="0"/>
          </a:p>
        </p:txBody>
      </p:sp>
      <p:sp>
        <p:nvSpPr>
          <p:cNvPr id="7" name="Text 5"/>
          <p:cNvSpPr/>
          <p:nvPr/>
        </p:nvSpPr>
        <p:spPr>
          <a:xfrm>
            <a:off x="731520" y="2286000"/>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NAACL-HLT</a:t>
            </a:r>
            <a:endParaRPr lang="en-US" sz="950" dirty="0"/>
          </a:p>
        </p:txBody>
      </p:sp>
      <p:sp>
        <p:nvSpPr>
          <p:cNvPr id="8" name="Shape 6"/>
          <p:cNvSpPr/>
          <p:nvPr/>
        </p:nvSpPr>
        <p:spPr>
          <a:xfrm>
            <a:off x="6080760" y="1508760"/>
            <a:ext cx="5349240" cy="1005840"/>
          </a:xfrm>
          <a:prstGeom prst="roundRect">
            <a:avLst>
              <a:gd name="adj" fmla="val 5455"/>
            </a:avLst>
          </a:prstGeom>
          <a:solidFill>
            <a:srgbClr val="F5F6FA"/>
          </a:solidFill>
          <a:ln/>
        </p:spPr>
      </p:sp>
      <p:sp>
        <p:nvSpPr>
          <p:cNvPr id="9" name="Text 7"/>
          <p:cNvSpPr/>
          <p:nvPr/>
        </p:nvSpPr>
        <p:spPr>
          <a:xfrm>
            <a:off x="6263640" y="1581912"/>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Caselli et al. (2021)</a:t>
            </a:r>
            <a:endParaRPr lang="en-US" sz="1200" dirty="0"/>
          </a:p>
        </p:txBody>
      </p:sp>
      <p:sp>
        <p:nvSpPr>
          <p:cNvPr id="10" name="Text 8"/>
          <p:cNvSpPr/>
          <p:nvPr/>
        </p:nvSpPr>
        <p:spPr>
          <a:xfrm>
            <a:off x="6263640" y="1856232"/>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HateBERT: Retraining BERT for Abusive Language Detection</a:t>
            </a:r>
            <a:endParaRPr lang="en-US" sz="1150" dirty="0"/>
          </a:p>
        </p:txBody>
      </p:sp>
      <p:sp>
        <p:nvSpPr>
          <p:cNvPr id="11" name="Text 9"/>
          <p:cNvSpPr/>
          <p:nvPr/>
        </p:nvSpPr>
        <p:spPr>
          <a:xfrm>
            <a:off x="6263640" y="2286000"/>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WOAH / ACL</a:t>
            </a:r>
            <a:endParaRPr lang="en-US" sz="950" dirty="0"/>
          </a:p>
        </p:txBody>
      </p:sp>
      <p:sp>
        <p:nvSpPr>
          <p:cNvPr id="12" name="Shape 10"/>
          <p:cNvSpPr/>
          <p:nvPr/>
        </p:nvSpPr>
        <p:spPr>
          <a:xfrm>
            <a:off x="548640" y="2679192"/>
            <a:ext cx="5349240" cy="1005840"/>
          </a:xfrm>
          <a:prstGeom prst="roundRect">
            <a:avLst>
              <a:gd name="adj" fmla="val 5455"/>
            </a:avLst>
          </a:prstGeom>
          <a:solidFill>
            <a:srgbClr val="F5F6FA"/>
          </a:solidFill>
          <a:ln/>
        </p:spPr>
      </p:sp>
      <p:sp>
        <p:nvSpPr>
          <p:cNvPr id="13" name="Text 11"/>
          <p:cNvSpPr/>
          <p:nvPr/>
        </p:nvSpPr>
        <p:spPr>
          <a:xfrm>
            <a:off x="731520" y="2752344"/>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Davidson et al. (2017)</a:t>
            </a:r>
            <a:endParaRPr lang="en-US" sz="1200" dirty="0"/>
          </a:p>
        </p:txBody>
      </p:sp>
      <p:sp>
        <p:nvSpPr>
          <p:cNvPr id="14" name="Text 12"/>
          <p:cNvSpPr/>
          <p:nvPr/>
        </p:nvSpPr>
        <p:spPr>
          <a:xfrm>
            <a:off x="731520" y="3026664"/>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Automated Hate Speech Detection and the Problem of Offensive Language</a:t>
            </a:r>
            <a:endParaRPr lang="en-US" sz="1150" dirty="0"/>
          </a:p>
        </p:txBody>
      </p:sp>
      <p:sp>
        <p:nvSpPr>
          <p:cNvPr id="15" name="Text 13"/>
          <p:cNvSpPr/>
          <p:nvPr/>
        </p:nvSpPr>
        <p:spPr>
          <a:xfrm>
            <a:off x="731520" y="3456432"/>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ICWSM (AAAI)</a:t>
            </a:r>
            <a:endParaRPr lang="en-US" sz="950" dirty="0"/>
          </a:p>
        </p:txBody>
      </p:sp>
      <p:sp>
        <p:nvSpPr>
          <p:cNvPr id="16" name="Shape 14"/>
          <p:cNvSpPr/>
          <p:nvPr/>
        </p:nvSpPr>
        <p:spPr>
          <a:xfrm>
            <a:off x="6080760" y="2679192"/>
            <a:ext cx="5349240" cy="1005840"/>
          </a:xfrm>
          <a:prstGeom prst="roundRect">
            <a:avLst>
              <a:gd name="adj" fmla="val 5455"/>
            </a:avLst>
          </a:prstGeom>
          <a:solidFill>
            <a:srgbClr val="F5F6FA"/>
          </a:solidFill>
          <a:ln/>
        </p:spPr>
      </p:sp>
      <p:sp>
        <p:nvSpPr>
          <p:cNvPr id="17" name="Text 15"/>
          <p:cNvSpPr/>
          <p:nvPr/>
        </p:nvSpPr>
        <p:spPr>
          <a:xfrm>
            <a:off x="6263640" y="2752344"/>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Basile et al. (2019)</a:t>
            </a:r>
            <a:endParaRPr lang="en-US" sz="1200" dirty="0"/>
          </a:p>
        </p:txBody>
      </p:sp>
      <p:sp>
        <p:nvSpPr>
          <p:cNvPr id="18" name="Text 16"/>
          <p:cNvSpPr/>
          <p:nvPr/>
        </p:nvSpPr>
        <p:spPr>
          <a:xfrm>
            <a:off x="6263640" y="3026664"/>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SemEval-2019 Task 5: HatEval — Hate Speech vs. Immigrants/Women</a:t>
            </a:r>
            <a:endParaRPr lang="en-US" sz="1150" dirty="0"/>
          </a:p>
        </p:txBody>
      </p:sp>
      <p:sp>
        <p:nvSpPr>
          <p:cNvPr id="19" name="Text 17"/>
          <p:cNvSpPr/>
          <p:nvPr/>
        </p:nvSpPr>
        <p:spPr>
          <a:xfrm>
            <a:off x="6263640" y="3456432"/>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SemEval</a:t>
            </a:r>
            <a:endParaRPr lang="en-US" sz="950" dirty="0"/>
          </a:p>
        </p:txBody>
      </p:sp>
      <p:sp>
        <p:nvSpPr>
          <p:cNvPr id="20" name="Shape 18"/>
          <p:cNvSpPr/>
          <p:nvPr/>
        </p:nvSpPr>
        <p:spPr>
          <a:xfrm>
            <a:off x="548640" y="3849624"/>
            <a:ext cx="5349240" cy="1005840"/>
          </a:xfrm>
          <a:prstGeom prst="roundRect">
            <a:avLst>
              <a:gd name="adj" fmla="val 5455"/>
            </a:avLst>
          </a:prstGeom>
          <a:solidFill>
            <a:srgbClr val="F5F6FA"/>
          </a:solidFill>
          <a:ln/>
        </p:spPr>
      </p:sp>
      <p:sp>
        <p:nvSpPr>
          <p:cNvPr id="21" name="Text 19"/>
          <p:cNvSpPr/>
          <p:nvPr/>
        </p:nvSpPr>
        <p:spPr>
          <a:xfrm>
            <a:off x="731520" y="3922776"/>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Salloum et al. (2022)</a:t>
            </a:r>
            <a:endParaRPr lang="en-US" sz="1200" dirty="0"/>
          </a:p>
        </p:txBody>
      </p:sp>
      <p:sp>
        <p:nvSpPr>
          <p:cNvPr id="22" name="Text 20"/>
          <p:cNvSpPr/>
          <p:nvPr/>
        </p:nvSpPr>
        <p:spPr>
          <a:xfrm>
            <a:off x="731520" y="4197096"/>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Systematic Literature Review: Phishing Email Detection with NLP</a:t>
            </a:r>
            <a:endParaRPr lang="en-US" sz="1150" dirty="0"/>
          </a:p>
        </p:txBody>
      </p:sp>
      <p:sp>
        <p:nvSpPr>
          <p:cNvPr id="23" name="Text 21"/>
          <p:cNvSpPr/>
          <p:nvPr/>
        </p:nvSpPr>
        <p:spPr>
          <a:xfrm>
            <a:off x="731520" y="4626864"/>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IEEE Access</a:t>
            </a:r>
            <a:endParaRPr lang="en-US" sz="950" dirty="0"/>
          </a:p>
        </p:txBody>
      </p:sp>
      <p:sp>
        <p:nvSpPr>
          <p:cNvPr id="24" name="Shape 22"/>
          <p:cNvSpPr/>
          <p:nvPr/>
        </p:nvSpPr>
        <p:spPr>
          <a:xfrm>
            <a:off x="6080760" y="3849624"/>
            <a:ext cx="5349240" cy="1005840"/>
          </a:xfrm>
          <a:prstGeom prst="roundRect">
            <a:avLst>
              <a:gd name="adj" fmla="val 5455"/>
            </a:avLst>
          </a:prstGeom>
          <a:solidFill>
            <a:srgbClr val="F5F6FA"/>
          </a:solidFill>
          <a:ln/>
        </p:spPr>
      </p:sp>
      <p:sp>
        <p:nvSpPr>
          <p:cNvPr id="25" name="Text 23"/>
          <p:cNvSpPr/>
          <p:nvPr/>
        </p:nvSpPr>
        <p:spPr>
          <a:xfrm>
            <a:off x="6263640" y="3922776"/>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Fang et al. (2019)</a:t>
            </a:r>
            <a:endParaRPr lang="en-US" sz="1200" dirty="0"/>
          </a:p>
        </p:txBody>
      </p:sp>
      <p:sp>
        <p:nvSpPr>
          <p:cNvPr id="26" name="Text 24"/>
          <p:cNvSpPr/>
          <p:nvPr/>
        </p:nvSpPr>
        <p:spPr>
          <a:xfrm>
            <a:off x="6263640" y="4197096"/>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Phishing Email Detection using Improved RCNN + Attention</a:t>
            </a:r>
            <a:endParaRPr lang="en-US" sz="1150" dirty="0"/>
          </a:p>
        </p:txBody>
      </p:sp>
      <p:sp>
        <p:nvSpPr>
          <p:cNvPr id="27" name="Text 25"/>
          <p:cNvSpPr/>
          <p:nvPr/>
        </p:nvSpPr>
        <p:spPr>
          <a:xfrm>
            <a:off x="6263640" y="4626864"/>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IEEE Access</a:t>
            </a:r>
            <a:endParaRPr lang="en-US" sz="950" dirty="0"/>
          </a:p>
        </p:txBody>
      </p:sp>
      <p:sp>
        <p:nvSpPr>
          <p:cNvPr id="28" name="Shape 26"/>
          <p:cNvSpPr/>
          <p:nvPr/>
        </p:nvSpPr>
        <p:spPr>
          <a:xfrm>
            <a:off x="548640" y="5020056"/>
            <a:ext cx="5349240" cy="1005840"/>
          </a:xfrm>
          <a:prstGeom prst="roundRect">
            <a:avLst>
              <a:gd name="adj" fmla="val 5455"/>
            </a:avLst>
          </a:prstGeom>
          <a:solidFill>
            <a:srgbClr val="F5F6FA"/>
          </a:solidFill>
          <a:ln/>
        </p:spPr>
      </p:sp>
      <p:sp>
        <p:nvSpPr>
          <p:cNvPr id="29" name="Text 27"/>
          <p:cNvSpPr/>
          <p:nvPr/>
        </p:nvSpPr>
        <p:spPr>
          <a:xfrm>
            <a:off x="731520" y="5093208"/>
            <a:ext cx="498348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Alhogail &amp; Alsabih (2021)</a:t>
            </a:r>
            <a:endParaRPr lang="en-US" sz="1200" dirty="0"/>
          </a:p>
        </p:txBody>
      </p:sp>
      <p:sp>
        <p:nvSpPr>
          <p:cNvPr id="30" name="Text 28"/>
          <p:cNvSpPr/>
          <p:nvPr/>
        </p:nvSpPr>
        <p:spPr>
          <a:xfrm>
            <a:off x="731520" y="5367528"/>
            <a:ext cx="49834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Applying ML and NLP to Detect Phishing Email</a:t>
            </a:r>
            <a:endParaRPr lang="en-US" sz="1150" dirty="0"/>
          </a:p>
        </p:txBody>
      </p:sp>
      <p:sp>
        <p:nvSpPr>
          <p:cNvPr id="31" name="Text 29"/>
          <p:cNvSpPr/>
          <p:nvPr/>
        </p:nvSpPr>
        <p:spPr>
          <a:xfrm>
            <a:off x="731520" y="5797296"/>
            <a:ext cx="4983480" cy="228600"/>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Computers &amp; Security</a:t>
            </a:r>
            <a:endParaRPr lang="en-US" sz="950" dirty="0"/>
          </a:p>
        </p:txBody>
      </p:sp>
      <p:sp>
        <p:nvSpPr>
          <p:cNvPr id="32" name="Text 30"/>
          <p:cNvSpPr/>
          <p:nvPr/>
        </p:nvSpPr>
        <p:spPr>
          <a:xfrm>
            <a:off x="548640" y="6263640"/>
            <a:ext cx="10881360" cy="27432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Bibliografía completa en formato APA 7 disponible en el material complementario del grupo.</a:t>
            </a:r>
            <a:endParaRPr lang="en-US" sz="1000" dirty="0"/>
          </a:p>
        </p:txBody>
      </p:sp>
      <p:sp>
        <p:nvSpPr>
          <p:cNvPr id="33" name="Text 31"/>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34" name="Text 32"/>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2EC4B6"/>
                </a:solidFill>
                <a:latin typeface="Calibri" pitchFamily="34" charset="0"/>
                <a:ea typeface="Calibri" pitchFamily="34" charset="-122"/>
                <a:cs typeface="Calibri" pitchFamily="34" charset="-120"/>
              </a:rPr>
              <a:t>SECCIÓN 5 · SIMULACIÓN PRÁCTICA</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Diseño del experimento</a:t>
            </a:r>
            <a:endParaRPr lang="en-US" sz="3000" dirty="0"/>
          </a:p>
        </p:txBody>
      </p:sp>
      <p:sp>
        <p:nvSpPr>
          <p:cNvPr id="4" name="Shape 2"/>
          <p:cNvSpPr/>
          <p:nvPr/>
        </p:nvSpPr>
        <p:spPr>
          <a:xfrm>
            <a:off x="548640" y="1645920"/>
            <a:ext cx="10881360" cy="1051560"/>
          </a:xfrm>
          <a:prstGeom prst="roundRect">
            <a:avLst>
              <a:gd name="adj" fmla="val 6957"/>
            </a:avLst>
          </a:prstGeom>
          <a:solidFill>
            <a:srgbClr val="E63946"/>
          </a:solidFill>
          <a:ln/>
        </p:spPr>
      </p:sp>
      <p:sp>
        <p:nvSpPr>
          <p:cNvPr id="5" name="Text 3"/>
          <p:cNvSpPr/>
          <p:nvPr/>
        </p:nvSpPr>
        <p:spPr>
          <a:xfrm>
            <a:off x="822960" y="1645920"/>
            <a:ext cx="10332720" cy="105156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 categorías de clasificación:  Neutral · Ciberacoso · Discurso de odio · Phishing</a:t>
            </a:r>
            <a:endParaRPr lang="en-US" sz="2000" dirty="0"/>
          </a:p>
        </p:txBody>
      </p:sp>
      <p:sp>
        <p:nvSpPr>
          <p:cNvPr id="6" name="Shape 4"/>
          <p:cNvSpPr/>
          <p:nvPr/>
        </p:nvSpPr>
        <p:spPr>
          <a:xfrm>
            <a:off x="548640" y="2971800"/>
            <a:ext cx="3502152" cy="1737360"/>
          </a:xfrm>
          <a:prstGeom prst="roundRect">
            <a:avLst>
              <a:gd name="adj" fmla="val 4211"/>
            </a:avLst>
          </a:prstGeom>
          <a:solidFill>
            <a:srgbClr val="3B4270"/>
          </a:solidFill>
          <a:ln/>
        </p:spPr>
      </p:sp>
      <p:sp>
        <p:nvSpPr>
          <p:cNvPr id="7" name="Shape 5"/>
          <p:cNvSpPr/>
          <p:nvPr/>
        </p:nvSpPr>
        <p:spPr>
          <a:xfrm>
            <a:off x="777240" y="3200400"/>
            <a:ext cx="640080" cy="640080"/>
          </a:xfrm>
          <a:prstGeom prst="ellipse">
            <a:avLst/>
          </a:prstGeom>
          <a:solidFill>
            <a:srgbClr val="2EC4B6"/>
          </a:solidFill>
          <a:ln/>
        </p:spPr>
      </p:sp>
      <p:pic>
        <p:nvPicPr>
          <p:cNvPr id="8" name="Image 0" descr="preencoded.png"/>
          <p:cNvPicPr>
            <a:picLocks noChangeAspect="1"/>
          </p:cNvPicPr>
          <p:nvPr/>
        </p:nvPicPr>
        <p:blipFill>
          <a:blip r:embed="rId3"/>
          <a:stretch>
            <a:fillRect/>
          </a:stretch>
        </p:blipFill>
        <p:spPr>
          <a:xfrm>
            <a:off x="860450" y="3283610"/>
            <a:ext cx="473659" cy="473659"/>
          </a:xfrm>
          <a:prstGeom prst="rect">
            <a:avLst/>
          </a:prstGeom>
        </p:spPr>
      </p:pic>
      <p:sp>
        <p:nvSpPr>
          <p:cNvPr id="9" name="Text 6"/>
          <p:cNvSpPr/>
          <p:nvPr/>
        </p:nvSpPr>
        <p:spPr>
          <a:xfrm>
            <a:off x="777240" y="3931920"/>
            <a:ext cx="3044952" cy="4572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160</a:t>
            </a:r>
            <a:endParaRPr lang="en-US" sz="2600" dirty="0"/>
          </a:p>
        </p:txBody>
      </p:sp>
      <p:sp>
        <p:nvSpPr>
          <p:cNvPr id="10" name="Text 7"/>
          <p:cNvSpPr/>
          <p:nvPr/>
        </p:nvSpPr>
        <p:spPr>
          <a:xfrm>
            <a:off x="777240" y="4370832"/>
            <a:ext cx="3044952" cy="320040"/>
          </a:xfrm>
          <a:prstGeom prst="rect">
            <a:avLst/>
          </a:prstGeom>
          <a:noFill/>
          <a:ln/>
        </p:spPr>
        <p:txBody>
          <a:bodyPr wrap="square" rtlCol="0" anchor="ctr"/>
          <a:lstStyle/>
          <a:p>
            <a:pPr marL="0" indent="0">
              <a:buNone/>
            </a:pPr>
            <a:r>
              <a:rPr lang="en-US" sz="1050" dirty="0">
                <a:solidFill>
                  <a:srgbClr val="C7CCE8"/>
                </a:solidFill>
                <a:latin typeface="Calibri" pitchFamily="34" charset="0"/>
                <a:ea typeface="Calibri" pitchFamily="34" charset="-122"/>
                <a:cs typeface="Calibri" pitchFamily="34" charset="-120"/>
              </a:rPr>
              <a:t>mensajes en el corpus (40 por clase), etiquetados manualmente</a:t>
            </a:r>
            <a:endParaRPr lang="en-US" sz="1050" dirty="0"/>
          </a:p>
        </p:txBody>
      </p:sp>
      <p:sp>
        <p:nvSpPr>
          <p:cNvPr id="11" name="Shape 8"/>
          <p:cNvSpPr/>
          <p:nvPr/>
        </p:nvSpPr>
        <p:spPr>
          <a:xfrm>
            <a:off x="4233672" y="2971800"/>
            <a:ext cx="3502152" cy="1737360"/>
          </a:xfrm>
          <a:prstGeom prst="roundRect">
            <a:avLst>
              <a:gd name="adj" fmla="val 4211"/>
            </a:avLst>
          </a:prstGeom>
          <a:solidFill>
            <a:srgbClr val="3B4270"/>
          </a:solidFill>
          <a:ln/>
        </p:spPr>
      </p:sp>
      <p:sp>
        <p:nvSpPr>
          <p:cNvPr id="12" name="Shape 9"/>
          <p:cNvSpPr/>
          <p:nvPr/>
        </p:nvSpPr>
        <p:spPr>
          <a:xfrm>
            <a:off x="4462272" y="3200400"/>
            <a:ext cx="640080" cy="640080"/>
          </a:xfrm>
          <a:prstGeom prst="ellipse">
            <a:avLst/>
          </a:prstGeom>
          <a:solidFill>
            <a:srgbClr val="2EC4B6"/>
          </a:solidFill>
          <a:ln/>
        </p:spPr>
      </p:sp>
      <p:pic>
        <p:nvPicPr>
          <p:cNvPr id="13" name="Image 1" descr="preencoded.png"/>
          <p:cNvPicPr>
            <a:picLocks noChangeAspect="1"/>
          </p:cNvPicPr>
          <p:nvPr/>
        </p:nvPicPr>
        <p:blipFill>
          <a:blip r:embed="rId4"/>
          <a:stretch>
            <a:fillRect/>
          </a:stretch>
        </p:blipFill>
        <p:spPr>
          <a:xfrm>
            <a:off x="4545482" y="3283610"/>
            <a:ext cx="473659" cy="473659"/>
          </a:xfrm>
          <a:prstGeom prst="rect">
            <a:avLst/>
          </a:prstGeom>
        </p:spPr>
      </p:pic>
      <p:sp>
        <p:nvSpPr>
          <p:cNvPr id="14" name="Text 10"/>
          <p:cNvSpPr/>
          <p:nvPr/>
        </p:nvSpPr>
        <p:spPr>
          <a:xfrm>
            <a:off x="4462272" y="3931920"/>
            <a:ext cx="3044952" cy="4572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1,405</a:t>
            </a:r>
            <a:endParaRPr lang="en-US" sz="2600" dirty="0"/>
          </a:p>
        </p:txBody>
      </p:sp>
      <p:sp>
        <p:nvSpPr>
          <p:cNvPr id="15" name="Text 11"/>
          <p:cNvSpPr/>
          <p:nvPr/>
        </p:nvSpPr>
        <p:spPr>
          <a:xfrm>
            <a:off x="4462272" y="4370832"/>
            <a:ext cx="3044952" cy="320040"/>
          </a:xfrm>
          <a:prstGeom prst="rect">
            <a:avLst/>
          </a:prstGeom>
          <a:noFill/>
          <a:ln/>
        </p:spPr>
        <p:txBody>
          <a:bodyPr wrap="square" rtlCol="0" anchor="ctr"/>
          <a:lstStyle/>
          <a:p>
            <a:pPr marL="0" indent="0">
              <a:buNone/>
            </a:pPr>
            <a:r>
              <a:rPr lang="en-US" sz="1050" dirty="0">
                <a:solidFill>
                  <a:srgbClr val="C7CCE8"/>
                </a:solidFill>
                <a:latin typeface="Calibri" pitchFamily="34" charset="0"/>
                <a:ea typeface="Calibri" pitchFamily="34" charset="-122"/>
                <a:cs typeface="Calibri" pitchFamily="34" charset="-120"/>
              </a:rPr>
              <a:t>términos únicos tras vectorización TF-IDF (unigramas + bigramas)</a:t>
            </a:r>
            <a:endParaRPr lang="en-US" sz="1050" dirty="0"/>
          </a:p>
        </p:txBody>
      </p:sp>
      <p:sp>
        <p:nvSpPr>
          <p:cNvPr id="16" name="Shape 12"/>
          <p:cNvSpPr/>
          <p:nvPr/>
        </p:nvSpPr>
        <p:spPr>
          <a:xfrm>
            <a:off x="7918704" y="2971800"/>
            <a:ext cx="3502152" cy="1737360"/>
          </a:xfrm>
          <a:prstGeom prst="roundRect">
            <a:avLst>
              <a:gd name="adj" fmla="val 4211"/>
            </a:avLst>
          </a:prstGeom>
          <a:solidFill>
            <a:srgbClr val="3B4270"/>
          </a:solidFill>
          <a:ln/>
        </p:spPr>
      </p:sp>
      <p:sp>
        <p:nvSpPr>
          <p:cNvPr id="17" name="Shape 13"/>
          <p:cNvSpPr/>
          <p:nvPr/>
        </p:nvSpPr>
        <p:spPr>
          <a:xfrm>
            <a:off x="8147304" y="3200400"/>
            <a:ext cx="640080" cy="640080"/>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8230514" y="3283610"/>
            <a:ext cx="473659" cy="473659"/>
          </a:xfrm>
          <a:prstGeom prst="rect">
            <a:avLst/>
          </a:prstGeom>
        </p:spPr>
      </p:pic>
      <p:sp>
        <p:nvSpPr>
          <p:cNvPr id="19" name="Text 14"/>
          <p:cNvSpPr/>
          <p:nvPr/>
        </p:nvSpPr>
        <p:spPr>
          <a:xfrm>
            <a:off x="8147304" y="3931920"/>
            <a:ext cx="3044952" cy="4572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20" name="Text 15"/>
          <p:cNvSpPr/>
          <p:nvPr/>
        </p:nvSpPr>
        <p:spPr>
          <a:xfrm>
            <a:off x="8147304" y="4370832"/>
            <a:ext cx="3044952" cy="320040"/>
          </a:xfrm>
          <a:prstGeom prst="rect">
            <a:avLst/>
          </a:prstGeom>
          <a:noFill/>
          <a:ln/>
        </p:spPr>
        <p:txBody>
          <a:bodyPr wrap="square" rtlCol="0" anchor="ctr"/>
          <a:lstStyle/>
          <a:p>
            <a:pPr marL="0" indent="0">
              <a:buNone/>
            </a:pPr>
            <a:r>
              <a:rPr lang="en-US" sz="1050" dirty="0">
                <a:solidFill>
                  <a:srgbClr val="C7CCE8"/>
                </a:solidFill>
                <a:latin typeface="Calibri" pitchFamily="34" charset="0"/>
                <a:ea typeface="Calibri" pitchFamily="34" charset="-122"/>
                <a:cs typeface="Calibri" pitchFamily="34" charset="-120"/>
              </a:rPr>
              <a:t>modelos comparados: Regresión Logística, SVM lineal, Random Forest</a:t>
            </a:r>
            <a:endParaRPr lang="en-US" sz="1050" dirty="0"/>
          </a:p>
        </p:txBody>
      </p:sp>
      <p:sp>
        <p:nvSpPr>
          <p:cNvPr id="21" name="Text 16"/>
          <p:cNvSpPr/>
          <p:nvPr/>
        </p:nvSpPr>
        <p:spPr>
          <a:xfrm>
            <a:off x="548640" y="5029200"/>
            <a:ext cx="10881360" cy="1005840"/>
          </a:xfrm>
          <a:prstGeom prst="rect">
            <a:avLst/>
          </a:prstGeom>
          <a:noFill/>
          <a:ln/>
        </p:spPr>
        <p:txBody>
          <a:bodyPr wrap="square" rtlCol="0" anchor="ctr"/>
          <a:lstStyle/>
          <a:p>
            <a:pPr marL="0" indent="0">
              <a:lnSpc>
                <a:spcPts val="1800"/>
              </a:lnSpc>
              <a:buNone/>
            </a:pPr>
            <a:r>
              <a:rPr lang="en-US" sz="1250" b="1" dirty="0">
                <a:solidFill>
                  <a:srgbClr val="2EC4B6"/>
                </a:solidFill>
                <a:latin typeface="Calibri" pitchFamily="34" charset="0"/>
                <a:ea typeface="Calibri" pitchFamily="34" charset="-122"/>
                <a:cs typeface="Calibri" pitchFamily="34" charset="-120"/>
              </a:rPr>
              <a:t>Nota metodológica: </a:t>
            </a:r>
            <a:r>
              <a:rPr lang="en-US" sz="1250" dirty="0">
                <a:solidFill>
                  <a:srgbClr val="D8DAF0"/>
                </a:solidFill>
                <a:latin typeface="Calibri" pitchFamily="34" charset="0"/>
                <a:ea typeface="Calibri" pitchFamily="34" charset="-122"/>
                <a:cs typeface="Calibri" pitchFamily="34" charset="-120"/>
              </a:rPr>
              <a:t>se usa un corpus sintético construido por el equipo (no datos reales de personas), siguiendo los patrones lingüísticos documentados en la literatura académica para cada categoría — justificación exigida en la Sección V de la guía del examen.</a:t>
            </a:r>
            <a:endParaRPr lang="en-US" sz="1250" dirty="0"/>
          </a:p>
        </p:txBody>
      </p:sp>
      <p:sp>
        <p:nvSpPr>
          <p:cNvPr id="22" name="Text 17"/>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3"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5 · SIMULACIÓN PRÁCTICA</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Resultados: matriz de confusión</a:t>
            </a:r>
            <a:endParaRPr lang="en-US" sz="2800" dirty="0"/>
          </a:p>
        </p:txBody>
      </p:sp>
      <p:pic>
        <p:nvPicPr>
          <p:cNvPr id="4" name="Image 0" descr="../simulacion/matriz_confusion.png"/>
          <p:cNvPicPr>
            <a:picLocks noChangeAspect="1"/>
          </p:cNvPicPr>
          <p:nvPr/>
        </p:nvPicPr>
        <p:blipFill>
          <a:blip r:embed="rId3"/>
          <a:srcRect/>
          <a:stretch/>
        </p:blipFill>
        <p:spPr>
          <a:xfrm>
            <a:off x="3246120" y="1463040"/>
            <a:ext cx="5669280" cy="4727448"/>
          </a:xfrm>
          <a:prstGeom prst="rect">
            <a:avLst/>
          </a:prstGeom>
        </p:spPr>
      </p:pic>
      <p:sp>
        <p:nvSpPr>
          <p:cNvPr id="5" name="Shape 2"/>
          <p:cNvSpPr/>
          <p:nvPr/>
        </p:nvSpPr>
        <p:spPr>
          <a:xfrm>
            <a:off x="457200" y="1828800"/>
            <a:ext cx="2606040" cy="1005840"/>
          </a:xfrm>
          <a:prstGeom prst="roundRect">
            <a:avLst>
              <a:gd name="adj" fmla="val 5455"/>
            </a:avLst>
          </a:prstGeom>
          <a:solidFill>
            <a:srgbClr val="F5F6FA"/>
          </a:solidFill>
          <a:ln/>
        </p:spPr>
      </p:sp>
      <p:sp>
        <p:nvSpPr>
          <p:cNvPr id="6" name="Text 3"/>
          <p:cNvSpPr/>
          <p:nvPr/>
        </p:nvSpPr>
        <p:spPr>
          <a:xfrm>
            <a:off x="640080" y="1920240"/>
            <a:ext cx="2240280" cy="822960"/>
          </a:xfrm>
          <a:prstGeom prst="rect">
            <a:avLst/>
          </a:prstGeom>
          <a:noFill/>
          <a:ln/>
        </p:spPr>
        <p:txBody>
          <a:bodyPr wrap="square" rtlCol="0" anchor="ctr"/>
          <a:lstStyle/>
          <a:p>
            <a:pPr marL="0" indent="0">
              <a:buNone/>
            </a:pPr>
            <a:r>
              <a:rPr lang="en-US" sz="2600" b="1" dirty="0">
                <a:solidFill>
                  <a:srgbClr val="1B1F3B"/>
                </a:solidFill>
                <a:latin typeface="Calibri" pitchFamily="34" charset="0"/>
                <a:ea typeface="Calibri" pitchFamily="34" charset="-122"/>
                <a:cs typeface="Calibri" pitchFamily="34" charset="-120"/>
              </a:rPr>
              <a:t>95%
</a:t>
            </a:r>
            <a:endParaRPr lang="en-US" sz="2600" dirty="0"/>
          </a:p>
          <a:p>
            <a:pPr marL="0" indent="0">
              <a:buNone/>
            </a:pPr>
            <a:r>
              <a:rPr lang="en-US" sz="1050" dirty="0">
                <a:solidFill>
                  <a:srgbClr val="6B7280"/>
                </a:solidFill>
                <a:latin typeface="Calibri" pitchFamily="34" charset="0"/>
                <a:ea typeface="Calibri" pitchFamily="34" charset="-122"/>
                <a:cs typeface="Calibri" pitchFamily="34" charset="-120"/>
              </a:rPr>
              <a:t>Accuracy (Regresión Logística)</a:t>
            </a:r>
            <a:endParaRPr lang="en-US" sz="2600" dirty="0"/>
          </a:p>
        </p:txBody>
      </p:sp>
      <p:sp>
        <p:nvSpPr>
          <p:cNvPr id="7" name="Shape 4"/>
          <p:cNvSpPr/>
          <p:nvPr/>
        </p:nvSpPr>
        <p:spPr>
          <a:xfrm>
            <a:off x="457200" y="3017520"/>
            <a:ext cx="2606040" cy="1005840"/>
          </a:xfrm>
          <a:prstGeom prst="roundRect">
            <a:avLst>
              <a:gd name="adj" fmla="val 5455"/>
            </a:avLst>
          </a:prstGeom>
          <a:solidFill>
            <a:srgbClr val="F5F6FA"/>
          </a:solidFill>
          <a:ln/>
        </p:spPr>
      </p:sp>
      <p:sp>
        <p:nvSpPr>
          <p:cNvPr id="8" name="Text 5"/>
          <p:cNvSpPr/>
          <p:nvPr/>
        </p:nvSpPr>
        <p:spPr>
          <a:xfrm>
            <a:off x="640080" y="3108960"/>
            <a:ext cx="2240280" cy="822960"/>
          </a:xfrm>
          <a:prstGeom prst="rect">
            <a:avLst/>
          </a:prstGeom>
          <a:noFill/>
          <a:ln/>
        </p:spPr>
        <p:txBody>
          <a:bodyPr wrap="square" rtlCol="0" anchor="ctr"/>
          <a:lstStyle/>
          <a:p>
            <a:pPr marL="0" indent="0">
              <a:buNone/>
            </a:pPr>
            <a:r>
              <a:rPr lang="en-US" sz="2600" b="1" dirty="0">
                <a:solidFill>
                  <a:srgbClr val="1B1F3B"/>
                </a:solidFill>
                <a:latin typeface="Calibri" pitchFamily="34" charset="0"/>
                <a:ea typeface="Calibri" pitchFamily="34" charset="-122"/>
                <a:cs typeface="Calibri" pitchFamily="34" charset="-120"/>
              </a:rPr>
              <a:t>0.95
</a:t>
            </a:r>
            <a:endParaRPr lang="en-US" sz="2600" dirty="0"/>
          </a:p>
          <a:p>
            <a:pPr marL="0" indent="0">
              <a:buNone/>
            </a:pPr>
            <a:r>
              <a:rPr lang="en-US" sz="1050" dirty="0">
                <a:solidFill>
                  <a:srgbClr val="6B7280"/>
                </a:solidFill>
                <a:latin typeface="Calibri" pitchFamily="34" charset="0"/>
                <a:ea typeface="Calibri" pitchFamily="34" charset="-122"/>
                <a:cs typeface="Calibri" pitchFamily="34" charset="-120"/>
              </a:rPr>
              <a:t>F1-score macro promedio</a:t>
            </a:r>
            <a:endParaRPr lang="en-US" sz="2600" dirty="0"/>
          </a:p>
        </p:txBody>
      </p:sp>
      <p:sp>
        <p:nvSpPr>
          <p:cNvPr id="9" name="Shape 6"/>
          <p:cNvSpPr/>
          <p:nvPr/>
        </p:nvSpPr>
        <p:spPr>
          <a:xfrm>
            <a:off x="457200" y="4206240"/>
            <a:ext cx="2606040" cy="1463040"/>
          </a:xfrm>
          <a:prstGeom prst="roundRect">
            <a:avLst>
              <a:gd name="adj" fmla="val 3750"/>
            </a:avLst>
          </a:prstGeom>
          <a:solidFill>
            <a:srgbClr val="E63946"/>
          </a:solidFill>
          <a:ln/>
        </p:spPr>
      </p:sp>
      <p:sp>
        <p:nvSpPr>
          <p:cNvPr id="10" name="Text 7"/>
          <p:cNvSpPr/>
          <p:nvPr/>
        </p:nvSpPr>
        <p:spPr>
          <a:xfrm>
            <a:off x="640080" y="4343400"/>
            <a:ext cx="2240280" cy="11887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Único error:
</a:t>
            </a:r>
            <a:endParaRPr lang="en-US" sz="1200" dirty="0"/>
          </a:p>
          <a:p>
            <a:pPr marL="0" indent="0">
              <a:buNone/>
            </a:pPr>
            <a:r>
              <a:rPr lang="en-US" sz="1050" dirty="0">
                <a:solidFill>
                  <a:srgbClr val="FFE5E7"/>
                </a:solidFill>
                <a:latin typeface="Calibri" pitchFamily="34" charset="0"/>
                <a:ea typeface="Calibri" pitchFamily="34" charset="-122"/>
                <a:cs typeface="Calibri" pitchFamily="34" charset="-120"/>
              </a:rPr>
              <a:t>2 de 10 casos de Ciberacoso confundidos con Neutral (matices sutiles de tono)</a:t>
            </a:r>
            <a:endParaRPr lang="en-US" sz="1200" dirty="0"/>
          </a:p>
        </p:txBody>
      </p:sp>
      <p:sp>
        <p:nvSpPr>
          <p:cNvPr id="11" name="Text 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12"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5 · SIMULACIÓN PRÁCTICA</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Comparación de clasificadores</a:t>
            </a:r>
            <a:endParaRPr lang="en-US" sz="2800" dirty="0"/>
          </a:p>
        </p:txBody>
      </p:sp>
      <p:pic>
        <p:nvPicPr>
          <p:cNvPr id="4" name="Image 0" descr="../simulacion/comparacion_modelos.png"/>
          <p:cNvPicPr>
            <a:picLocks noChangeAspect="1"/>
          </p:cNvPicPr>
          <p:nvPr/>
        </p:nvPicPr>
        <p:blipFill>
          <a:blip r:embed="rId3"/>
          <a:srcRect/>
          <a:stretch/>
        </p:blipFill>
        <p:spPr>
          <a:xfrm>
            <a:off x="548640" y="1463040"/>
            <a:ext cx="6035040" cy="4480560"/>
          </a:xfrm>
          <a:prstGeom prst="rect">
            <a:avLst/>
          </a:prstGeom>
        </p:spPr>
      </p:pic>
      <p:sp>
        <p:nvSpPr>
          <p:cNvPr id="5" name="Shape 2"/>
          <p:cNvSpPr/>
          <p:nvPr/>
        </p:nvSpPr>
        <p:spPr>
          <a:xfrm>
            <a:off x="6858000" y="1463040"/>
            <a:ext cx="4572000" cy="4480560"/>
          </a:xfrm>
          <a:prstGeom prst="roundRect">
            <a:avLst>
              <a:gd name="adj" fmla="val 1633"/>
            </a:avLst>
          </a:prstGeom>
          <a:solidFill>
            <a:srgbClr val="FFFFFF"/>
          </a:solidFill>
          <a:ln w="12700">
            <a:solidFill>
              <a:srgbClr val="E2E4F0"/>
            </a:solidFill>
            <a:prstDash val="solid"/>
          </a:ln>
        </p:spPr>
      </p:sp>
      <p:sp>
        <p:nvSpPr>
          <p:cNvPr id="6" name="Text 3"/>
          <p:cNvSpPr/>
          <p:nvPr/>
        </p:nvSpPr>
        <p:spPr>
          <a:xfrm>
            <a:off x="7132320" y="1691640"/>
            <a:ext cx="4023360" cy="36576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Lectura de resultados</a:t>
            </a:r>
            <a:endParaRPr lang="en-US" sz="1500" dirty="0"/>
          </a:p>
        </p:txBody>
      </p:sp>
      <p:sp>
        <p:nvSpPr>
          <p:cNvPr id="7" name="Text 4"/>
          <p:cNvSpPr/>
          <p:nvPr/>
        </p:nvSpPr>
        <p:spPr>
          <a:xfrm>
            <a:off x="7132320" y="2148840"/>
            <a:ext cx="4023360" cy="3657600"/>
          </a:xfrm>
          <a:prstGeom prst="rect">
            <a:avLst/>
          </a:prstGeom>
          <a:noFill/>
          <a:ln/>
        </p:spPr>
        <p:txBody>
          <a:bodyPr wrap="square" rtlCol="0" anchor="ctr"/>
          <a:lstStyle/>
          <a:p>
            <a:pPr marL="0" indent="0">
              <a:lnSpc>
                <a:spcPts val="1700"/>
              </a:lnSpc>
              <a:buNone/>
            </a:pPr>
            <a:r>
              <a:rPr lang="en-US" sz="1200" dirty="0">
                <a:solidFill>
                  <a:srgbClr val="6B7280"/>
                </a:solidFill>
                <a:latin typeface="Calibri" pitchFamily="34" charset="0"/>
                <a:ea typeface="Calibri" pitchFamily="34" charset="-122"/>
                <a:cs typeface="Calibri" pitchFamily="34" charset="-120"/>
              </a:rPr>
              <a:t>• Regresión Logística y SVM lineal empatan (F1=0.95): ambos manejan bien espacios TF-IDF de alta dimensión.
</a:t>
            </a:r>
            <a:endParaRPr lang="en-US" sz="1200" dirty="0"/>
          </a:p>
          <a:p>
            <a:pPr marL="0" indent="0">
              <a:lnSpc>
                <a:spcPts val="1700"/>
              </a:lnSpc>
              <a:buNone/>
            </a:pPr>
            <a:r>
              <a:rPr lang="en-US" sz="1200" dirty="0">
                <a:solidFill>
                  <a:srgbClr val="6B7280"/>
                </a:solidFill>
                <a:latin typeface="Calibri" pitchFamily="34" charset="0"/>
                <a:ea typeface="Calibri" pitchFamily="34" charset="-122"/>
                <a:cs typeface="Calibri" pitchFamily="34" charset="-120"/>
              </a:rPr>
              <a:t>• Random Forest queda algo por debajo (F1=0.93): con vocabularios dispersos, los árboles particionan peor que los modelos lineales.
</a:t>
            </a:r>
            <a:endParaRPr lang="en-US" sz="1200" dirty="0"/>
          </a:p>
          <a:p>
            <a:pPr marL="0" indent="0">
              <a:lnSpc>
                <a:spcPts val="1700"/>
              </a:lnSpc>
              <a:buNone/>
            </a:pPr>
            <a:r>
              <a:rPr lang="en-US" sz="1200" dirty="0">
                <a:solidFill>
                  <a:srgbClr val="6B7280"/>
                </a:solidFill>
                <a:latin typeface="Calibri" pitchFamily="34" charset="0"/>
                <a:ea typeface="Calibri" pitchFamily="34" charset="-122"/>
                <a:cs typeface="Calibri" pitchFamily="34" charset="-120"/>
              </a:rPr>
              <a:t>• Se eligió Regresión Logística como modelo final por su balance entre desempeño e interpretabilidad (coeficientes por término).</a:t>
            </a:r>
            <a:endParaRPr lang="en-US" sz="1200" dirty="0"/>
          </a:p>
        </p:txBody>
      </p:sp>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9" name="Text 6"/>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2EC4B6"/>
                </a:solidFill>
                <a:latin typeface="Calibri" pitchFamily="34" charset="0"/>
                <a:ea typeface="Calibri" pitchFamily="34" charset="-122"/>
                <a:cs typeface="Calibri" pitchFamily="34" charset="-120"/>
              </a:rPr>
              <a:t>SECCIÓN 5 · SIMULACIÓN PRÁCTICA</a:t>
            </a:r>
            <a:endParaRPr lang="en-US" sz="1200" dirty="0"/>
          </a:p>
        </p:txBody>
      </p:sp>
      <p:sp>
        <p:nvSpPr>
          <p:cNvPr id="3" name="Text 1"/>
          <p:cNvSpPr/>
          <p:nvPr/>
        </p:nvSpPr>
        <p:spPr>
          <a:xfrm>
            <a:off x="548640" y="685800"/>
            <a:ext cx="10698480" cy="64008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Demostración en vivo: mensajes nunca vistos</a:t>
            </a:r>
            <a:endParaRPr lang="en-US" sz="2700" dirty="0"/>
          </a:p>
        </p:txBody>
      </p:sp>
      <p:sp>
        <p:nvSpPr>
          <p:cNvPr id="4" name="Shape 2"/>
          <p:cNvSpPr/>
          <p:nvPr/>
        </p:nvSpPr>
        <p:spPr>
          <a:xfrm>
            <a:off x="548640" y="1600200"/>
            <a:ext cx="8138160" cy="914400"/>
          </a:xfrm>
          <a:prstGeom prst="roundRect">
            <a:avLst>
              <a:gd name="adj" fmla="val 6000"/>
            </a:avLst>
          </a:prstGeom>
          <a:solidFill>
            <a:srgbClr val="3B4270"/>
          </a:solidFill>
          <a:ln/>
        </p:spPr>
      </p:sp>
      <p:sp>
        <p:nvSpPr>
          <p:cNvPr id="5" name="Text 3"/>
          <p:cNvSpPr/>
          <p:nvPr/>
        </p:nvSpPr>
        <p:spPr>
          <a:xfrm>
            <a:off x="777240" y="1600200"/>
            <a:ext cx="7680960" cy="91440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"Buenas tardes, ¿me pueden confirmar la hora del examen final?"</a:t>
            </a:r>
            <a:endParaRPr lang="en-US" sz="1300" dirty="0"/>
          </a:p>
        </p:txBody>
      </p:sp>
      <p:sp>
        <p:nvSpPr>
          <p:cNvPr id="6" name="Shape 4"/>
          <p:cNvSpPr/>
          <p:nvPr/>
        </p:nvSpPr>
        <p:spPr>
          <a:xfrm>
            <a:off x="8869680" y="1600200"/>
            <a:ext cx="2606040" cy="914400"/>
          </a:xfrm>
          <a:prstGeom prst="roundRect">
            <a:avLst>
              <a:gd name="adj" fmla="val 6000"/>
            </a:avLst>
          </a:prstGeom>
          <a:solidFill>
            <a:srgbClr val="2EC4B6"/>
          </a:solidFill>
          <a:ln/>
        </p:spPr>
      </p:sp>
      <p:sp>
        <p:nvSpPr>
          <p:cNvPr id="7" name="Text 5"/>
          <p:cNvSpPr/>
          <p:nvPr/>
        </p:nvSpPr>
        <p:spPr>
          <a:xfrm>
            <a:off x="8869680" y="1600200"/>
            <a:ext cx="26060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Neutral</a:t>
            </a:r>
            <a:endParaRPr lang="en-US" sz="1300" dirty="0"/>
          </a:p>
        </p:txBody>
      </p:sp>
      <p:sp>
        <p:nvSpPr>
          <p:cNvPr id="8" name="Shape 6"/>
          <p:cNvSpPr/>
          <p:nvPr/>
        </p:nvSpPr>
        <p:spPr>
          <a:xfrm>
            <a:off x="548640" y="2697480"/>
            <a:ext cx="8138160" cy="914400"/>
          </a:xfrm>
          <a:prstGeom prst="roundRect">
            <a:avLst>
              <a:gd name="adj" fmla="val 6000"/>
            </a:avLst>
          </a:prstGeom>
          <a:solidFill>
            <a:srgbClr val="3B4270"/>
          </a:solidFill>
          <a:ln/>
        </p:spPr>
      </p:sp>
      <p:sp>
        <p:nvSpPr>
          <p:cNvPr id="9" name="Text 7"/>
          <p:cNvSpPr/>
          <p:nvPr/>
        </p:nvSpPr>
        <p:spPr>
          <a:xfrm>
            <a:off x="777240" y="2697480"/>
            <a:ext cx="7680960" cy="91440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"Eres un fracaso, todos en el salón se burlan de ti a diario."</a:t>
            </a:r>
            <a:endParaRPr lang="en-US" sz="1300" dirty="0"/>
          </a:p>
        </p:txBody>
      </p:sp>
      <p:sp>
        <p:nvSpPr>
          <p:cNvPr id="10" name="Shape 8"/>
          <p:cNvSpPr/>
          <p:nvPr/>
        </p:nvSpPr>
        <p:spPr>
          <a:xfrm>
            <a:off x="8869680" y="2697480"/>
            <a:ext cx="2606040" cy="914400"/>
          </a:xfrm>
          <a:prstGeom prst="roundRect">
            <a:avLst>
              <a:gd name="adj" fmla="val 6000"/>
            </a:avLst>
          </a:prstGeom>
          <a:solidFill>
            <a:srgbClr val="F4A261"/>
          </a:solidFill>
          <a:ln/>
        </p:spPr>
      </p:sp>
      <p:sp>
        <p:nvSpPr>
          <p:cNvPr id="11" name="Text 9"/>
          <p:cNvSpPr/>
          <p:nvPr/>
        </p:nvSpPr>
        <p:spPr>
          <a:xfrm>
            <a:off x="8869680" y="2697480"/>
            <a:ext cx="26060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Ciberacoso</a:t>
            </a:r>
            <a:endParaRPr lang="en-US" sz="1300" dirty="0"/>
          </a:p>
        </p:txBody>
      </p:sp>
      <p:sp>
        <p:nvSpPr>
          <p:cNvPr id="12" name="Shape 10"/>
          <p:cNvSpPr/>
          <p:nvPr/>
        </p:nvSpPr>
        <p:spPr>
          <a:xfrm>
            <a:off x="548640" y="3794760"/>
            <a:ext cx="8138160" cy="914400"/>
          </a:xfrm>
          <a:prstGeom prst="roundRect">
            <a:avLst>
              <a:gd name="adj" fmla="val 6000"/>
            </a:avLst>
          </a:prstGeom>
          <a:solidFill>
            <a:srgbClr val="3B4270"/>
          </a:solidFill>
          <a:ln/>
        </p:spPr>
      </p:sp>
      <p:sp>
        <p:nvSpPr>
          <p:cNvPr id="13" name="Text 11"/>
          <p:cNvSpPr/>
          <p:nvPr/>
        </p:nvSpPr>
        <p:spPr>
          <a:xfrm>
            <a:off x="777240" y="3794760"/>
            <a:ext cx="7680960" cy="91440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"Esa gente de ese país no debería tener los mismos derechos."</a:t>
            </a:r>
            <a:endParaRPr lang="en-US" sz="1300" dirty="0"/>
          </a:p>
        </p:txBody>
      </p:sp>
      <p:sp>
        <p:nvSpPr>
          <p:cNvPr id="14" name="Shape 12"/>
          <p:cNvSpPr/>
          <p:nvPr/>
        </p:nvSpPr>
        <p:spPr>
          <a:xfrm>
            <a:off x="8869680" y="3794760"/>
            <a:ext cx="2606040" cy="914400"/>
          </a:xfrm>
          <a:prstGeom prst="roundRect">
            <a:avLst>
              <a:gd name="adj" fmla="val 6000"/>
            </a:avLst>
          </a:prstGeom>
          <a:solidFill>
            <a:srgbClr val="E63946"/>
          </a:solidFill>
          <a:ln/>
        </p:spPr>
      </p:sp>
      <p:sp>
        <p:nvSpPr>
          <p:cNvPr id="15" name="Text 13"/>
          <p:cNvSpPr/>
          <p:nvPr/>
        </p:nvSpPr>
        <p:spPr>
          <a:xfrm>
            <a:off x="8869680" y="3794760"/>
            <a:ext cx="26060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Discurso de odio</a:t>
            </a:r>
            <a:endParaRPr lang="en-US" sz="1300" dirty="0"/>
          </a:p>
        </p:txBody>
      </p:sp>
      <p:sp>
        <p:nvSpPr>
          <p:cNvPr id="16" name="Shape 14"/>
          <p:cNvSpPr/>
          <p:nvPr/>
        </p:nvSpPr>
        <p:spPr>
          <a:xfrm>
            <a:off x="548640" y="4892040"/>
            <a:ext cx="8138160" cy="914400"/>
          </a:xfrm>
          <a:prstGeom prst="roundRect">
            <a:avLst>
              <a:gd name="adj" fmla="val 6000"/>
            </a:avLst>
          </a:prstGeom>
          <a:solidFill>
            <a:srgbClr val="3B4270"/>
          </a:solidFill>
          <a:ln/>
        </p:spPr>
      </p:sp>
      <p:sp>
        <p:nvSpPr>
          <p:cNvPr id="17" name="Text 15"/>
          <p:cNvSpPr/>
          <p:nvPr/>
        </p:nvSpPr>
        <p:spPr>
          <a:xfrm>
            <a:off x="777240" y="4892040"/>
            <a:ext cx="7680960" cy="914400"/>
          </a:xfrm>
          <a:prstGeom prst="rect">
            <a:avLst/>
          </a:prstGeom>
          <a:noFill/>
          <a:ln/>
        </p:spPr>
        <p:txBody>
          <a:bodyPr wrap="square"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"Su cuenta será bloqueada en 1 hora, confirme su contraseña aquí."</a:t>
            </a:r>
            <a:endParaRPr lang="en-US" sz="1300" dirty="0"/>
          </a:p>
        </p:txBody>
      </p:sp>
      <p:sp>
        <p:nvSpPr>
          <p:cNvPr id="18" name="Shape 16"/>
          <p:cNvSpPr/>
          <p:nvPr/>
        </p:nvSpPr>
        <p:spPr>
          <a:xfrm>
            <a:off x="8869680" y="4892040"/>
            <a:ext cx="2606040" cy="914400"/>
          </a:xfrm>
          <a:prstGeom prst="roundRect">
            <a:avLst>
              <a:gd name="adj" fmla="val 6000"/>
            </a:avLst>
          </a:prstGeom>
          <a:solidFill>
            <a:srgbClr val="9D4EDD"/>
          </a:solidFill>
          <a:ln/>
        </p:spPr>
      </p:sp>
      <p:sp>
        <p:nvSpPr>
          <p:cNvPr id="19" name="Text 17"/>
          <p:cNvSpPr/>
          <p:nvPr/>
        </p:nvSpPr>
        <p:spPr>
          <a:xfrm>
            <a:off x="8869680" y="4892040"/>
            <a:ext cx="260604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Phishing</a:t>
            </a:r>
            <a:endParaRPr lang="en-US" sz="1300" dirty="0"/>
          </a:p>
        </p:txBody>
      </p:sp>
      <p:sp>
        <p:nvSpPr>
          <p:cNvPr id="20" name="Text 1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6 · ESTUDIO DE CASO</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Caso Meta / Myanmar (2018)</a:t>
            </a:r>
            <a:endParaRPr lang="en-US" sz="3000" dirty="0"/>
          </a:p>
        </p:txBody>
      </p:sp>
      <p:sp>
        <p:nvSpPr>
          <p:cNvPr id="4" name="Shape 2"/>
          <p:cNvSpPr/>
          <p:nvPr/>
        </p:nvSpPr>
        <p:spPr>
          <a:xfrm>
            <a:off x="548640" y="1554480"/>
            <a:ext cx="10881360" cy="1371600"/>
          </a:xfrm>
          <a:prstGeom prst="roundRect">
            <a:avLst>
              <a:gd name="adj" fmla="val 5333"/>
            </a:avLst>
          </a:prstGeom>
          <a:solidFill>
            <a:srgbClr val="F5F6FA"/>
          </a:solidFill>
          <a:ln/>
        </p:spPr>
      </p:sp>
      <p:sp>
        <p:nvSpPr>
          <p:cNvPr id="5" name="Shape 3"/>
          <p:cNvSpPr/>
          <p:nvPr/>
        </p:nvSpPr>
        <p:spPr>
          <a:xfrm>
            <a:off x="777240" y="1783080"/>
            <a:ext cx="914400" cy="91440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96112" y="1901952"/>
            <a:ext cx="676656" cy="676656"/>
          </a:xfrm>
          <a:prstGeom prst="rect">
            <a:avLst/>
          </a:prstGeom>
        </p:spPr>
      </p:pic>
      <p:sp>
        <p:nvSpPr>
          <p:cNvPr id="7" name="Text 4"/>
          <p:cNvSpPr/>
          <p:nvPr/>
        </p:nvSpPr>
        <p:spPr>
          <a:xfrm>
            <a:off x="1828800" y="1691640"/>
            <a:ext cx="9464040" cy="1143000"/>
          </a:xfrm>
          <a:prstGeom prst="rect">
            <a:avLst/>
          </a:prstGeom>
          <a:noFill/>
          <a:ln/>
        </p:spPr>
        <p:txBody>
          <a:bodyPr wrap="square" rtlCol="0" anchor="ctr"/>
          <a:lstStyle/>
          <a:p>
            <a:pPr marL="0" indent="0">
              <a:lnSpc>
                <a:spcPts val="1700"/>
              </a:lnSpc>
              <a:buNone/>
            </a:pPr>
            <a:r>
              <a:rPr lang="en-US" sz="1250" b="1" dirty="0">
                <a:solidFill>
                  <a:srgbClr val="1B1F3B"/>
                </a:solidFill>
                <a:latin typeface="Calibri" pitchFamily="34" charset="0"/>
                <a:ea typeface="Calibri" pitchFamily="34" charset="-122"/>
                <a:cs typeface="Calibri" pitchFamily="34" charset="-120"/>
              </a:rPr>
              <a:t>Lo que pasó: </a:t>
            </a:r>
            <a:r>
              <a:rPr lang="en-US" sz="1250" dirty="0">
                <a:solidFill>
                  <a:srgbClr val="3B4270"/>
                </a:solidFill>
                <a:latin typeface="Calibri" pitchFamily="34" charset="0"/>
                <a:ea typeface="Calibri" pitchFamily="34" charset="-122"/>
                <a:cs typeface="Calibri" pitchFamily="34" charset="-120"/>
              </a:rPr>
              <a:t>un informe de la ONU (2018) documentó que Facebook fue usado ampliamente para difundir discurso de odio contra la minoría rohingya en Myanmar. La investigación encontró que el sistema de moderación —incluyendo los primeros intentos de detección automática con IA— no tenía suficiente cobertura del idioma birmano ni del argot local usado para deshumanizar a la minoría.</a:t>
            </a:r>
            <a:endParaRPr lang="en-US" sz="1250" dirty="0"/>
          </a:p>
        </p:txBody>
      </p:sp>
      <p:sp>
        <p:nvSpPr>
          <p:cNvPr id="8" name="Shape 5"/>
          <p:cNvSpPr/>
          <p:nvPr/>
        </p:nvSpPr>
        <p:spPr>
          <a:xfrm>
            <a:off x="548640" y="3154680"/>
            <a:ext cx="3502152" cy="2651760"/>
          </a:xfrm>
          <a:prstGeom prst="roundRect">
            <a:avLst>
              <a:gd name="adj" fmla="val 2759"/>
            </a:avLst>
          </a:prstGeom>
          <a:solidFill>
            <a:srgbClr val="FFFFFF"/>
          </a:solidFill>
          <a:ln w="12700">
            <a:solidFill>
              <a:srgbClr val="E2E4F0"/>
            </a:solidFill>
            <a:prstDash val="solid"/>
          </a:ln>
        </p:spPr>
      </p:sp>
      <p:sp>
        <p:nvSpPr>
          <p:cNvPr id="9" name="Shape 6"/>
          <p:cNvSpPr/>
          <p:nvPr/>
        </p:nvSpPr>
        <p:spPr>
          <a:xfrm>
            <a:off x="1979676" y="3383280"/>
            <a:ext cx="640080" cy="640080"/>
          </a:xfrm>
          <a:prstGeom prst="ellipse">
            <a:avLst/>
          </a:prstGeom>
          <a:solidFill>
            <a:srgbClr val="1B1F3B"/>
          </a:solidFill>
          <a:ln/>
        </p:spPr>
      </p:sp>
      <p:pic>
        <p:nvPicPr>
          <p:cNvPr id="10" name="Image 1" descr="preencoded.png"/>
          <p:cNvPicPr>
            <a:picLocks noChangeAspect="1"/>
          </p:cNvPicPr>
          <p:nvPr/>
        </p:nvPicPr>
        <p:blipFill>
          <a:blip r:embed="rId4"/>
          <a:stretch>
            <a:fillRect/>
          </a:stretch>
        </p:blipFill>
        <p:spPr>
          <a:xfrm>
            <a:off x="2062886" y="3466490"/>
            <a:ext cx="473659" cy="473659"/>
          </a:xfrm>
          <a:prstGeom prst="rect">
            <a:avLst/>
          </a:prstGeom>
        </p:spPr>
      </p:pic>
      <p:sp>
        <p:nvSpPr>
          <p:cNvPr id="11" name="Text 7"/>
          <p:cNvSpPr/>
          <p:nvPr/>
        </p:nvSpPr>
        <p:spPr>
          <a:xfrm>
            <a:off x="731520" y="4160520"/>
            <a:ext cx="3136392" cy="411480"/>
          </a:xfrm>
          <a:prstGeom prst="rect">
            <a:avLst/>
          </a:prstGeom>
          <a:noFill/>
          <a:ln/>
        </p:spPr>
        <p:txBody>
          <a:bodyPr wrap="square" rtlCol="0" anchor="ctr"/>
          <a:lstStyle/>
          <a:p>
            <a:pPr marL="0" indent="0" algn="ctr">
              <a:buNone/>
            </a:pPr>
            <a:r>
              <a:rPr lang="en-US" sz="1350" b="1" dirty="0">
                <a:solidFill>
                  <a:srgbClr val="1B1F3B"/>
                </a:solidFill>
                <a:latin typeface="Cambria" pitchFamily="34" charset="0"/>
                <a:ea typeface="Cambria" pitchFamily="34" charset="-122"/>
                <a:cs typeface="Cambria" pitchFamily="34" charset="-120"/>
              </a:rPr>
              <a:t>Vector técnico</a:t>
            </a:r>
            <a:endParaRPr lang="en-US" sz="1350" dirty="0"/>
          </a:p>
        </p:txBody>
      </p:sp>
      <p:sp>
        <p:nvSpPr>
          <p:cNvPr id="12" name="Text 8"/>
          <p:cNvSpPr/>
          <p:nvPr/>
        </p:nvSpPr>
        <p:spPr>
          <a:xfrm>
            <a:off x="777240" y="4572000"/>
            <a:ext cx="3044952" cy="1143000"/>
          </a:xfrm>
          <a:prstGeom prst="rect">
            <a:avLst/>
          </a:prstGeom>
          <a:noFill/>
          <a:ln/>
        </p:spPr>
        <p:txBody>
          <a:bodyPr wrap="square"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Falta de modelos NLP entrenados en birmano; el argot y los "dog whistles" locales no estaban en los datasets de entrenamiento en inglés.</a:t>
            </a:r>
            <a:endParaRPr lang="en-US" sz="1050" dirty="0"/>
          </a:p>
        </p:txBody>
      </p:sp>
      <p:sp>
        <p:nvSpPr>
          <p:cNvPr id="13" name="Shape 9"/>
          <p:cNvSpPr/>
          <p:nvPr/>
        </p:nvSpPr>
        <p:spPr>
          <a:xfrm>
            <a:off x="4233672" y="3154680"/>
            <a:ext cx="3502152" cy="2651760"/>
          </a:xfrm>
          <a:prstGeom prst="roundRect">
            <a:avLst>
              <a:gd name="adj" fmla="val 2759"/>
            </a:avLst>
          </a:prstGeom>
          <a:solidFill>
            <a:srgbClr val="FFFFFF"/>
          </a:solidFill>
          <a:ln w="12700">
            <a:solidFill>
              <a:srgbClr val="E2E4F0"/>
            </a:solidFill>
            <a:prstDash val="solid"/>
          </a:ln>
        </p:spPr>
      </p:sp>
      <p:sp>
        <p:nvSpPr>
          <p:cNvPr id="14" name="Shape 10"/>
          <p:cNvSpPr/>
          <p:nvPr/>
        </p:nvSpPr>
        <p:spPr>
          <a:xfrm>
            <a:off x="5664708" y="3383280"/>
            <a:ext cx="640080" cy="640080"/>
          </a:xfrm>
          <a:prstGeom prst="ellipse">
            <a:avLst/>
          </a:prstGeom>
          <a:solidFill>
            <a:srgbClr val="1B1F3B"/>
          </a:solidFill>
          <a:ln/>
        </p:spPr>
      </p:sp>
      <p:pic>
        <p:nvPicPr>
          <p:cNvPr id="15" name="Image 2" descr="preencoded.png"/>
          <p:cNvPicPr>
            <a:picLocks noChangeAspect="1"/>
          </p:cNvPicPr>
          <p:nvPr/>
        </p:nvPicPr>
        <p:blipFill>
          <a:blip r:embed="rId5"/>
          <a:stretch>
            <a:fillRect/>
          </a:stretch>
        </p:blipFill>
        <p:spPr>
          <a:xfrm>
            <a:off x="5747918" y="3466490"/>
            <a:ext cx="473659" cy="473659"/>
          </a:xfrm>
          <a:prstGeom prst="rect">
            <a:avLst/>
          </a:prstGeom>
        </p:spPr>
      </p:pic>
      <p:sp>
        <p:nvSpPr>
          <p:cNvPr id="16" name="Text 11"/>
          <p:cNvSpPr/>
          <p:nvPr/>
        </p:nvSpPr>
        <p:spPr>
          <a:xfrm>
            <a:off x="4416552" y="4160520"/>
            <a:ext cx="3136392" cy="411480"/>
          </a:xfrm>
          <a:prstGeom prst="rect">
            <a:avLst/>
          </a:prstGeom>
          <a:noFill/>
          <a:ln/>
        </p:spPr>
        <p:txBody>
          <a:bodyPr wrap="square" rtlCol="0" anchor="ctr"/>
          <a:lstStyle/>
          <a:p>
            <a:pPr marL="0" indent="0" algn="ctr">
              <a:buNone/>
            </a:pPr>
            <a:r>
              <a:rPr lang="en-US" sz="1350" b="1" dirty="0">
                <a:solidFill>
                  <a:srgbClr val="1B1F3B"/>
                </a:solidFill>
                <a:latin typeface="Cambria" pitchFamily="34" charset="0"/>
                <a:ea typeface="Cambria" pitchFamily="34" charset="-122"/>
                <a:cs typeface="Cambria" pitchFamily="34" charset="-120"/>
              </a:rPr>
              <a:t>Impacto</a:t>
            </a:r>
            <a:endParaRPr lang="en-US" sz="1350" dirty="0"/>
          </a:p>
        </p:txBody>
      </p:sp>
      <p:sp>
        <p:nvSpPr>
          <p:cNvPr id="17" name="Text 12"/>
          <p:cNvSpPr/>
          <p:nvPr/>
        </p:nvSpPr>
        <p:spPr>
          <a:xfrm>
            <a:off x="4462272" y="4572000"/>
            <a:ext cx="3044952" cy="1143000"/>
          </a:xfrm>
          <a:prstGeom prst="rect">
            <a:avLst/>
          </a:prstGeom>
          <a:noFill/>
          <a:ln/>
        </p:spPr>
        <p:txBody>
          <a:bodyPr wrap="square"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El discurso de odio no moderado se asoció con la escalada de violencia física contra la población rohingya, según la misión de investigación de la ONU.</a:t>
            </a:r>
            <a:endParaRPr lang="en-US" sz="1050" dirty="0"/>
          </a:p>
        </p:txBody>
      </p:sp>
      <p:sp>
        <p:nvSpPr>
          <p:cNvPr id="18" name="Shape 13"/>
          <p:cNvSpPr/>
          <p:nvPr/>
        </p:nvSpPr>
        <p:spPr>
          <a:xfrm>
            <a:off x="7918704" y="3154680"/>
            <a:ext cx="3502152" cy="2651760"/>
          </a:xfrm>
          <a:prstGeom prst="roundRect">
            <a:avLst>
              <a:gd name="adj" fmla="val 2759"/>
            </a:avLst>
          </a:prstGeom>
          <a:solidFill>
            <a:srgbClr val="FFFFFF"/>
          </a:solidFill>
          <a:ln w="12700">
            <a:solidFill>
              <a:srgbClr val="E2E4F0"/>
            </a:solidFill>
            <a:prstDash val="solid"/>
          </a:ln>
        </p:spPr>
      </p:sp>
      <p:sp>
        <p:nvSpPr>
          <p:cNvPr id="19" name="Shape 14"/>
          <p:cNvSpPr/>
          <p:nvPr/>
        </p:nvSpPr>
        <p:spPr>
          <a:xfrm>
            <a:off x="9349740" y="3383280"/>
            <a:ext cx="640080" cy="640080"/>
          </a:xfrm>
          <a:prstGeom prst="ellipse">
            <a:avLst/>
          </a:prstGeom>
          <a:solidFill>
            <a:srgbClr val="1B1F3B"/>
          </a:solidFill>
          <a:ln/>
        </p:spPr>
      </p:sp>
      <p:pic>
        <p:nvPicPr>
          <p:cNvPr id="20" name="Image 3" descr="preencoded.png"/>
          <p:cNvPicPr>
            <a:picLocks noChangeAspect="1"/>
          </p:cNvPicPr>
          <p:nvPr/>
        </p:nvPicPr>
        <p:blipFill>
          <a:blip r:embed="rId6"/>
          <a:stretch>
            <a:fillRect/>
          </a:stretch>
        </p:blipFill>
        <p:spPr>
          <a:xfrm>
            <a:off x="9432950" y="3466490"/>
            <a:ext cx="473659" cy="473659"/>
          </a:xfrm>
          <a:prstGeom prst="rect">
            <a:avLst/>
          </a:prstGeom>
        </p:spPr>
      </p:pic>
      <p:sp>
        <p:nvSpPr>
          <p:cNvPr id="21" name="Text 15"/>
          <p:cNvSpPr/>
          <p:nvPr/>
        </p:nvSpPr>
        <p:spPr>
          <a:xfrm>
            <a:off x="8101584" y="4160520"/>
            <a:ext cx="3136392" cy="411480"/>
          </a:xfrm>
          <a:prstGeom prst="rect">
            <a:avLst/>
          </a:prstGeom>
          <a:noFill/>
          <a:ln/>
        </p:spPr>
        <p:txBody>
          <a:bodyPr wrap="square" rtlCol="0" anchor="ctr"/>
          <a:lstStyle/>
          <a:p>
            <a:pPr marL="0" indent="0" algn="ctr">
              <a:buNone/>
            </a:pPr>
            <a:r>
              <a:rPr lang="en-US" sz="1350" b="1" dirty="0">
                <a:solidFill>
                  <a:srgbClr val="1B1F3B"/>
                </a:solidFill>
                <a:latin typeface="Cambria" pitchFamily="34" charset="0"/>
                <a:ea typeface="Cambria" pitchFamily="34" charset="-122"/>
                <a:cs typeface="Cambria" pitchFamily="34" charset="-120"/>
              </a:rPr>
              <a:t>Lección para el diseño de IA</a:t>
            </a:r>
            <a:endParaRPr lang="en-US" sz="1350" dirty="0"/>
          </a:p>
        </p:txBody>
      </p:sp>
      <p:sp>
        <p:nvSpPr>
          <p:cNvPr id="22" name="Text 16"/>
          <p:cNvSpPr/>
          <p:nvPr/>
        </p:nvSpPr>
        <p:spPr>
          <a:xfrm>
            <a:off x="8147304" y="4572000"/>
            <a:ext cx="3044952" cy="1143000"/>
          </a:xfrm>
          <a:prstGeom prst="rect">
            <a:avLst/>
          </a:prstGeom>
          <a:noFill/>
          <a:ln/>
        </p:spPr>
        <p:txBody>
          <a:bodyPr wrap="square"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Un clasificador de NLP entrenado solo en inglés/datasets occidentales no generaliza a otros idiomas ni contextos culturales sin fine-tuning local.</a:t>
            </a:r>
            <a:endParaRPr lang="en-US" sz="1050" dirty="0"/>
          </a:p>
        </p:txBody>
      </p:sp>
      <p:sp>
        <p:nvSpPr>
          <p:cNvPr id="23" name="Text 17"/>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4" name="Text 1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7 · ANÁLISIS CRÍTICO</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IA vs. moderación tradicional</a:t>
            </a:r>
            <a:endParaRPr lang="en-US" sz="3000" dirty="0"/>
          </a:p>
        </p:txBody>
      </p:sp>
      <p:sp>
        <p:nvSpPr>
          <p:cNvPr id="4" name="Shape 2"/>
          <p:cNvSpPr/>
          <p:nvPr/>
        </p:nvSpPr>
        <p:spPr>
          <a:xfrm>
            <a:off x="548640" y="1600200"/>
            <a:ext cx="5257800" cy="4434840"/>
          </a:xfrm>
          <a:prstGeom prst="roundRect">
            <a:avLst>
              <a:gd name="adj" fmla="val 1649"/>
            </a:avLst>
          </a:prstGeom>
          <a:solidFill>
            <a:srgbClr val="FFFFFF"/>
          </a:solidFill>
          <a:ln w="19050">
            <a:solidFill>
              <a:srgbClr val="2EC4B6"/>
            </a:solidFill>
            <a:prstDash val="solid"/>
          </a:ln>
        </p:spPr>
      </p:sp>
      <p:sp>
        <p:nvSpPr>
          <p:cNvPr id="5" name="Shape 3"/>
          <p:cNvSpPr/>
          <p:nvPr/>
        </p:nvSpPr>
        <p:spPr>
          <a:xfrm>
            <a:off x="822960" y="1828800"/>
            <a:ext cx="548640" cy="548640"/>
          </a:xfrm>
          <a:prstGeom prst="ellipse">
            <a:avLst/>
          </a:prstGeom>
          <a:solidFill>
            <a:srgbClr val="2EC4B6"/>
          </a:solidFill>
          <a:ln/>
        </p:spPr>
      </p:sp>
      <p:pic>
        <p:nvPicPr>
          <p:cNvPr id="6" name="Image 0" descr="preencoded.png"/>
          <p:cNvPicPr>
            <a:picLocks noChangeAspect="1"/>
          </p:cNvPicPr>
          <p:nvPr/>
        </p:nvPicPr>
        <p:blipFill>
          <a:blip r:embed="rId3"/>
          <a:stretch>
            <a:fillRect/>
          </a:stretch>
        </p:blipFill>
        <p:spPr>
          <a:xfrm>
            <a:off x="894283" y="1900123"/>
            <a:ext cx="405994" cy="405994"/>
          </a:xfrm>
          <a:prstGeom prst="rect">
            <a:avLst/>
          </a:prstGeom>
        </p:spPr>
      </p:pic>
      <p:sp>
        <p:nvSpPr>
          <p:cNvPr id="7" name="Text 4"/>
          <p:cNvSpPr/>
          <p:nvPr/>
        </p:nvSpPr>
        <p:spPr>
          <a:xfrm>
            <a:off x="1508760" y="1874520"/>
            <a:ext cx="4114800" cy="457200"/>
          </a:xfrm>
          <a:prstGeom prst="rect">
            <a:avLst/>
          </a:prstGeom>
          <a:noFill/>
          <a:ln/>
        </p:spPr>
        <p:txBody>
          <a:bodyPr wrap="square"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Ventajas de la IA</a:t>
            </a:r>
            <a:endParaRPr lang="en-US" sz="1600" dirty="0"/>
          </a:p>
        </p:txBody>
      </p:sp>
      <p:sp>
        <p:nvSpPr>
          <p:cNvPr id="8" name="Text 5"/>
          <p:cNvSpPr/>
          <p:nvPr/>
        </p:nvSpPr>
        <p:spPr>
          <a:xfrm>
            <a:off x="868680" y="2468880"/>
            <a:ext cx="4709160" cy="3383280"/>
          </a:xfrm>
          <a:prstGeom prst="rect">
            <a:avLst/>
          </a:prstGeom>
          <a:noFill/>
          <a:ln/>
        </p:spPr>
        <p:txBody>
          <a:bodyPr wrap="square" rtlCol="0" anchor="ctr"/>
          <a:lstStyle/>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Escala a millones de mensajes por segundo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Consistencia: no se cansa ni tiene sesgos de un mal día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Detección en tiempo real, antes de que el contenido se difunda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Reduce la exposición de moderadores humanos a contenido traumático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Se puede reentrenar rápido ante nuevos patrones de ataque</a:t>
            </a:r>
            <a:endParaRPr lang="en-US" sz="1250" dirty="0"/>
          </a:p>
        </p:txBody>
      </p:sp>
      <p:sp>
        <p:nvSpPr>
          <p:cNvPr id="9" name="Shape 6"/>
          <p:cNvSpPr/>
          <p:nvPr/>
        </p:nvSpPr>
        <p:spPr>
          <a:xfrm>
            <a:off x="5989320" y="1600200"/>
            <a:ext cx="5623560" cy="4434840"/>
          </a:xfrm>
          <a:prstGeom prst="roundRect">
            <a:avLst>
              <a:gd name="adj" fmla="val 1649"/>
            </a:avLst>
          </a:prstGeom>
          <a:solidFill>
            <a:srgbClr val="FFFFFF"/>
          </a:solidFill>
          <a:ln w="19050">
            <a:solidFill>
              <a:srgbClr val="E63946"/>
            </a:solidFill>
            <a:prstDash val="solid"/>
          </a:ln>
        </p:spPr>
      </p:sp>
      <p:sp>
        <p:nvSpPr>
          <p:cNvPr id="10" name="Shape 7"/>
          <p:cNvSpPr/>
          <p:nvPr/>
        </p:nvSpPr>
        <p:spPr>
          <a:xfrm>
            <a:off x="6263640" y="1828800"/>
            <a:ext cx="548640" cy="54864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6334963" y="1900123"/>
            <a:ext cx="405994" cy="405994"/>
          </a:xfrm>
          <a:prstGeom prst="rect">
            <a:avLst/>
          </a:prstGeom>
        </p:spPr>
      </p:pic>
      <p:sp>
        <p:nvSpPr>
          <p:cNvPr id="12" name="Text 8"/>
          <p:cNvSpPr/>
          <p:nvPr/>
        </p:nvSpPr>
        <p:spPr>
          <a:xfrm>
            <a:off x="6949440" y="1874520"/>
            <a:ext cx="4480560" cy="457200"/>
          </a:xfrm>
          <a:prstGeom prst="rect">
            <a:avLst/>
          </a:prstGeom>
          <a:noFill/>
          <a:ln/>
        </p:spPr>
        <p:txBody>
          <a:bodyPr wrap="square"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Limitaciones actuales</a:t>
            </a:r>
            <a:endParaRPr lang="en-US" sz="1600" dirty="0"/>
          </a:p>
        </p:txBody>
      </p:sp>
      <p:sp>
        <p:nvSpPr>
          <p:cNvPr id="13" name="Text 9"/>
          <p:cNvSpPr/>
          <p:nvPr/>
        </p:nvSpPr>
        <p:spPr>
          <a:xfrm>
            <a:off x="6309360" y="2468880"/>
            <a:ext cx="5120640" cy="3383280"/>
          </a:xfrm>
          <a:prstGeom prst="rect">
            <a:avLst/>
          </a:prstGeom>
          <a:noFill/>
          <a:ln/>
        </p:spPr>
        <p:txBody>
          <a:bodyPr wrap="square" rtlCol="0" anchor="ctr"/>
          <a:lstStyle/>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Sarcasmo, ironía y lenguaje codificado siguen siendo difíciles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Rendimiento pobre en idiomas/dialectos con poco dato de entrenamiento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Requiere datos etiquetados de calidad — costosos y lentos de producir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Falsos positivos pueden censurar expresión legítima
</a:t>
            </a:r>
            <a:endParaRPr lang="en-US" sz="1250" dirty="0"/>
          </a:p>
          <a:p>
            <a:pPr marL="0" indent="0">
              <a:lnSpc>
                <a:spcPct val="150000"/>
              </a:lnSpc>
              <a:buNone/>
            </a:pPr>
            <a:r>
              <a:rPr lang="en-US" sz="1250" dirty="0">
                <a:solidFill>
                  <a:srgbClr val="3B4270"/>
                </a:solidFill>
                <a:latin typeface="Calibri" pitchFamily="34" charset="0"/>
                <a:ea typeface="Calibri" pitchFamily="34" charset="-122"/>
                <a:cs typeface="Calibri" pitchFamily="34" charset="-120"/>
              </a:rPr>
              <a:t>• Modelos grandes (BERT/RoBERTa) exigen cómputo significativo</a:t>
            </a:r>
            <a:endParaRPr lang="en-US" sz="1250" dirty="0"/>
          </a:p>
        </p:txBody>
      </p:sp>
      <p:sp>
        <p:nvSpPr>
          <p:cNvPr id="14" name="Text 10"/>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15" name="Text 1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2EC4B6"/>
                </a:solidFill>
                <a:latin typeface="Calibri" pitchFamily="34" charset="0"/>
                <a:ea typeface="Calibri" pitchFamily="34" charset="-122"/>
                <a:cs typeface="Calibri" pitchFamily="34" charset="-120"/>
              </a:rPr>
              <a:t>SECCIÓN 7 · ANÁLISIS CRÍTICO</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Retos éticos, legales y de sesgo</a:t>
            </a:r>
            <a:endParaRPr lang="en-US" sz="3000" dirty="0"/>
          </a:p>
        </p:txBody>
      </p:sp>
      <p:sp>
        <p:nvSpPr>
          <p:cNvPr id="4" name="Shape 2"/>
          <p:cNvSpPr/>
          <p:nvPr/>
        </p:nvSpPr>
        <p:spPr>
          <a:xfrm>
            <a:off x="548640" y="1737360"/>
            <a:ext cx="3502152" cy="4206240"/>
          </a:xfrm>
          <a:prstGeom prst="roundRect">
            <a:avLst>
              <a:gd name="adj" fmla="val 2089"/>
            </a:avLst>
          </a:prstGeom>
          <a:solidFill>
            <a:srgbClr val="3B4270"/>
          </a:solidFill>
          <a:ln/>
        </p:spPr>
      </p:sp>
      <p:sp>
        <p:nvSpPr>
          <p:cNvPr id="5" name="Shape 3"/>
          <p:cNvSpPr/>
          <p:nvPr/>
        </p:nvSpPr>
        <p:spPr>
          <a:xfrm>
            <a:off x="1956816" y="1965960"/>
            <a:ext cx="685800" cy="685800"/>
          </a:xfrm>
          <a:prstGeom prst="ellipse">
            <a:avLst/>
          </a:prstGeom>
          <a:solidFill>
            <a:srgbClr val="E63946"/>
          </a:solidFill>
          <a:ln/>
        </p:spPr>
      </p:sp>
      <p:pic>
        <p:nvPicPr>
          <p:cNvPr id="6" name="Image 0" descr="preencoded.png"/>
          <p:cNvPicPr>
            <a:picLocks noChangeAspect="1"/>
          </p:cNvPicPr>
          <p:nvPr/>
        </p:nvPicPr>
        <p:blipFill>
          <a:blip r:embed="rId3"/>
          <a:stretch>
            <a:fillRect/>
          </a:stretch>
        </p:blipFill>
        <p:spPr>
          <a:xfrm>
            <a:off x="2045970" y="2055114"/>
            <a:ext cx="507492" cy="507492"/>
          </a:xfrm>
          <a:prstGeom prst="rect">
            <a:avLst/>
          </a:prstGeom>
        </p:spPr>
      </p:pic>
      <p:sp>
        <p:nvSpPr>
          <p:cNvPr id="7" name="Text 4"/>
          <p:cNvSpPr/>
          <p:nvPr/>
        </p:nvSpPr>
        <p:spPr>
          <a:xfrm>
            <a:off x="731520" y="2788920"/>
            <a:ext cx="3136392"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Sesgo algorítmico</a:t>
            </a:r>
            <a:endParaRPr lang="en-US" sz="1450" dirty="0"/>
          </a:p>
        </p:txBody>
      </p:sp>
      <p:sp>
        <p:nvSpPr>
          <p:cNvPr id="8" name="Text 5"/>
          <p:cNvSpPr/>
          <p:nvPr/>
        </p:nvSpPr>
        <p:spPr>
          <a:xfrm>
            <a:off x="822960" y="3291840"/>
            <a:ext cx="2953512" cy="2560320"/>
          </a:xfrm>
          <a:prstGeom prst="rect">
            <a:avLst/>
          </a:prstGeom>
          <a:noFill/>
          <a:ln/>
        </p:spPr>
        <p:txBody>
          <a:bodyPr wrap="square" rtlCol="0" anchor="ctr"/>
          <a:lstStyle/>
          <a:p>
            <a:pPr marL="0" indent="0" algn="ctr">
              <a:lnSpc>
                <a:spcPts val="1600"/>
              </a:lnSpc>
              <a:buNone/>
            </a:pPr>
            <a:r>
              <a:rPr lang="en-US" sz="1150" dirty="0">
                <a:solidFill>
                  <a:srgbClr val="D8DAF0"/>
                </a:solidFill>
                <a:latin typeface="Calibri" pitchFamily="34" charset="0"/>
                <a:ea typeface="Calibri" pitchFamily="34" charset="-122"/>
                <a:cs typeface="Calibri" pitchFamily="34" charset="-120"/>
              </a:rPr>
              <a:t>Los clasificadores entrenados en datos desbalanceados muestran "disparate impact": marcan con más frecuencia el habla de minorías como tóxica, incluso cuando no lo es (reapropiación lingüística).</a:t>
            </a:r>
            <a:endParaRPr lang="en-US" sz="1150" dirty="0"/>
          </a:p>
        </p:txBody>
      </p:sp>
      <p:sp>
        <p:nvSpPr>
          <p:cNvPr id="9" name="Shape 6"/>
          <p:cNvSpPr/>
          <p:nvPr/>
        </p:nvSpPr>
        <p:spPr>
          <a:xfrm>
            <a:off x="4233672" y="1737360"/>
            <a:ext cx="3502152" cy="4206240"/>
          </a:xfrm>
          <a:prstGeom prst="roundRect">
            <a:avLst>
              <a:gd name="adj" fmla="val 2089"/>
            </a:avLst>
          </a:prstGeom>
          <a:solidFill>
            <a:srgbClr val="3B4270"/>
          </a:solidFill>
          <a:ln/>
        </p:spPr>
      </p:sp>
      <p:sp>
        <p:nvSpPr>
          <p:cNvPr id="10" name="Shape 7"/>
          <p:cNvSpPr/>
          <p:nvPr/>
        </p:nvSpPr>
        <p:spPr>
          <a:xfrm>
            <a:off x="5641848" y="1965960"/>
            <a:ext cx="685800" cy="685800"/>
          </a:xfrm>
          <a:prstGeom prst="ellipse">
            <a:avLst/>
          </a:prstGeom>
          <a:solidFill>
            <a:srgbClr val="E63946"/>
          </a:solidFill>
          <a:ln/>
        </p:spPr>
      </p:sp>
      <p:pic>
        <p:nvPicPr>
          <p:cNvPr id="11" name="Image 1" descr="preencoded.png"/>
          <p:cNvPicPr>
            <a:picLocks noChangeAspect="1"/>
          </p:cNvPicPr>
          <p:nvPr/>
        </p:nvPicPr>
        <p:blipFill>
          <a:blip r:embed="rId4"/>
          <a:stretch>
            <a:fillRect/>
          </a:stretch>
        </p:blipFill>
        <p:spPr>
          <a:xfrm>
            <a:off x="5731002" y="2055114"/>
            <a:ext cx="507492" cy="507492"/>
          </a:xfrm>
          <a:prstGeom prst="rect">
            <a:avLst/>
          </a:prstGeom>
        </p:spPr>
      </p:pic>
      <p:sp>
        <p:nvSpPr>
          <p:cNvPr id="12" name="Text 8"/>
          <p:cNvSpPr/>
          <p:nvPr/>
        </p:nvSpPr>
        <p:spPr>
          <a:xfrm>
            <a:off x="4416552" y="2788920"/>
            <a:ext cx="3136392"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Marco legal</a:t>
            </a:r>
            <a:endParaRPr lang="en-US" sz="1450" dirty="0"/>
          </a:p>
        </p:txBody>
      </p:sp>
      <p:sp>
        <p:nvSpPr>
          <p:cNvPr id="13" name="Text 9"/>
          <p:cNvSpPr/>
          <p:nvPr/>
        </p:nvSpPr>
        <p:spPr>
          <a:xfrm>
            <a:off x="4507992" y="3291840"/>
            <a:ext cx="2953512" cy="2560320"/>
          </a:xfrm>
          <a:prstGeom prst="rect">
            <a:avLst/>
          </a:prstGeom>
          <a:noFill/>
          <a:ln/>
        </p:spPr>
        <p:txBody>
          <a:bodyPr wrap="square" rtlCol="0" anchor="ctr"/>
          <a:lstStyle/>
          <a:p>
            <a:pPr marL="0" indent="0" algn="ctr">
              <a:lnSpc>
                <a:spcPts val="1600"/>
              </a:lnSpc>
              <a:buNone/>
            </a:pPr>
            <a:r>
              <a:rPr lang="en-US" sz="1150" dirty="0">
                <a:solidFill>
                  <a:srgbClr val="D8DAF0"/>
                </a:solidFill>
                <a:latin typeface="Calibri" pitchFamily="34" charset="0"/>
                <a:ea typeface="Calibri" pitchFamily="34" charset="-122"/>
                <a:cs typeface="Calibri" pitchFamily="34" charset="-120"/>
              </a:rPr>
              <a:t>La Digital Services Act (UE) y la Sección 230 (EE.UU.) definen de forma distinta la responsabilidad de las plataformas por contenido generado por usuarios y moderado por IA.</a:t>
            </a:r>
            <a:endParaRPr lang="en-US" sz="1150" dirty="0"/>
          </a:p>
        </p:txBody>
      </p:sp>
      <p:sp>
        <p:nvSpPr>
          <p:cNvPr id="14" name="Shape 10"/>
          <p:cNvSpPr/>
          <p:nvPr/>
        </p:nvSpPr>
        <p:spPr>
          <a:xfrm>
            <a:off x="7918704" y="1737360"/>
            <a:ext cx="3502152" cy="4206240"/>
          </a:xfrm>
          <a:prstGeom prst="roundRect">
            <a:avLst>
              <a:gd name="adj" fmla="val 2089"/>
            </a:avLst>
          </a:prstGeom>
          <a:solidFill>
            <a:srgbClr val="3B4270"/>
          </a:solidFill>
          <a:ln/>
        </p:spPr>
      </p:sp>
      <p:sp>
        <p:nvSpPr>
          <p:cNvPr id="15" name="Shape 11"/>
          <p:cNvSpPr/>
          <p:nvPr/>
        </p:nvSpPr>
        <p:spPr>
          <a:xfrm>
            <a:off x="9326880" y="1965960"/>
            <a:ext cx="685800" cy="685800"/>
          </a:xfrm>
          <a:prstGeom prst="ellipse">
            <a:avLst/>
          </a:prstGeom>
          <a:solidFill>
            <a:srgbClr val="E63946"/>
          </a:solidFill>
          <a:ln/>
        </p:spPr>
      </p:sp>
      <p:pic>
        <p:nvPicPr>
          <p:cNvPr id="16" name="Image 2" descr="preencoded.png"/>
          <p:cNvPicPr>
            <a:picLocks noChangeAspect="1"/>
          </p:cNvPicPr>
          <p:nvPr/>
        </p:nvPicPr>
        <p:blipFill>
          <a:blip r:embed="rId5"/>
          <a:stretch>
            <a:fillRect/>
          </a:stretch>
        </p:blipFill>
        <p:spPr>
          <a:xfrm>
            <a:off x="9416034" y="2055114"/>
            <a:ext cx="507492" cy="507492"/>
          </a:xfrm>
          <a:prstGeom prst="rect">
            <a:avLst/>
          </a:prstGeom>
        </p:spPr>
      </p:pic>
      <p:sp>
        <p:nvSpPr>
          <p:cNvPr id="17" name="Text 12"/>
          <p:cNvSpPr/>
          <p:nvPr/>
        </p:nvSpPr>
        <p:spPr>
          <a:xfrm>
            <a:off x="8101584" y="2788920"/>
            <a:ext cx="3136392" cy="457200"/>
          </a:xfrm>
          <a:prstGeom prst="rect">
            <a:avLst/>
          </a:prstGeom>
          <a:noFill/>
          <a:ln/>
        </p:spPr>
        <p:txBody>
          <a:bodyPr wrap="square"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Privacidad</a:t>
            </a:r>
            <a:endParaRPr lang="en-US" sz="1450" dirty="0"/>
          </a:p>
        </p:txBody>
      </p:sp>
      <p:sp>
        <p:nvSpPr>
          <p:cNvPr id="18" name="Text 13"/>
          <p:cNvSpPr/>
          <p:nvPr/>
        </p:nvSpPr>
        <p:spPr>
          <a:xfrm>
            <a:off x="8193024" y="3291840"/>
            <a:ext cx="2953512" cy="2560320"/>
          </a:xfrm>
          <a:prstGeom prst="rect">
            <a:avLst/>
          </a:prstGeom>
          <a:noFill/>
          <a:ln/>
        </p:spPr>
        <p:txBody>
          <a:bodyPr wrap="square" rtlCol="0" anchor="ctr"/>
          <a:lstStyle/>
          <a:p>
            <a:pPr marL="0" indent="0" algn="ctr">
              <a:lnSpc>
                <a:spcPts val="1600"/>
              </a:lnSpc>
              <a:buNone/>
            </a:pPr>
            <a:r>
              <a:rPr lang="en-US" sz="1150" dirty="0">
                <a:solidFill>
                  <a:srgbClr val="D8DAF0"/>
                </a:solidFill>
                <a:latin typeface="Calibri" pitchFamily="34" charset="0"/>
                <a:ea typeface="Calibri" pitchFamily="34" charset="-122"/>
                <a:cs typeface="Calibri" pitchFamily="34" charset="-120"/>
              </a:rPr>
              <a:t>Analizar mensajes privados para detectar amenazas exige balancear seguridad con derecho a la privacidad y libertad de expresión.</a:t>
            </a:r>
            <a:endParaRPr lang="en-US" sz="1150" dirty="0"/>
          </a:p>
        </p:txBody>
      </p:sp>
      <p:sp>
        <p:nvSpPr>
          <p:cNvPr id="19"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0" name="Text 1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7 · ANÁLISIS CRÍTICO</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Líneas futuras de investigación</a:t>
            </a:r>
            <a:endParaRPr lang="en-US" sz="2800" dirty="0"/>
          </a:p>
        </p:txBody>
      </p:sp>
      <p:sp>
        <p:nvSpPr>
          <p:cNvPr id="4" name="Shape 2"/>
          <p:cNvSpPr/>
          <p:nvPr/>
        </p:nvSpPr>
        <p:spPr>
          <a:xfrm>
            <a:off x="548640" y="1737360"/>
            <a:ext cx="365760" cy="365760"/>
          </a:xfrm>
          <a:prstGeom prst="ellipse">
            <a:avLst/>
          </a:prstGeom>
          <a:solidFill>
            <a:srgbClr val="2EC4B6"/>
          </a:solidFill>
          <a:ln/>
        </p:spPr>
      </p:sp>
      <p:sp>
        <p:nvSpPr>
          <p:cNvPr id="5" name="Text 3"/>
          <p:cNvSpPr/>
          <p:nvPr/>
        </p:nvSpPr>
        <p:spPr>
          <a:xfrm>
            <a:off x="548640" y="17373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600200"/>
            <a:ext cx="4846320" cy="777240"/>
          </a:xfrm>
          <a:prstGeom prst="rect">
            <a:avLst/>
          </a:prstGeom>
          <a:noFill/>
          <a:ln/>
        </p:spPr>
        <p:txBody>
          <a:bodyPr wrap="square" rtlCol="0" anchor="ctr"/>
          <a:lstStyle/>
          <a:p>
            <a:pPr marL="0" indent="0">
              <a:lnSpc>
                <a:spcPts val="1500"/>
              </a:lnSpc>
              <a:buNone/>
            </a:pPr>
            <a:r>
              <a:rPr lang="en-US" sz="1150" dirty="0">
                <a:solidFill>
                  <a:srgbClr val="3B4270"/>
                </a:solidFill>
                <a:latin typeface="Calibri" pitchFamily="34" charset="0"/>
                <a:ea typeface="Calibri" pitchFamily="34" charset="-122"/>
                <a:cs typeface="Calibri" pitchFamily="34" charset="-120"/>
              </a:rPr>
              <a:t>Modelos multilingües y multidialectales entrenados con comunidades locales (evitar el error del caso Myanmar)</a:t>
            </a:r>
            <a:endParaRPr lang="en-US" sz="1150" dirty="0"/>
          </a:p>
        </p:txBody>
      </p:sp>
      <p:sp>
        <p:nvSpPr>
          <p:cNvPr id="7" name="Shape 5"/>
          <p:cNvSpPr/>
          <p:nvPr/>
        </p:nvSpPr>
        <p:spPr>
          <a:xfrm>
            <a:off x="6080760" y="1737360"/>
            <a:ext cx="365760" cy="365760"/>
          </a:xfrm>
          <a:prstGeom prst="ellipse">
            <a:avLst/>
          </a:prstGeom>
          <a:solidFill>
            <a:srgbClr val="E63946"/>
          </a:solidFill>
          <a:ln/>
        </p:spPr>
      </p:sp>
      <p:sp>
        <p:nvSpPr>
          <p:cNvPr id="8" name="Text 6"/>
          <p:cNvSpPr/>
          <p:nvPr/>
        </p:nvSpPr>
        <p:spPr>
          <a:xfrm>
            <a:off x="6080760" y="17373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0" y="1600200"/>
            <a:ext cx="4846320" cy="777240"/>
          </a:xfrm>
          <a:prstGeom prst="rect">
            <a:avLst/>
          </a:prstGeom>
          <a:noFill/>
          <a:ln/>
        </p:spPr>
        <p:txBody>
          <a:bodyPr wrap="square" rtlCol="0" anchor="ctr"/>
          <a:lstStyle/>
          <a:p>
            <a:pPr marL="0" indent="0">
              <a:lnSpc>
                <a:spcPts val="1500"/>
              </a:lnSpc>
              <a:buNone/>
            </a:pPr>
            <a:r>
              <a:rPr lang="en-US" sz="1150" dirty="0">
                <a:solidFill>
                  <a:srgbClr val="3B4270"/>
                </a:solidFill>
                <a:latin typeface="Calibri" pitchFamily="34" charset="0"/>
                <a:ea typeface="Calibri" pitchFamily="34" charset="-122"/>
                <a:cs typeface="Calibri" pitchFamily="34" charset="-120"/>
              </a:rPr>
              <a:t>IA explicable (XAI) para justificar por qué un mensaje fue marcado, auditable por reguladores y usuarios</a:t>
            </a:r>
            <a:endParaRPr lang="en-US" sz="1150" dirty="0"/>
          </a:p>
        </p:txBody>
      </p:sp>
      <p:sp>
        <p:nvSpPr>
          <p:cNvPr id="10" name="Shape 8"/>
          <p:cNvSpPr/>
          <p:nvPr/>
        </p:nvSpPr>
        <p:spPr>
          <a:xfrm>
            <a:off x="548640" y="2697480"/>
            <a:ext cx="365760" cy="365760"/>
          </a:xfrm>
          <a:prstGeom prst="ellipse">
            <a:avLst/>
          </a:prstGeom>
          <a:solidFill>
            <a:srgbClr val="2EC4B6"/>
          </a:solidFill>
          <a:ln/>
        </p:spPr>
      </p:sp>
      <p:sp>
        <p:nvSpPr>
          <p:cNvPr id="11" name="Text 9"/>
          <p:cNvSpPr/>
          <p:nvPr/>
        </p:nvSpPr>
        <p:spPr>
          <a:xfrm>
            <a:off x="548640" y="26974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51560" y="2560320"/>
            <a:ext cx="4846320" cy="777240"/>
          </a:xfrm>
          <a:prstGeom prst="rect">
            <a:avLst/>
          </a:prstGeom>
          <a:noFill/>
          <a:ln/>
        </p:spPr>
        <p:txBody>
          <a:bodyPr wrap="square" rtlCol="0" anchor="ctr"/>
          <a:lstStyle/>
          <a:p>
            <a:pPr marL="0" indent="0">
              <a:lnSpc>
                <a:spcPts val="1500"/>
              </a:lnSpc>
              <a:buNone/>
            </a:pPr>
            <a:r>
              <a:rPr lang="en-US" sz="1150" dirty="0">
                <a:solidFill>
                  <a:srgbClr val="3B4270"/>
                </a:solidFill>
                <a:latin typeface="Calibri" pitchFamily="34" charset="0"/>
                <a:ea typeface="Calibri" pitchFamily="34" charset="-122"/>
                <a:cs typeface="Calibri" pitchFamily="34" charset="-120"/>
              </a:rPr>
              <a:t>Detección multimodal: combinar texto + imagen + metadata de comportamiento (no solo el mensaje aislado)</a:t>
            </a:r>
            <a:endParaRPr lang="en-US" sz="1150" dirty="0"/>
          </a:p>
        </p:txBody>
      </p:sp>
      <p:sp>
        <p:nvSpPr>
          <p:cNvPr id="13" name="Shape 11"/>
          <p:cNvSpPr/>
          <p:nvPr/>
        </p:nvSpPr>
        <p:spPr>
          <a:xfrm>
            <a:off x="6080760" y="2697480"/>
            <a:ext cx="365760" cy="365760"/>
          </a:xfrm>
          <a:prstGeom prst="ellipse">
            <a:avLst/>
          </a:prstGeom>
          <a:solidFill>
            <a:srgbClr val="E63946"/>
          </a:solidFill>
          <a:ln/>
        </p:spPr>
      </p:sp>
      <p:sp>
        <p:nvSpPr>
          <p:cNvPr id="14" name="Text 12"/>
          <p:cNvSpPr/>
          <p:nvPr/>
        </p:nvSpPr>
        <p:spPr>
          <a:xfrm>
            <a:off x="6080760" y="26974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0" y="2560320"/>
            <a:ext cx="4846320" cy="777240"/>
          </a:xfrm>
          <a:prstGeom prst="rect">
            <a:avLst/>
          </a:prstGeom>
          <a:noFill/>
          <a:ln/>
        </p:spPr>
        <p:txBody>
          <a:bodyPr wrap="square" rtlCol="0" anchor="ctr"/>
          <a:lstStyle/>
          <a:p>
            <a:pPr marL="0" indent="0">
              <a:lnSpc>
                <a:spcPts val="1500"/>
              </a:lnSpc>
              <a:buNone/>
            </a:pPr>
            <a:r>
              <a:rPr lang="en-US" sz="1150" dirty="0">
                <a:solidFill>
                  <a:srgbClr val="3B4270"/>
                </a:solidFill>
                <a:latin typeface="Calibri" pitchFamily="34" charset="0"/>
                <a:ea typeface="Calibri" pitchFamily="34" charset="-122"/>
                <a:cs typeface="Calibri" pitchFamily="34" charset="-120"/>
              </a:rPr>
              <a:t>Sistemas híbridos humano-IA: el modelo prioriza, un analista humano decide en casos límite</a:t>
            </a:r>
            <a:endParaRPr lang="en-US" sz="1150" dirty="0"/>
          </a:p>
        </p:txBody>
      </p:sp>
      <p:sp>
        <p:nvSpPr>
          <p:cNvPr id="16" name="Shape 14"/>
          <p:cNvSpPr/>
          <p:nvPr/>
        </p:nvSpPr>
        <p:spPr>
          <a:xfrm>
            <a:off x="548640" y="3657600"/>
            <a:ext cx="365760" cy="365760"/>
          </a:xfrm>
          <a:prstGeom prst="ellipse">
            <a:avLst/>
          </a:prstGeom>
          <a:solidFill>
            <a:srgbClr val="2EC4B6"/>
          </a:solidFill>
          <a:ln/>
        </p:spPr>
      </p:sp>
      <p:sp>
        <p:nvSpPr>
          <p:cNvPr id="17" name="Text 15"/>
          <p:cNvSpPr/>
          <p:nvPr/>
        </p:nvSpPr>
        <p:spPr>
          <a:xfrm>
            <a:off x="548640" y="36576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51560" y="3520440"/>
            <a:ext cx="4846320" cy="777240"/>
          </a:xfrm>
          <a:prstGeom prst="rect">
            <a:avLst/>
          </a:prstGeom>
          <a:noFill/>
          <a:ln/>
        </p:spPr>
        <p:txBody>
          <a:bodyPr wrap="square" rtlCol="0" anchor="ctr"/>
          <a:lstStyle/>
          <a:p>
            <a:pPr marL="0" indent="0">
              <a:lnSpc>
                <a:spcPts val="1500"/>
              </a:lnSpc>
              <a:buNone/>
            </a:pPr>
            <a:r>
              <a:rPr lang="en-US" sz="1150" dirty="0">
                <a:solidFill>
                  <a:srgbClr val="3B4270"/>
                </a:solidFill>
                <a:latin typeface="Calibri" pitchFamily="34" charset="0"/>
                <a:ea typeface="Calibri" pitchFamily="34" charset="-122"/>
                <a:cs typeface="Calibri" pitchFamily="34" charset="-120"/>
              </a:rPr>
              <a:t>Adversarial robustness: resistencia a evasión deliberada (leetspeak, espaciado, emojis sustitutos)</a:t>
            </a:r>
            <a:endParaRPr lang="en-US" sz="1150" dirty="0"/>
          </a:p>
        </p:txBody>
      </p:sp>
      <p:sp>
        <p:nvSpPr>
          <p:cNvPr id="19" name="Shape 17"/>
          <p:cNvSpPr/>
          <p:nvPr/>
        </p:nvSpPr>
        <p:spPr>
          <a:xfrm>
            <a:off x="6080760" y="3657600"/>
            <a:ext cx="365760" cy="365760"/>
          </a:xfrm>
          <a:prstGeom prst="ellipse">
            <a:avLst/>
          </a:prstGeom>
          <a:solidFill>
            <a:srgbClr val="E63946"/>
          </a:solidFill>
          <a:ln/>
        </p:spPr>
      </p:sp>
      <p:sp>
        <p:nvSpPr>
          <p:cNvPr id="20" name="Text 18"/>
          <p:cNvSpPr/>
          <p:nvPr/>
        </p:nvSpPr>
        <p:spPr>
          <a:xfrm>
            <a:off x="6080760" y="36576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6583680" y="3520440"/>
            <a:ext cx="4846320" cy="777240"/>
          </a:xfrm>
          <a:prstGeom prst="rect">
            <a:avLst/>
          </a:prstGeom>
          <a:noFill/>
          <a:ln/>
        </p:spPr>
        <p:txBody>
          <a:bodyPr wrap="square" rtlCol="0" anchor="ctr"/>
          <a:lstStyle/>
          <a:p>
            <a:pPr marL="0" indent="0">
              <a:lnSpc>
                <a:spcPts val="1500"/>
              </a:lnSpc>
              <a:buNone/>
            </a:pPr>
            <a:r>
              <a:rPr lang="en-US" sz="1150" dirty="0">
                <a:solidFill>
                  <a:srgbClr val="3B4270"/>
                </a:solidFill>
                <a:latin typeface="Calibri" pitchFamily="34" charset="0"/>
                <a:ea typeface="Calibri" pitchFamily="34" charset="-122"/>
                <a:cs typeface="Calibri" pitchFamily="34" charset="-120"/>
              </a:rPr>
              <a:t>Detección temprana de escalada: pasar de clasificar mensajes aislados a detectar patrones de conversación</a:t>
            </a:r>
            <a:endParaRPr lang="en-US" sz="1150" dirty="0"/>
          </a:p>
        </p:txBody>
      </p:sp>
      <p:sp>
        <p:nvSpPr>
          <p:cNvPr id="22" name="Text 20"/>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SECCIÓN 8 · CONCLUSIONES</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Síntesis y recomendaciones</a:t>
            </a:r>
            <a:endParaRPr lang="en-US" sz="3000" dirty="0"/>
          </a:p>
        </p:txBody>
      </p:sp>
      <p:sp>
        <p:nvSpPr>
          <p:cNvPr id="4" name="Shape 2"/>
          <p:cNvSpPr/>
          <p:nvPr/>
        </p:nvSpPr>
        <p:spPr>
          <a:xfrm>
            <a:off x="548640" y="1600200"/>
            <a:ext cx="5257800" cy="4434840"/>
          </a:xfrm>
          <a:prstGeom prst="roundRect">
            <a:avLst>
              <a:gd name="adj" fmla="val 1649"/>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22960" y="1828800"/>
            <a:ext cx="4754880" cy="36576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Hallazgos principales</a:t>
            </a:r>
            <a:endParaRPr lang="en-US" sz="1500" dirty="0"/>
          </a:p>
        </p:txBody>
      </p:sp>
      <p:sp>
        <p:nvSpPr>
          <p:cNvPr id="6" name="Text 4"/>
          <p:cNvSpPr/>
          <p:nvPr/>
        </p:nvSpPr>
        <p:spPr>
          <a:xfrm>
            <a:off x="822960" y="2286000"/>
            <a:ext cx="4754880" cy="3566160"/>
          </a:xfrm>
          <a:prstGeom prst="rect">
            <a:avLst/>
          </a:prstGeom>
          <a:noFill/>
          <a:ln/>
        </p:spPr>
        <p:txBody>
          <a:bodyPr wrap="square"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 Un pipeline NLP simple (TF-IDF + Reg. Logística) ya alcanza 95% de exactitud en un corpus controlado de 4 clases.
</a:t>
            </a:r>
            <a:endParaRPr lang="en-US" sz="1250" dirty="0"/>
          </a:p>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 El mayor reto no es el algoritmo, es la calidad y representatividad de los datos de entrenamiento.
</a:t>
            </a:r>
            <a:endParaRPr lang="en-US" sz="1250" dirty="0"/>
          </a:p>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 Los Transformers (BERT/RoBERTa) mejoran la comprensión contextual pero no eliminan el sesgo si el dato de entrenamiento no es diverso.</a:t>
            </a:r>
            <a:endParaRPr lang="en-US" sz="1250" dirty="0"/>
          </a:p>
        </p:txBody>
      </p:sp>
      <p:sp>
        <p:nvSpPr>
          <p:cNvPr id="7" name="Shape 5"/>
          <p:cNvSpPr/>
          <p:nvPr/>
        </p:nvSpPr>
        <p:spPr>
          <a:xfrm>
            <a:off x="5989320" y="1600200"/>
            <a:ext cx="5623560" cy="4434840"/>
          </a:xfrm>
          <a:prstGeom prst="roundRect">
            <a:avLst>
              <a:gd name="adj" fmla="val 1649"/>
            </a:avLst>
          </a:prstGeom>
          <a:solidFill>
            <a:srgbClr val="1B1F3B"/>
          </a:solidFill>
          <a:ln/>
        </p:spPr>
      </p:sp>
      <p:sp>
        <p:nvSpPr>
          <p:cNvPr id="8" name="Text 6"/>
          <p:cNvSpPr/>
          <p:nvPr/>
        </p:nvSpPr>
        <p:spPr>
          <a:xfrm>
            <a:off x="6263640" y="1828800"/>
            <a:ext cx="5120640" cy="4572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Recomendaciones para implementación</a:t>
            </a:r>
            <a:endParaRPr lang="en-US" sz="1500" dirty="0"/>
          </a:p>
        </p:txBody>
      </p:sp>
      <p:sp>
        <p:nvSpPr>
          <p:cNvPr id="9" name="Text 7"/>
          <p:cNvSpPr/>
          <p:nvPr/>
        </p:nvSpPr>
        <p:spPr>
          <a:xfrm>
            <a:off x="6263640" y="2331720"/>
            <a:ext cx="5120640" cy="3566160"/>
          </a:xfrm>
          <a:prstGeom prst="rect">
            <a:avLst/>
          </a:prstGeom>
          <a:noFill/>
          <a:ln/>
        </p:spPr>
        <p:txBody>
          <a:bodyPr wrap="square" rtlCol="0" anchor="ctr"/>
          <a:lstStyle/>
          <a:p>
            <a:pPr marL="0" indent="0">
              <a:lnSpc>
                <a:spcPts val="1700"/>
              </a:lnSpc>
              <a:buNone/>
            </a:pPr>
            <a:r>
              <a:rPr lang="en-US" sz="1250" dirty="0">
                <a:solidFill>
                  <a:srgbClr val="D8DAF0"/>
                </a:solidFill>
                <a:latin typeface="Calibri" pitchFamily="34" charset="0"/>
                <a:ea typeface="Calibri" pitchFamily="34" charset="-122"/>
                <a:cs typeface="Calibri" pitchFamily="34" charset="-120"/>
              </a:rPr>
              <a:t>1. Combinar IA + revisión humana para casos límite, nunca decisión 100% automática en casos sensibles.
</a:t>
            </a:r>
            <a:endParaRPr lang="en-US" sz="1250" dirty="0"/>
          </a:p>
          <a:p>
            <a:pPr marL="0" indent="0">
              <a:lnSpc>
                <a:spcPts val="1700"/>
              </a:lnSpc>
              <a:buNone/>
            </a:pPr>
            <a:r>
              <a:rPr lang="en-US" sz="1250" dirty="0">
                <a:solidFill>
                  <a:srgbClr val="D8DAF0"/>
                </a:solidFill>
                <a:latin typeface="Calibri" pitchFamily="34" charset="0"/>
                <a:ea typeface="Calibri" pitchFamily="34" charset="-122"/>
                <a:cs typeface="Calibri" pitchFamily="34" charset="-120"/>
              </a:rPr>
              <a:t>2. Auditar el modelo periódicamente para detectar sesgo hacia minorías o dialectos específicos.
</a:t>
            </a:r>
            <a:endParaRPr lang="en-US" sz="1250" dirty="0"/>
          </a:p>
          <a:p>
            <a:pPr marL="0" indent="0">
              <a:lnSpc>
                <a:spcPts val="1700"/>
              </a:lnSpc>
              <a:buNone/>
            </a:pPr>
            <a:r>
              <a:rPr lang="en-US" sz="1250" dirty="0">
                <a:solidFill>
                  <a:srgbClr val="D8DAF0"/>
                </a:solidFill>
                <a:latin typeface="Calibri" pitchFamily="34" charset="0"/>
                <a:ea typeface="Calibri" pitchFamily="34" charset="-122"/>
                <a:cs typeface="Calibri" pitchFamily="34" charset="-120"/>
              </a:rPr>
              <a:t>3. Documentar y comunicar públicamente los criterios de moderación (transparencia algorítmica).
</a:t>
            </a:r>
            <a:endParaRPr lang="en-US" sz="1250" dirty="0"/>
          </a:p>
          <a:p>
            <a:pPr marL="0" indent="0">
              <a:lnSpc>
                <a:spcPts val="1700"/>
              </a:lnSpc>
              <a:buNone/>
            </a:pPr>
            <a:r>
              <a:rPr lang="en-US" sz="1250" dirty="0">
                <a:solidFill>
                  <a:srgbClr val="D8DAF0"/>
                </a:solidFill>
                <a:latin typeface="Calibri" pitchFamily="34" charset="0"/>
                <a:ea typeface="Calibri" pitchFamily="34" charset="-122"/>
                <a:cs typeface="Calibri" pitchFamily="34" charset="-120"/>
              </a:rPr>
              <a:t>4. Invertir en datos representativos del idioma y contexto cultural real de los usuarios.</a:t>
            </a:r>
            <a:endParaRPr lang="en-US" sz="1250" dirty="0"/>
          </a:p>
        </p:txBody>
      </p:sp>
      <p:sp>
        <p:nvSpPr>
          <p:cNvPr id="10" name="Text 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11" name="Text 9"/>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3B4270">
              <a:alpha val="60000"/>
            </a:srgbClr>
          </a:solidFill>
          <a:ln/>
        </p:spPr>
      </p:sp>
      <p:sp>
        <p:nvSpPr>
          <p:cNvPr id="3" name="Shape 1"/>
          <p:cNvSpPr/>
          <p:nvPr/>
        </p:nvSpPr>
        <p:spPr>
          <a:xfrm>
            <a:off x="9601200" y="4114800"/>
            <a:ext cx="4114800" cy="4114800"/>
          </a:xfrm>
          <a:prstGeom prst="ellipse">
            <a:avLst/>
          </a:prstGeom>
          <a:solidFill>
            <a:srgbClr val="E63946">
              <a:alpha val="25000"/>
            </a:srgbClr>
          </a:solidFill>
          <a:ln/>
        </p:spPr>
      </p:sp>
      <p:sp>
        <p:nvSpPr>
          <p:cNvPr id="4" name="Text 2"/>
          <p:cNvSpPr/>
          <p:nvPr/>
        </p:nvSpPr>
        <p:spPr>
          <a:xfrm>
            <a:off x="640080" y="2286000"/>
            <a:ext cx="7315200" cy="109728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5" name="Text 3"/>
          <p:cNvSpPr/>
          <p:nvPr/>
        </p:nvSpPr>
        <p:spPr>
          <a:xfrm>
            <a:off x="640080" y="3291840"/>
            <a:ext cx="7315200" cy="457200"/>
          </a:xfrm>
          <a:prstGeom prst="rect">
            <a:avLst/>
          </a:prstGeom>
          <a:noFill/>
          <a:ln/>
        </p:spPr>
        <p:txBody>
          <a:bodyPr wrap="square" rtlCol="0" anchor="ctr"/>
          <a:lstStyle/>
          <a:p>
            <a:pPr marL="0" indent="0">
              <a:buNone/>
            </a:pPr>
            <a:r>
              <a:rPr lang="en-US" sz="1600" i="1" dirty="0">
                <a:solidFill>
                  <a:srgbClr val="C7CCE8"/>
                </a:solidFill>
                <a:latin typeface="Calibri" pitchFamily="34" charset="0"/>
                <a:ea typeface="Calibri" pitchFamily="34" charset="-122"/>
                <a:cs typeface="Calibri" pitchFamily="34" charset="-120"/>
              </a:rPr>
              <a:t>Preguntas y discusión abierta con el jurado</a:t>
            </a:r>
            <a:endParaRPr lang="en-US" sz="1600" dirty="0"/>
          </a:p>
        </p:txBody>
      </p:sp>
      <p:sp>
        <p:nvSpPr>
          <p:cNvPr id="6" name="Shape 4"/>
          <p:cNvSpPr/>
          <p:nvPr/>
        </p:nvSpPr>
        <p:spPr>
          <a:xfrm>
            <a:off x="640080" y="4114800"/>
            <a:ext cx="7498080" cy="1280160"/>
          </a:xfrm>
          <a:prstGeom prst="roundRect">
            <a:avLst>
              <a:gd name="adj" fmla="val 5714"/>
            </a:avLst>
          </a:prstGeom>
          <a:solidFill>
            <a:srgbClr val="3B4270"/>
          </a:solidFill>
          <a:ln/>
        </p:spPr>
      </p:sp>
      <p:sp>
        <p:nvSpPr>
          <p:cNvPr id="7" name="Text 5"/>
          <p:cNvSpPr/>
          <p:nvPr/>
        </p:nvSpPr>
        <p:spPr>
          <a:xfrm>
            <a:off x="914400" y="4114800"/>
            <a:ext cx="6949440" cy="12801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Mónica González   ·   Itmar Castillo   ·   José Moreno
</a:t>
            </a:r>
            <a:endParaRPr lang="en-US" sz="1500" dirty="0"/>
          </a:p>
          <a:p>
            <a:pPr marL="0" indent="0">
              <a:buNone/>
            </a:pPr>
            <a:r>
              <a:rPr lang="en-US" sz="1150" i="1" dirty="0">
                <a:solidFill>
                  <a:srgbClr val="C7CCE8"/>
                </a:solidFill>
                <a:latin typeface="Calibri" pitchFamily="34" charset="0"/>
                <a:ea typeface="Calibri" pitchFamily="34" charset="-122"/>
                <a:cs typeface="Calibri" pitchFamily="34" charset="-120"/>
              </a:rPr>
              <a:t>Código y notebook de la simulación disponibles en el repositorio del equipo</a:t>
            </a:r>
            <a:endParaRPr lang="en-US" sz="1500" dirty="0"/>
          </a:p>
        </p:txBody>
      </p:sp>
      <p:sp>
        <p:nvSpPr>
          <p:cNvPr id="8" name="Text 6"/>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Tema 5 · NLP para Deteccion de Discurso Malicioso y Ciberacoso</a:t>
            </a:r>
            <a:endParaRPr lang="en-US" sz="900" dirty="0"/>
          </a:p>
        </p:txBody>
      </p:sp>
      <p:sp>
        <p:nvSpPr>
          <p:cNvPr id="9" name="Text 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9976</TotalTime>
  <Words>2026</Words>
  <Application>Microsoft Office PowerPoint</Application>
  <PresentationFormat>Panorámica</PresentationFormat>
  <Paragraphs>242</Paragraphs>
  <Slides>18</Slides>
  <Notes>18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para Deteccion de Discurso Malicioso y Ciberacoso</dc:title>
  <dc:subject>PptxGenJS Presentation</dc:subject>
  <dc:creator>Monica Gonzalez, Itmar Castillo, Jose Moreno</dc:creator>
  <cp:lastModifiedBy>Itmar Castillo</cp:lastModifiedBy>
  <cp:revision>1</cp:revision>
  <dcterms:created xsi:type="dcterms:W3CDTF">2026-07-03T07:44:39Z</dcterms:created>
  <dcterms:modified xsi:type="dcterms:W3CDTF">2026-07-10T06:23:19Z</dcterms:modified>
</cp:coreProperties>
</file>