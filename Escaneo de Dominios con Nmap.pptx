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54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1737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FFF"/>
          </a:solidFill>
          <a:ln w="12700">
            <a:solidFill>
              <a:srgbClr val="00BFFF"/>
            </a:solidFill>
            <a:prstDash val="solid"/>
          </a:ln>
        </p:spPr>
        <p:txBody>
          <a:bodyPr/>
          <a:lstStyle/>
          <a:p>
            <a:endParaRPr lang="es-PA"/>
          </a:p>
        </p:txBody>
      </p:sp>
      <p:sp>
        <p:nvSpPr>
          <p:cNvPr id="10" name="CuadroTexto 2">
            <a:extLst>
              <a:ext uri="{FF2B5EF4-FFF2-40B4-BE49-F238E27FC236}">
                <a16:creationId xmlns:a16="http://schemas.microsoft.com/office/drawing/2014/main" id="{87A48371-01B3-A667-AF83-BE46E6A875DD}"/>
              </a:ext>
            </a:extLst>
          </p:cNvPr>
          <p:cNvSpPr txBox="1">
            <a:spLocks noChangeArrowheads="1"/>
          </p:cNvSpPr>
          <p:nvPr/>
        </p:nvSpPr>
        <p:spPr bwMode="auto">
          <a:xfrm rot="10800000" flipV="1">
            <a:off x="2569403" y="270604"/>
            <a:ext cx="4005193" cy="4693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Universidad </a:t>
            </a:r>
            <a:r>
              <a:rPr kumimoji="0" lang="en-US" altLang="es-PA" sz="1300" b="0" i="0" u="none" strike="noStrike" cap="none" normalizeH="0" baseline="0" dirty="0" err="1">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Tecnológica</a:t>
            </a: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 de Panamá</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 </a:t>
            </a:r>
            <a:endParaRPr kumimoji="0" lang="en-US" altLang="es-PA" sz="1300" b="0" i="0" u="none" strike="noStrike" cap="none" normalizeH="0" baseline="0" dirty="0">
              <a:ln>
                <a:noFill/>
              </a:ln>
              <a:solidFill>
                <a:schemeClr val="bg1"/>
              </a:solidFill>
              <a:effectLst/>
              <a:latin typeface="Aptos Display" panose="020B00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PA" sz="1300" b="0" i="0" u="none" strike="noStrike" cap="none" normalizeH="0" baseline="0" dirty="0" err="1">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Facultad</a:t>
            </a: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 de </a:t>
            </a:r>
            <a:r>
              <a:rPr kumimoji="0" lang="en-US" altLang="es-PA" sz="1300" b="0" i="0" u="none" strike="noStrike" cap="none" normalizeH="0" baseline="0" dirty="0" err="1">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Sistemas</a:t>
            </a: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 </a:t>
            </a:r>
            <a:r>
              <a:rPr kumimoji="0" lang="en-US" altLang="es-PA" sz="1300" b="0" i="0" u="none" strike="noStrike" cap="none" normalizeH="0" baseline="0" dirty="0" err="1">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Computacionales</a:t>
            </a:r>
            <a:endPar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s-PA" sz="1300" b="0" i="0" u="none" strike="noStrike" cap="none" normalizeH="0" baseline="0" dirty="0">
              <a:ln>
                <a:noFill/>
              </a:ln>
              <a:solidFill>
                <a:schemeClr val="bg1"/>
              </a:solidFill>
              <a:effectLst/>
              <a:latin typeface="Aptos Display" panose="020B00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Carrera </a:t>
            </a:r>
            <a:r>
              <a:rPr kumimoji="0" lang="en-US" altLang="es-PA" sz="1300" b="0" i="0" u="none" strike="noStrike" cap="none" normalizeH="0" baseline="0" dirty="0" err="1">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Lic</a:t>
            </a: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 En </a:t>
            </a:r>
            <a:r>
              <a:rPr kumimoji="0" lang="en-US" altLang="es-PA" sz="1300" b="0" i="0" u="none" strike="noStrike" cap="none" normalizeH="0" baseline="0" dirty="0" err="1">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Ciberseguridad</a:t>
            </a: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 </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s-PA" sz="1300" b="0" i="0" u="none" strike="noStrike" cap="none" normalizeH="0" baseline="0" dirty="0">
              <a:ln>
                <a:noFill/>
              </a:ln>
              <a:solidFill>
                <a:schemeClr val="bg1"/>
              </a:solidFill>
              <a:effectLst/>
              <a:latin typeface="Aptos Display" panose="020B00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PA" sz="1300" b="0" i="0" u="none" strike="noStrike" cap="none" normalizeH="0" baseline="0" dirty="0" err="1">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Nombre</a:t>
            </a: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 </a:t>
            </a:r>
            <a:endParaRPr kumimoji="0" lang="en-US" altLang="es-PA" sz="1300" b="0" i="0" u="none" strike="noStrike" cap="none" normalizeH="0" baseline="0" dirty="0">
              <a:ln>
                <a:noFill/>
              </a:ln>
              <a:solidFill>
                <a:schemeClr val="bg1"/>
              </a:solidFill>
              <a:effectLst/>
              <a:latin typeface="Aptos Display" panose="020B00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Itmar Castillo </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s-PA" sz="1300" b="0" i="0" u="none" strike="noStrike" cap="none" normalizeH="0" baseline="0" dirty="0">
              <a:ln>
                <a:noFill/>
              </a:ln>
              <a:solidFill>
                <a:schemeClr val="bg1"/>
              </a:solidFill>
              <a:effectLst/>
              <a:latin typeface="Aptos Display" panose="020B00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PA" sz="1300" b="0" i="0" u="none" strike="noStrike" cap="none" normalizeH="0" baseline="0" dirty="0" err="1">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Profesora</a:t>
            </a: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 </a:t>
            </a:r>
            <a:endParaRPr kumimoji="0" lang="en-US" altLang="es-PA" sz="1300" b="0" i="0" u="none" strike="noStrike" cap="none" normalizeH="0" baseline="0" dirty="0">
              <a:ln>
                <a:noFill/>
              </a:ln>
              <a:solidFill>
                <a:schemeClr val="bg1"/>
              </a:solidFill>
              <a:effectLst/>
              <a:latin typeface="Aptos Display" panose="020B00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es-PA" sz="1300" dirty="0" err="1">
                <a:solidFill>
                  <a:schemeClr val="bg1"/>
                </a:solidFill>
                <a:latin typeface="Aptos Display" panose="020B0004020202020204" pitchFamily="34" charset="0"/>
                <a:ea typeface="Times New Roman" panose="02020603050405020304" pitchFamily="18" charset="0"/>
                <a:cs typeface="Arial" panose="020B0604020202020204" pitchFamily="34" charset="0"/>
              </a:rPr>
              <a:t>Geiner</a:t>
            </a:r>
            <a:r>
              <a:rPr lang="en-US" altLang="es-PA" sz="1300" dirty="0">
                <a:solidFill>
                  <a:schemeClr val="bg1"/>
                </a:solidFill>
                <a:latin typeface="Aptos Display" panose="020B0004020202020204" pitchFamily="34" charset="0"/>
                <a:ea typeface="Times New Roman" panose="02020603050405020304" pitchFamily="18" charset="0"/>
                <a:cs typeface="Arial" panose="020B0604020202020204" pitchFamily="34" charset="0"/>
              </a:rPr>
              <a:t> Miranda</a:t>
            </a:r>
            <a:endPar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s-PA" sz="1300" b="0" i="0" u="none" strike="noStrike" cap="none" normalizeH="0" baseline="0" dirty="0">
              <a:ln>
                <a:noFill/>
              </a:ln>
              <a:solidFill>
                <a:schemeClr val="bg1"/>
              </a:solidFill>
              <a:effectLst/>
              <a:latin typeface="Aptos Display" panose="020B00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Materia: </a:t>
            </a:r>
            <a:endParaRPr kumimoji="0" lang="en-US" altLang="es-PA" sz="1300" b="0" i="0" u="none" strike="noStrike" cap="none" normalizeH="0" baseline="0" dirty="0">
              <a:ln>
                <a:noFill/>
              </a:ln>
              <a:solidFill>
                <a:schemeClr val="bg1"/>
              </a:solidFill>
              <a:effectLst/>
              <a:latin typeface="Aptos Display" panose="020B00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es-PA" sz="1300" dirty="0" err="1">
                <a:solidFill>
                  <a:schemeClr val="bg1"/>
                </a:solidFill>
                <a:latin typeface="Aptos Display" panose="020B0004020202020204" pitchFamily="34" charset="0"/>
                <a:cs typeface="Arial" panose="020B0604020202020204" pitchFamily="34" charset="0"/>
              </a:rPr>
              <a:t>Cibeseguridad</a:t>
            </a:r>
            <a:r>
              <a:rPr lang="en-US" altLang="es-PA" sz="1300" dirty="0">
                <a:solidFill>
                  <a:schemeClr val="bg1"/>
                </a:solidFill>
                <a:latin typeface="Aptos Display" panose="020B0004020202020204" pitchFamily="34" charset="0"/>
                <a:cs typeface="Arial" panose="020B0604020202020204" pitchFamily="34" charset="0"/>
              </a:rPr>
              <a:t> 3</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s-PA" sz="1300" b="0" i="0" u="none" strike="noStrike" cap="none" normalizeH="0" baseline="0" dirty="0">
              <a:ln>
                <a:noFill/>
              </a:ln>
              <a:solidFill>
                <a:schemeClr val="bg1"/>
              </a:solidFill>
              <a:effectLst/>
              <a:latin typeface="Aptos Display" panose="020B00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Salón: </a:t>
            </a:r>
            <a:endParaRPr kumimoji="0" lang="en-US" altLang="es-PA" sz="1300" b="0" i="0" u="none" strike="noStrike" cap="none" normalizeH="0" baseline="0" dirty="0">
              <a:ln>
                <a:noFill/>
              </a:ln>
              <a:solidFill>
                <a:schemeClr val="bg1"/>
              </a:solidFill>
              <a:effectLst/>
              <a:latin typeface="Aptos Display" panose="020B00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1S3231</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s-PA" sz="1300" b="0" i="0" u="none" strike="noStrike" cap="none" normalizeH="0" baseline="0" dirty="0">
              <a:ln>
                <a:noFill/>
              </a:ln>
              <a:solidFill>
                <a:schemeClr val="bg1"/>
              </a:solidFill>
              <a:effectLst/>
              <a:latin typeface="Aptos Display" panose="020B00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PA" sz="1300" b="0" i="0" u="none" strike="noStrike" cap="none" normalizeH="0" baseline="0" dirty="0" err="1">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Asignación</a:t>
            </a: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 </a:t>
            </a:r>
            <a:endParaRPr kumimoji="0" lang="en-US" altLang="es-PA" sz="1300" b="0" i="0" u="none" strike="noStrike" cap="none" normalizeH="0" baseline="0" dirty="0">
              <a:ln>
                <a:noFill/>
              </a:ln>
              <a:solidFill>
                <a:schemeClr val="bg1"/>
              </a:solidFill>
              <a:effectLst/>
              <a:latin typeface="Aptos Display" panose="020B00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Nmap </a:t>
            </a:r>
            <a:r>
              <a:rPr kumimoji="0" lang="en-US" altLang="es-PA" sz="1300" b="0" i="0" u="none" strike="noStrike" cap="none" normalizeH="0" baseline="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escaneo</a:t>
            </a:r>
            <a:endPar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s-PA" sz="1300" b="0" i="0" u="none" strike="noStrike" cap="none" normalizeH="0" baseline="0" dirty="0">
              <a:ln>
                <a:noFill/>
              </a:ln>
              <a:solidFill>
                <a:schemeClr val="bg1"/>
              </a:solidFill>
              <a:effectLst/>
              <a:latin typeface="Aptos Display" panose="020B00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PA" sz="1300" b="0" i="0" u="none" strike="noStrike" cap="none" normalizeH="0" baseline="0" dirty="0" err="1">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Año</a:t>
            </a: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 </a:t>
            </a:r>
            <a:r>
              <a:rPr kumimoji="0" lang="en-US" altLang="es-PA" sz="1300" b="0" i="0" u="none" strike="noStrike" cap="none" normalizeH="0" baseline="0" dirty="0" err="1">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lectivo</a:t>
            </a: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 </a:t>
            </a:r>
            <a:endParaRPr kumimoji="0" lang="en-US" altLang="es-PA" sz="1300" b="0" i="0" u="none" strike="noStrike" cap="none" normalizeH="0" baseline="0" dirty="0">
              <a:ln>
                <a:noFill/>
              </a:ln>
              <a:solidFill>
                <a:schemeClr val="bg1"/>
              </a:solidFill>
              <a:effectLst/>
              <a:latin typeface="Aptos Display" panose="020B00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s-PA" sz="1300" b="0" i="0" u="none" strike="noStrike" cap="none" normalizeH="0" baseline="0" dirty="0">
                <a:ln>
                  <a:noFill/>
                </a:ln>
                <a:solidFill>
                  <a:schemeClr val="bg1"/>
                </a:solidFill>
                <a:effectLst/>
                <a:latin typeface="Aptos Display" panose="020B0004020202020204" pitchFamily="34" charset="0"/>
                <a:ea typeface="Times New Roman" panose="02020603050405020304" pitchFamily="18" charset="0"/>
                <a:cs typeface="Arial" panose="020B0604020202020204" pitchFamily="34" charset="0"/>
              </a:rPr>
              <a:t>2026</a:t>
            </a:r>
            <a:endParaRPr kumimoji="0" lang="en-US" altLang="es-PA" sz="1300" b="0" i="0" u="none" strike="noStrike" cap="none" normalizeH="0" baseline="0" dirty="0">
              <a:ln>
                <a:noFill/>
              </a:ln>
              <a:solidFill>
                <a:schemeClr val="bg1"/>
              </a:solidFill>
              <a:effectLst/>
              <a:latin typeface="Aptos Display"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9D353"/>
          </a:solidFill>
          <a:ln w="12700">
            <a:solidFill>
              <a:srgbClr val="39D353"/>
            </a:solidFill>
            <a:prstDash val="solid"/>
          </a:ln>
        </p:spPr>
        <p:txBody>
          <a:bodyPr/>
          <a:lstStyle/>
          <a:p>
            <a:endParaRPr lang="es-PA"/>
          </a:p>
        </p:txBody>
      </p:sp>
      <p:sp>
        <p:nvSpPr>
          <p:cNvPr id="3" name="Text 1"/>
          <p:cNvSpPr/>
          <p:nvPr/>
        </p:nvSpPr>
        <p:spPr>
          <a:xfrm>
            <a:off x="365760" y="182880"/>
            <a:ext cx="8229600" cy="594360"/>
          </a:xfrm>
          <a:prstGeom prst="rect">
            <a:avLst/>
          </a:prstGeom>
          <a:noFill/>
          <a:ln/>
        </p:spPr>
        <p:txBody>
          <a:bodyPr wrap="square" rtlCol="0" anchor="ctr"/>
          <a:lstStyle/>
          <a:p>
            <a:pPr marL="0" indent="0">
              <a:buNone/>
            </a:pPr>
            <a:r>
              <a:rPr lang="en-US" sz="3000" b="1" dirty="0">
                <a:solidFill>
                  <a:srgbClr val="F0F6FC"/>
                </a:solidFill>
                <a:latin typeface="Consolas" pitchFamily="34" charset="0"/>
                <a:ea typeface="Consolas" pitchFamily="34" charset="-122"/>
                <a:cs typeface="Consolas" pitchFamily="34" charset="-120"/>
              </a:rPr>
              <a:t>¿Qué es Nmap?</a:t>
            </a:r>
            <a:endParaRPr lang="en-US" sz="3000" dirty="0"/>
          </a:p>
        </p:txBody>
      </p:sp>
      <p:sp>
        <p:nvSpPr>
          <p:cNvPr id="4" name="Shape 2"/>
          <p:cNvSpPr/>
          <p:nvPr/>
        </p:nvSpPr>
        <p:spPr>
          <a:xfrm>
            <a:off x="365760" y="868680"/>
            <a:ext cx="8412480" cy="36576"/>
          </a:xfrm>
          <a:prstGeom prst="rect">
            <a:avLst/>
          </a:prstGeom>
          <a:solidFill>
            <a:srgbClr val="39D353"/>
          </a:solidFill>
          <a:ln w="12700">
            <a:solidFill>
              <a:srgbClr val="39D353"/>
            </a:solidFill>
            <a:prstDash val="solid"/>
          </a:ln>
        </p:spPr>
        <p:txBody>
          <a:bodyPr/>
          <a:lstStyle/>
          <a:p>
            <a:endParaRPr lang="es-PA"/>
          </a:p>
        </p:txBody>
      </p:sp>
      <p:sp>
        <p:nvSpPr>
          <p:cNvPr id="5" name="Shape 3"/>
          <p:cNvSpPr/>
          <p:nvPr/>
        </p:nvSpPr>
        <p:spPr>
          <a:xfrm>
            <a:off x="274320" y="1005840"/>
            <a:ext cx="4023360" cy="3840480"/>
          </a:xfrm>
          <a:prstGeom prst="roundRect">
            <a:avLst>
              <a:gd name="adj" fmla="val 1905"/>
            </a:avLst>
          </a:prstGeom>
          <a:solidFill>
            <a:srgbClr val="21262D"/>
          </a:solidFill>
          <a:ln w="12700">
            <a:solidFill>
              <a:srgbClr val="00BFFF"/>
            </a:solidFill>
            <a:prstDash val="solid"/>
          </a:ln>
        </p:spPr>
        <p:txBody>
          <a:bodyPr/>
          <a:lstStyle/>
          <a:p>
            <a:endParaRPr lang="es-PA"/>
          </a:p>
        </p:txBody>
      </p:sp>
      <p:sp>
        <p:nvSpPr>
          <p:cNvPr id="6" name="Text 4"/>
          <p:cNvSpPr/>
          <p:nvPr/>
        </p:nvSpPr>
        <p:spPr>
          <a:xfrm>
            <a:off x="457200" y="1097280"/>
            <a:ext cx="3657600" cy="365760"/>
          </a:xfrm>
          <a:prstGeom prst="rect">
            <a:avLst/>
          </a:prstGeom>
          <a:noFill/>
          <a:ln/>
        </p:spPr>
        <p:txBody>
          <a:bodyPr wrap="square" rtlCol="0" anchor="ctr"/>
          <a:lstStyle/>
          <a:p>
            <a:pPr marL="0" indent="0">
              <a:buNone/>
            </a:pPr>
            <a:r>
              <a:rPr lang="en-US" sz="1300" b="1" dirty="0">
                <a:solidFill>
                  <a:srgbClr val="00BFFF"/>
                </a:solidFill>
                <a:latin typeface="Consolas" pitchFamily="34" charset="0"/>
                <a:ea typeface="Consolas" pitchFamily="34" charset="-122"/>
                <a:cs typeface="Consolas" pitchFamily="34" charset="-120"/>
              </a:rPr>
              <a:t>Network Mapper (Nmap)</a:t>
            </a:r>
            <a:endParaRPr lang="en-US" sz="1300" dirty="0"/>
          </a:p>
        </p:txBody>
      </p:sp>
      <p:sp>
        <p:nvSpPr>
          <p:cNvPr id="7" name="Text 5"/>
          <p:cNvSpPr/>
          <p:nvPr/>
        </p:nvSpPr>
        <p:spPr>
          <a:xfrm>
            <a:off x="457200" y="1508760"/>
            <a:ext cx="3657600" cy="3200400"/>
          </a:xfrm>
          <a:prstGeom prst="rect">
            <a:avLst/>
          </a:prstGeom>
          <a:noFill/>
          <a:ln/>
        </p:spPr>
        <p:txBody>
          <a:bodyPr wrap="square" rtlCol="0" anchor="ctr"/>
          <a:lstStyle/>
          <a:p>
            <a:pPr marL="0" indent="0">
              <a:buNone/>
            </a:pPr>
            <a:r>
              <a:rPr lang="en-US" sz="1100" dirty="0">
                <a:solidFill>
                  <a:srgbClr val="F0F6FC"/>
                </a:solidFill>
                <a:latin typeface="Calibri" pitchFamily="34" charset="0"/>
                <a:ea typeface="Calibri" pitchFamily="34" charset="-122"/>
                <a:cs typeface="Calibri" pitchFamily="34" charset="-120"/>
              </a:rPr>
              <a:t>Nmap es una herramienta de código abierto para exploración de redes y auditoría de seguridad. Fue diseñada para escanear grandes redes rápidamente, aunque también funciona muy bien con un solo host.</a:t>
            </a:r>
            <a:endParaRPr lang="en-US" sz="1100" dirty="0"/>
          </a:p>
          <a:p>
            <a:pPr marL="0" indent="0">
              <a:buNone/>
            </a:pPr>
            <a:endParaRPr lang="en-US" sz="1100" dirty="0"/>
          </a:p>
          <a:p>
            <a:pPr marL="0" indent="0">
              <a:buNone/>
            </a:pPr>
            <a:r>
              <a:rPr lang="en-US" sz="1100" b="1" dirty="0">
                <a:solidFill>
                  <a:srgbClr val="F0F6FC"/>
                </a:solidFill>
                <a:latin typeface="Calibri" pitchFamily="34" charset="0"/>
                <a:ea typeface="Calibri" pitchFamily="34" charset="-122"/>
                <a:cs typeface="Calibri" pitchFamily="34" charset="-120"/>
              </a:rPr>
              <a:t>Funciones principales:</a:t>
            </a:r>
            <a:endParaRPr lang="en-US" sz="1100" dirty="0"/>
          </a:p>
          <a:p>
            <a:pPr marL="0" indent="0">
              <a:buNone/>
            </a:pPr>
            <a:r>
              <a:rPr lang="en-US" sz="1100" dirty="0">
                <a:solidFill>
                  <a:srgbClr val="F0F6FC"/>
                </a:solidFill>
                <a:latin typeface="Calibri" pitchFamily="34" charset="0"/>
                <a:ea typeface="Calibri" pitchFamily="34" charset="-122"/>
                <a:cs typeface="Calibri" pitchFamily="34" charset="-120"/>
              </a:rPr>
              <a:t>• Descubrimiento de hosts activos en la red</a:t>
            </a:r>
            <a:endParaRPr lang="en-US" sz="1100" dirty="0"/>
          </a:p>
          <a:p>
            <a:pPr marL="0" indent="0">
              <a:buNone/>
            </a:pPr>
            <a:r>
              <a:rPr lang="en-US" sz="1100" dirty="0">
                <a:solidFill>
                  <a:srgbClr val="F0F6FC"/>
                </a:solidFill>
                <a:latin typeface="Calibri" pitchFamily="34" charset="0"/>
                <a:ea typeface="Calibri" pitchFamily="34" charset="-122"/>
                <a:cs typeface="Calibri" pitchFamily="34" charset="-120"/>
              </a:rPr>
              <a:t>• Detección de puertos abiertos, cerrados y filtrados</a:t>
            </a:r>
            <a:endParaRPr lang="en-US" sz="1100" dirty="0"/>
          </a:p>
          <a:p>
            <a:pPr marL="0" indent="0">
              <a:buNone/>
            </a:pPr>
            <a:r>
              <a:rPr lang="en-US" sz="1100" dirty="0">
                <a:solidFill>
                  <a:srgbClr val="F0F6FC"/>
                </a:solidFill>
                <a:latin typeface="Calibri" pitchFamily="34" charset="0"/>
                <a:ea typeface="Calibri" pitchFamily="34" charset="-122"/>
                <a:cs typeface="Calibri" pitchFamily="34" charset="-120"/>
              </a:rPr>
              <a:t>• Identificación de servicios y versiones de software</a:t>
            </a:r>
            <a:endParaRPr lang="en-US" sz="1100" dirty="0"/>
          </a:p>
          <a:p>
            <a:pPr marL="0" indent="0">
              <a:buNone/>
            </a:pPr>
            <a:r>
              <a:rPr lang="en-US" sz="1100" dirty="0">
                <a:solidFill>
                  <a:srgbClr val="F0F6FC"/>
                </a:solidFill>
                <a:latin typeface="Calibri" pitchFamily="34" charset="0"/>
                <a:ea typeface="Calibri" pitchFamily="34" charset="-122"/>
                <a:cs typeface="Calibri" pitchFamily="34" charset="-120"/>
              </a:rPr>
              <a:t>• Detección del sistema operativo del objetivo</a:t>
            </a:r>
            <a:endParaRPr lang="en-US" sz="1100" dirty="0"/>
          </a:p>
          <a:p>
            <a:pPr marL="0" indent="0">
              <a:buNone/>
            </a:pPr>
            <a:r>
              <a:rPr lang="en-US" sz="1100" dirty="0">
                <a:solidFill>
                  <a:srgbClr val="F0F6FC"/>
                </a:solidFill>
                <a:latin typeface="Calibri" pitchFamily="34" charset="0"/>
                <a:ea typeface="Calibri" pitchFamily="34" charset="-122"/>
                <a:cs typeface="Calibri" pitchFamily="34" charset="-120"/>
              </a:rPr>
              <a:t>• Ejecución de scripts NSE (Nmap Scripting Engine)</a:t>
            </a:r>
            <a:endParaRPr lang="en-US" sz="1100" dirty="0"/>
          </a:p>
          <a:p>
            <a:pPr marL="0" indent="0">
              <a:buNone/>
            </a:pPr>
            <a:r>
              <a:rPr lang="en-US" sz="1100" dirty="0">
                <a:solidFill>
                  <a:srgbClr val="F0F6FC"/>
                </a:solidFill>
                <a:latin typeface="Calibri" pitchFamily="34" charset="0"/>
                <a:ea typeface="Calibri" pitchFamily="34" charset="-122"/>
                <a:cs typeface="Calibri" pitchFamily="34" charset="-120"/>
              </a:rPr>
              <a:t>• Trazado de rutas (Traceroute) hacia el objetivo</a:t>
            </a:r>
            <a:endParaRPr lang="en-US" sz="1100" dirty="0"/>
          </a:p>
        </p:txBody>
      </p:sp>
      <p:sp>
        <p:nvSpPr>
          <p:cNvPr id="8" name="Shape 6"/>
          <p:cNvSpPr/>
          <p:nvPr/>
        </p:nvSpPr>
        <p:spPr>
          <a:xfrm>
            <a:off x="4572000" y="1005840"/>
            <a:ext cx="4297680" cy="3840480"/>
          </a:xfrm>
          <a:prstGeom prst="roundRect">
            <a:avLst>
              <a:gd name="adj" fmla="val 1905"/>
            </a:avLst>
          </a:prstGeom>
          <a:solidFill>
            <a:srgbClr val="21262D"/>
          </a:solidFill>
          <a:ln w="12700">
            <a:solidFill>
              <a:srgbClr val="39D353"/>
            </a:solidFill>
            <a:prstDash val="solid"/>
          </a:ln>
        </p:spPr>
        <p:txBody>
          <a:bodyPr/>
          <a:lstStyle/>
          <a:p>
            <a:endParaRPr lang="es-PA"/>
          </a:p>
        </p:txBody>
      </p:sp>
      <p:sp>
        <p:nvSpPr>
          <p:cNvPr id="9" name="Text 7"/>
          <p:cNvSpPr/>
          <p:nvPr/>
        </p:nvSpPr>
        <p:spPr>
          <a:xfrm>
            <a:off x="4709160" y="1097280"/>
            <a:ext cx="3931920" cy="365760"/>
          </a:xfrm>
          <a:prstGeom prst="rect">
            <a:avLst/>
          </a:prstGeom>
          <a:noFill/>
          <a:ln/>
        </p:spPr>
        <p:txBody>
          <a:bodyPr wrap="square" rtlCol="0" anchor="ctr"/>
          <a:lstStyle/>
          <a:p>
            <a:pPr marL="0" indent="0">
              <a:buNone/>
            </a:pPr>
            <a:r>
              <a:rPr lang="en-US" sz="1300" b="1" dirty="0">
                <a:solidFill>
                  <a:srgbClr val="39D353"/>
                </a:solidFill>
                <a:latin typeface="Consolas" pitchFamily="34" charset="0"/>
                <a:ea typeface="Consolas" pitchFamily="34" charset="-122"/>
                <a:cs typeface="Consolas" pitchFamily="34" charset="-120"/>
              </a:rPr>
              <a:t>Comando utilizado</a:t>
            </a:r>
            <a:endParaRPr lang="en-US" sz="1300" dirty="0"/>
          </a:p>
        </p:txBody>
      </p:sp>
      <p:sp>
        <p:nvSpPr>
          <p:cNvPr id="10" name="Shape 8"/>
          <p:cNvSpPr/>
          <p:nvPr/>
        </p:nvSpPr>
        <p:spPr>
          <a:xfrm>
            <a:off x="4709160" y="1508760"/>
            <a:ext cx="3931920" cy="502920"/>
          </a:xfrm>
          <a:prstGeom prst="roundRect">
            <a:avLst>
              <a:gd name="adj" fmla="val 9091"/>
            </a:avLst>
          </a:prstGeom>
          <a:solidFill>
            <a:srgbClr val="000000"/>
          </a:solidFill>
          <a:ln w="12700">
            <a:solidFill>
              <a:srgbClr val="00BFFF"/>
            </a:solidFill>
            <a:prstDash val="solid"/>
          </a:ln>
        </p:spPr>
        <p:txBody>
          <a:bodyPr/>
          <a:lstStyle/>
          <a:p>
            <a:endParaRPr lang="es-PA"/>
          </a:p>
        </p:txBody>
      </p:sp>
      <p:sp>
        <p:nvSpPr>
          <p:cNvPr id="11" name="Text 9"/>
          <p:cNvSpPr/>
          <p:nvPr/>
        </p:nvSpPr>
        <p:spPr>
          <a:xfrm>
            <a:off x="4754880" y="1554480"/>
            <a:ext cx="3840480" cy="365760"/>
          </a:xfrm>
          <a:prstGeom prst="rect">
            <a:avLst/>
          </a:prstGeom>
          <a:noFill/>
          <a:ln/>
        </p:spPr>
        <p:txBody>
          <a:bodyPr wrap="square" rtlCol="0" anchor="ctr"/>
          <a:lstStyle/>
          <a:p>
            <a:pPr marL="0" indent="0">
              <a:buNone/>
            </a:pPr>
            <a:r>
              <a:rPr lang="en-US" sz="1200" b="1" dirty="0">
                <a:solidFill>
                  <a:srgbClr val="39D353"/>
                </a:solidFill>
                <a:latin typeface="Consolas" pitchFamily="34" charset="0"/>
                <a:ea typeface="Consolas" pitchFamily="34" charset="-122"/>
                <a:cs typeface="Consolas" pitchFamily="34" charset="-120"/>
              </a:rPr>
              <a:t>nmap -T4 -A -v [IP_OBJETIVO]</a:t>
            </a:r>
            <a:endParaRPr lang="en-US" sz="1200" dirty="0"/>
          </a:p>
        </p:txBody>
      </p:sp>
      <p:sp>
        <p:nvSpPr>
          <p:cNvPr id="12" name="Text 10"/>
          <p:cNvSpPr/>
          <p:nvPr/>
        </p:nvSpPr>
        <p:spPr>
          <a:xfrm>
            <a:off x="4709160" y="2103120"/>
            <a:ext cx="3931920" cy="2651760"/>
          </a:xfrm>
          <a:prstGeom prst="rect">
            <a:avLst/>
          </a:prstGeom>
          <a:noFill/>
          <a:ln/>
        </p:spPr>
        <p:txBody>
          <a:bodyPr wrap="square"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Desglose del comando:
</a:t>
            </a:r>
            <a:r>
              <a:rPr lang="en-US" sz="1100" b="1" dirty="0">
                <a:solidFill>
                  <a:srgbClr val="F0883E"/>
                </a:solidFill>
                <a:latin typeface="Calibri" pitchFamily="34" charset="0"/>
                <a:ea typeface="Calibri" pitchFamily="34" charset="-122"/>
                <a:cs typeface="Calibri" pitchFamily="34" charset="-120"/>
              </a:rPr>
              <a:t>-T4</a:t>
            </a:r>
            <a:r>
              <a:rPr lang="en-US" sz="1100" dirty="0">
                <a:solidFill>
                  <a:srgbClr val="F0F6FC"/>
                </a:solidFill>
                <a:latin typeface="Calibri" pitchFamily="34" charset="0"/>
                <a:ea typeface="Calibri" pitchFamily="34" charset="-122"/>
                <a:cs typeface="Calibri" pitchFamily="34" charset="-120"/>
              </a:rPr>
              <a:t>  →  Velocidad de escaneo agresiva (T0 lento, T5 más rápido). T4 equilibra rapidez y precisión.
</a:t>
            </a:r>
            <a:r>
              <a:rPr lang="en-US" sz="1100" b="1" dirty="0">
                <a:solidFill>
                  <a:srgbClr val="F0883E"/>
                </a:solidFill>
                <a:latin typeface="Calibri" pitchFamily="34" charset="0"/>
                <a:ea typeface="Calibri" pitchFamily="34" charset="-122"/>
                <a:cs typeface="Calibri" pitchFamily="34" charset="-120"/>
              </a:rPr>
              <a:t>-A</a:t>
            </a:r>
            <a:r>
              <a:rPr lang="en-US" sz="1100" dirty="0">
                <a:solidFill>
                  <a:srgbClr val="F0F6FC"/>
                </a:solidFill>
                <a:latin typeface="Calibri" pitchFamily="34" charset="0"/>
                <a:ea typeface="Calibri" pitchFamily="34" charset="-122"/>
                <a:cs typeface="Calibri" pitchFamily="34" charset="-120"/>
              </a:rPr>
              <a:t>  →  Modo agresivo: activa detección de SO, detección de versión de servicios, scripts NSE y traceroute simultáneamente.
</a:t>
            </a:r>
            <a:r>
              <a:rPr lang="en-US" sz="1100" b="1" dirty="0">
                <a:solidFill>
                  <a:srgbClr val="F0883E"/>
                </a:solidFill>
                <a:latin typeface="Calibri" pitchFamily="34" charset="0"/>
                <a:ea typeface="Calibri" pitchFamily="34" charset="-122"/>
                <a:cs typeface="Calibri" pitchFamily="34" charset="-120"/>
              </a:rPr>
              <a:t>-v</a:t>
            </a:r>
            <a:r>
              <a:rPr lang="en-US" sz="1100" dirty="0">
                <a:solidFill>
                  <a:srgbClr val="F0F6FC"/>
                </a:solidFill>
                <a:latin typeface="Calibri" pitchFamily="34" charset="0"/>
                <a:ea typeface="Calibri" pitchFamily="34" charset="-122"/>
                <a:cs typeface="Calibri" pitchFamily="34" charset="-120"/>
              </a:rPr>
              <a:t>  →  Modo verboso: muestra información detallada en tiempo real durante el escaneo.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FFF"/>
          </a:solidFill>
          <a:ln w="12700">
            <a:solidFill>
              <a:srgbClr val="00BFFF"/>
            </a:solidFill>
            <a:prstDash val="solid"/>
          </a:ln>
        </p:spPr>
        <p:txBody>
          <a:bodyPr/>
          <a:lstStyle/>
          <a:p>
            <a:endParaRPr lang="es-PA"/>
          </a:p>
        </p:txBody>
      </p:sp>
      <p:sp>
        <p:nvSpPr>
          <p:cNvPr id="3" name="Text 1"/>
          <p:cNvSpPr/>
          <p:nvPr/>
        </p:nvSpPr>
        <p:spPr>
          <a:xfrm>
            <a:off x="365760" y="182880"/>
            <a:ext cx="8229600" cy="594360"/>
          </a:xfrm>
          <a:prstGeom prst="rect">
            <a:avLst/>
          </a:prstGeom>
          <a:noFill/>
          <a:ln/>
        </p:spPr>
        <p:txBody>
          <a:bodyPr wrap="square" rtlCol="0" anchor="ctr"/>
          <a:lstStyle/>
          <a:p>
            <a:pPr marL="0" indent="0">
              <a:buNone/>
            </a:pPr>
            <a:r>
              <a:rPr lang="en-US" sz="3000" b="1" dirty="0">
                <a:solidFill>
                  <a:srgbClr val="F0F6FC"/>
                </a:solidFill>
                <a:latin typeface="Consolas" pitchFamily="34" charset="0"/>
                <a:ea typeface="Consolas" pitchFamily="34" charset="-122"/>
                <a:cs typeface="Consolas" pitchFamily="34" charset="-120"/>
              </a:rPr>
              <a:t>¿Qué es Pentest Tools?</a:t>
            </a:r>
            <a:endParaRPr lang="en-US" sz="3000" dirty="0"/>
          </a:p>
        </p:txBody>
      </p:sp>
      <p:sp>
        <p:nvSpPr>
          <p:cNvPr id="4" name="Shape 2"/>
          <p:cNvSpPr/>
          <p:nvPr/>
        </p:nvSpPr>
        <p:spPr>
          <a:xfrm>
            <a:off x="365760" y="868680"/>
            <a:ext cx="8412480" cy="36576"/>
          </a:xfrm>
          <a:prstGeom prst="rect">
            <a:avLst/>
          </a:prstGeom>
          <a:solidFill>
            <a:srgbClr val="00BFFF"/>
          </a:solidFill>
          <a:ln w="12700">
            <a:solidFill>
              <a:srgbClr val="00BFFF"/>
            </a:solidFill>
            <a:prstDash val="solid"/>
          </a:ln>
        </p:spPr>
        <p:txBody>
          <a:bodyPr/>
          <a:lstStyle/>
          <a:p>
            <a:endParaRPr lang="es-PA"/>
          </a:p>
        </p:txBody>
      </p:sp>
      <p:sp>
        <p:nvSpPr>
          <p:cNvPr id="5" name="Shape 3"/>
          <p:cNvSpPr/>
          <p:nvPr/>
        </p:nvSpPr>
        <p:spPr>
          <a:xfrm>
            <a:off x="274320" y="1005840"/>
            <a:ext cx="8595360" cy="3886200"/>
          </a:xfrm>
          <a:prstGeom prst="roundRect">
            <a:avLst>
              <a:gd name="adj" fmla="val 1882"/>
            </a:avLst>
          </a:prstGeom>
          <a:solidFill>
            <a:srgbClr val="21262D"/>
          </a:solidFill>
          <a:ln w="12700">
            <a:solidFill>
              <a:srgbClr val="00BFFF"/>
            </a:solidFill>
            <a:prstDash val="solid"/>
          </a:ln>
        </p:spPr>
        <p:txBody>
          <a:bodyPr/>
          <a:lstStyle/>
          <a:p>
            <a:endParaRPr lang="es-PA"/>
          </a:p>
        </p:txBody>
      </p:sp>
      <p:sp>
        <p:nvSpPr>
          <p:cNvPr id="6" name="Text 4"/>
          <p:cNvSpPr/>
          <p:nvPr/>
        </p:nvSpPr>
        <p:spPr>
          <a:xfrm>
            <a:off x="457200" y="1097280"/>
            <a:ext cx="8229600" cy="365760"/>
          </a:xfrm>
          <a:prstGeom prst="rect">
            <a:avLst/>
          </a:prstGeom>
          <a:noFill/>
          <a:ln/>
        </p:spPr>
        <p:txBody>
          <a:bodyPr wrap="square" rtlCol="0" anchor="ctr"/>
          <a:lstStyle/>
          <a:p>
            <a:pPr marL="0" indent="0">
              <a:buNone/>
            </a:pPr>
            <a:r>
              <a:rPr lang="en-US" sz="1400" b="1" dirty="0">
                <a:solidFill>
                  <a:srgbClr val="00BFFF"/>
                </a:solidFill>
                <a:latin typeface="Consolas" pitchFamily="34" charset="0"/>
                <a:ea typeface="Consolas" pitchFamily="34" charset="-122"/>
                <a:cs typeface="Consolas" pitchFamily="34" charset="-120"/>
              </a:rPr>
              <a:t>Plataforma web profesional de seguridad ofensiva (pentest.tools)</a:t>
            </a:r>
            <a:endParaRPr lang="en-US" sz="1400" dirty="0"/>
          </a:p>
        </p:txBody>
      </p:sp>
      <p:sp>
        <p:nvSpPr>
          <p:cNvPr id="7" name="Shape 5"/>
          <p:cNvSpPr/>
          <p:nvPr/>
        </p:nvSpPr>
        <p:spPr>
          <a:xfrm>
            <a:off x="365760" y="1554480"/>
            <a:ext cx="2743200" cy="3200400"/>
          </a:xfrm>
          <a:prstGeom prst="roundRect">
            <a:avLst>
              <a:gd name="adj" fmla="val 2333"/>
            </a:avLst>
          </a:prstGeom>
          <a:solidFill>
            <a:srgbClr val="0D1117"/>
          </a:solidFill>
          <a:ln w="12700">
            <a:solidFill>
              <a:srgbClr val="FF6B6B"/>
            </a:solidFill>
            <a:prstDash val="solid"/>
          </a:ln>
        </p:spPr>
        <p:txBody>
          <a:bodyPr/>
          <a:lstStyle/>
          <a:p>
            <a:endParaRPr lang="es-PA"/>
          </a:p>
        </p:txBody>
      </p:sp>
      <p:sp>
        <p:nvSpPr>
          <p:cNvPr id="8" name="Shape 6"/>
          <p:cNvSpPr/>
          <p:nvPr/>
        </p:nvSpPr>
        <p:spPr>
          <a:xfrm>
            <a:off x="365760" y="1554480"/>
            <a:ext cx="2743200" cy="502920"/>
          </a:xfrm>
          <a:prstGeom prst="rect">
            <a:avLst/>
          </a:prstGeom>
          <a:solidFill>
            <a:srgbClr val="FF6B6B"/>
          </a:solidFill>
          <a:ln w="12700">
            <a:solidFill>
              <a:srgbClr val="FF6B6B"/>
            </a:solidFill>
            <a:prstDash val="solid"/>
          </a:ln>
        </p:spPr>
        <p:txBody>
          <a:bodyPr/>
          <a:lstStyle/>
          <a:p>
            <a:endParaRPr lang="es-PA"/>
          </a:p>
        </p:txBody>
      </p:sp>
      <p:sp>
        <p:nvSpPr>
          <p:cNvPr id="9" name="Text 7"/>
          <p:cNvSpPr/>
          <p:nvPr/>
        </p:nvSpPr>
        <p:spPr>
          <a:xfrm>
            <a:off x="457200" y="1600200"/>
            <a:ext cx="2560320" cy="411480"/>
          </a:xfrm>
          <a:prstGeom prst="rect">
            <a:avLst/>
          </a:prstGeom>
          <a:noFill/>
          <a:ln/>
        </p:spPr>
        <p:txBody>
          <a:bodyPr wrap="square" rtlCol="0" anchor="ctr"/>
          <a:lstStyle/>
          <a:p>
            <a:pPr marL="0" indent="0" algn="ctr">
              <a:buNone/>
            </a:pPr>
            <a:r>
              <a:rPr lang="en-US" sz="1200" b="1" dirty="0">
                <a:solidFill>
                  <a:srgbClr val="0D1117"/>
                </a:solidFill>
                <a:latin typeface="Consolas" pitchFamily="34" charset="0"/>
                <a:ea typeface="Consolas" pitchFamily="34" charset="-122"/>
                <a:cs typeface="Consolas" pitchFamily="34" charset="-120"/>
              </a:rPr>
              <a:t>Escáner de</a:t>
            </a:r>
            <a:endParaRPr lang="en-US" sz="1200" dirty="0"/>
          </a:p>
          <a:p>
            <a:pPr marL="0" indent="0" algn="ctr">
              <a:buNone/>
            </a:pPr>
            <a:r>
              <a:rPr lang="en-US" sz="1200" b="1" dirty="0">
                <a:solidFill>
                  <a:srgbClr val="0D1117"/>
                </a:solidFill>
                <a:latin typeface="Consolas" pitchFamily="34" charset="0"/>
                <a:ea typeface="Consolas" pitchFamily="34" charset="-122"/>
                <a:cs typeface="Consolas" pitchFamily="34" charset="-120"/>
              </a:rPr>
              <a:t>Vulnerabilidades</a:t>
            </a:r>
            <a:endParaRPr lang="en-US" sz="1200" dirty="0"/>
          </a:p>
        </p:txBody>
      </p:sp>
      <p:sp>
        <p:nvSpPr>
          <p:cNvPr id="10" name="Text 8"/>
          <p:cNvSpPr/>
          <p:nvPr/>
        </p:nvSpPr>
        <p:spPr>
          <a:xfrm>
            <a:off x="502920" y="2148840"/>
            <a:ext cx="2468880" cy="2468880"/>
          </a:xfrm>
          <a:prstGeom prst="rect">
            <a:avLst/>
          </a:prstGeom>
          <a:noFill/>
          <a:ln/>
        </p:spPr>
        <p:txBody>
          <a:bodyPr wrap="square" rtlCol="0" anchor="ctr"/>
          <a:lstStyle/>
          <a:p>
            <a:pPr marL="0" indent="0">
              <a:buNone/>
            </a:pPr>
            <a:r>
              <a:rPr lang="en-US" sz="1050" dirty="0">
                <a:solidFill>
                  <a:srgbClr val="F0F6FC"/>
                </a:solidFill>
                <a:latin typeface="Calibri" pitchFamily="34" charset="0"/>
                <a:ea typeface="Calibri" pitchFamily="34" charset="-122"/>
                <a:cs typeface="Calibri" pitchFamily="34" charset="-120"/>
              </a:rPr>
              <a:t>Realiza un análisis automático del sitio web objetivo, detectando problemas de seguridad clasificados por nivel de riesgo:</a:t>
            </a:r>
            <a:endParaRPr lang="en-US" sz="1050" dirty="0"/>
          </a:p>
          <a:p>
            <a:pPr marL="0" indent="0">
              <a:buNone/>
            </a:pPr>
            <a:r>
              <a:rPr lang="en-US" sz="1050" dirty="0">
                <a:solidFill>
                  <a:srgbClr val="F0F6FC"/>
                </a:solidFill>
                <a:latin typeface="Calibri" pitchFamily="34" charset="0"/>
                <a:ea typeface="Calibri" pitchFamily="34" charset="-122"/>
                <a:cs typeface="Calibri" pitchFamily="34" charset="-120"/>
              </a:rPr>
              <a:t>Crítico, Alto, Medio, Bajo e Informativo. Ejecuta 38 pruebas estándar.</a:t>
            </a:r>
            <a:endParaRPr lang="en-US" sz="1050" dirty="0"/>
          </a:p>
        </p:txBody>
      </p:sp>
      <p:sp>
        <p:nvSpPr>
          <p:cNvPr id="11" name="Shape 9"/>
          <p:cNvSpPr/>
          <p:nvPr/>
        </p:nvSpPr>
        <p:spPr>
          <a:xfrm>
            <a:off x="3246120" y="1554480"/>
            <a:ext cx="2743200" cy="3200400"/>
          </a:xfrm>
          <a:prstGeom prst="roundRect">
            <a:avLst>
              <a:gd name="adj" fmla="val 2333"/>
            </a:avLst>
          </a:prstGeom>
          <a:solidFill>
            <a:srgbClr val="0D1117"/>
          </a:solidFill>
          <a:ln w="12700">
            <a:solidFill>
              <a:srgbClr val="F0883E"/>
            </a:solidFill>
            <a:prstDash val="solid"/>
          </a:ln>
        </p:spPr>
        <p:txBody>
          <a:bodyPr/>
          <a:lstStyle/>
          <a:p>
            <a:endParaRPr lang="es-PA"/>
          </a:p>
        </p:txBody>
      </p:sp>
      <p:sp>
        <p:nvSpPr>
          <p:cNvPr id="12" name="Shape 10"/>
          <p:cNvSpPr/>
          <p:nvPr/>
        </p:nvSpPr>
        <p:spPr>
          <a:xfrm>
            <a:off x="3246120" y="1554480"/>
            <a:ext cx="2743200" cy="502920"/>
          </a:xfrm>
          <a:prstGeom prst="rect">
            <a:avLst/>
          </a:prstGeom>
          <a:solidFill>
            <a:srgbClr val="F0883E"/>
          </a:solidFill>
          <a:ln w="12700">
            <a:solidFill>
              <a:srgbClr val="F0883E"/>
            </a:solidFill>
            <a:prstDash val="solid"/>
          </a:ln>
        </p:spPr>
        <p:txBody>
          <a:bodyPr/>
          <a:lstStyle/>
          <a:p>
            <a:endParaRPr lang="es-PA"/>
          </a:p>
        </p:txBody>
      </p:sp>
      <p:sp>
        <p:nvSpPr>
          <p:cNvPr id="13" name="Text 11"/>
          <p:cNvSpPr/>
          <p:nvPr/>
        </p:nvSpPr>
        <p:spPr>
          <a:xfrm>
            <a:off x="3337560" y="1600200"/>
            <a:ext cx="2560320" cy="411480"/>
          </a:xfrm>
          <a:prstGeom prst="rect">
            <a:avLst/>
          </a:prstGeom>
          <a:noFill/>
          <a:ln/>
        </p:spPr>
        <p:txBody>
          <a:bodyPr wrap="square" rtlCol="0" anchor="ctr"/>
          <a:lstStyle/>
          <a:p>
            <a:pPr marL="0" indent="0" algn="ctr">
              <a:buNone/>
            </a:pPr>
            <a:r>
              <a:rPr lang="en-US" sz="1200" b="1" dirty="0">
                <a:solidFill>
                  <a:srgbClr val="0D1117"/>
                </a:solidFill>
                <a:latin typeface="Consolas" pitchFamily="34" charset="0"/>
                <a:ea typeface="Consolas" pitchFamily="34" charset="-122"/>
                <a:cs typeface="Consolas" pitchFamily="34" charset="-120"/>
              </a:rPr>
              <a:t>Buscador de</a:t>
            </a:r>
            <a:endParaRPr lang="en-US" sz="1200" dirty="0"/>
          </a:p>
          <a:p>
            <a:pPr marL="0" indent="0" algn="ctr">
              <a:buNone/>
            </a:pPr>
            <a:r>
              <a:rPr lang="en-US" sz="1200" b="1" dirty="0">
                <a:solidFill>
                  <a:srgbClr val="0D1117"/>
                </a:solidFill>
                <a:latin typeface="Consolas" pitchFamily="34" charset="0"/>
                <a:ea typeface="Consolas" pitchFamily="34" charset="-122"/>
                <a:cs typeface="Consolas" pitchFamily="34" charset="-120"/>
              </a:rPr>
              <a:t>Subdominios</a:t>
            </a:r>
            <a:endParaRPr lang="en-US" sz="1200" dirty="0"/>
          </a:p>
        </p:txBody>
      </p:sp>
      <p:sp>
        <p:nvSpPr>
          <p:cNvPr id="14" name="Text 12"/>
          <p:cNvSpPr/>
          <p:nvPr/>
        </p:nvSpPr>
        <p:spPr>
          <a:xfrm>
            <a:off x="3383280" y="2148840"/>
            <a:ext cx="2468880" cy="2468880"/>
          </a:xfrm>
          <a:prstGeom prst="rect">
            <a:avLst/>
          </a:prstGeom>
          <a:noFill/>
          <a:ln/>
        </p:spPr>
        <p:txBody>
          <a:bodyPr wrap="square" rtlCol="0" anchor="ctr"/>
          <a:lstStyle/>
          <a:p>
            <a:pPr marL="0" indent="0">
              <a:buNone/>
            </a:pPr>
            <a:r>
              <a:rPr lang="en-US" sz="1050" dirty="0">
                <a:solidFill>
                  <a:srgbClr val="F0F6FC"/>
                </a:solidFill>
                <a:latin typeface="Calibri" pitchFamily="34" charset="0"/>
                <a:ea typeface="Calibri" pitchFamily="34" charset="-122"/>
                <a:cs typeface="Calibri" pitchFamily="34" charset="-120"/>
              </a:rPr>
              <a:t>Enumera subdominios del dominio objetivo usando múltiples técnicas: detección pasiva, registros DNS (NS, MX, TXT, AXFR), registros de transparencia de certificados y búsqueda en Bing.</a:t>
            </a:r>
            <a:endParaRPr lang="en-US" sz="1050" dirty="0"/>
          </a:p>
        </p:txBody>
      </p:sp>
      <p:sp>
        <p:nvSpPr>
          <p:cNvPr id="15" name="Shape 13"/>
          <p:cNvSpPr/>
          <p:nvPr/>
        </p:nvSpPr>
        <p:spPr>
          <a:xfrm>
            <a:off x="6126480" y="1554480"/>
            <a:ext cx="2743200" cy="3200400"/>
          </a:xfrm>
          <a:prstGeom prst="roundRect">
            <a:avLst>
              <a:gd name="adj" fmla="val 2333"/>
            </a:avLst>
          </a:prstGeom>
          <a:solidFill>
            <a:srgbClr val="0D1117"/>
          </a:solidFill>
          <a:ln w="12700">
            <a:solidFill>
              <a:srgbClr val="39D353"/>
            </a:solidFill>
            <a:prstDash val="solid"/>
          </a:ln>
        </p:spPr>
        <p:txBody>
          <a:bodyPr/>
          <a:lstStyle/>
          <a:p>
            <a:endParaRPr lang="es-PA"/>
          </a:p>
        </p:txBody>
      </p:sp>
      <p:sp>
        <p:nvSpPr>
          <p:cNvPr id="16" name="Shape 14"/>
          <p:cNvSpPr/>
          <p:nvPr/>
        </p:nvSpPr>
        <p:spPr>
          <a:xfrm>
            <a:off x="6126480" y="1554480"/>
            <a:ext cx="2743200" cy="502920"/>
          </a:xfrm>
          <a:prstGeom prst="rect">
            <a:avLst/>
          </a:prstGeom>
          <a:solidFill>
            <a:srgbClr val="39D353"/>
          </a:solidFill>
          <a:ln w="12700">
            <a:solidFill>
              <a:srgbClr val="39D353"/>
            </a:solidFill>
            <a:prstDash val="solid"/>
          </a:ln>
        </p:spPr>
        <p:txBody>
          <a:bodyPr/>
          <a:lstStyle/>
          <a:p>
            <a:endParaRPr lang="es-PA"/>
          </a:p>
        </p:txBody>
      </p:sp>
      <p:sp>
        <p:nvSpPr>
          <p:cNvPr id="17" name="Text 15"/>
          <p:cNvSpPr/>
          <p:nvPr/>
        </p:nvSpPr>
        <p:spPr>
          <a:xfrm>
            <a:off x="6217920" y="1600200"/>
            <a:ext cx="2560320" cy="411480"/>
          </a:xfrm>
          <a:prstGeom prst="rect">
            <a:avLst/>
          </a:prstGeom>
          <a:noFill/>
          <a:ln/>
        </p:spPr>
        <p:txBody>
          <a:bodyPr wrap="square" rtlCol="0" anchor="ctr"/>
          <a:lstStyle/>
          <a:p>
            <a:pPr marL="0" indent="0" algn="ctr">
              <a:buNone/>
            </a:pPr>
            <a:r>
              <a:rPr lang="en-US" sz="1200" b="1" dirty="0">
                <a:solidFill>
                  <a:srgbClr val="0D1117"/>
                </a:solidFill>
                <a:latin typeface="Consolas" pitchFamily="34" charset="0"/>
                <a:ea typeface="Consolas" pitchFamily="34" charset="-122"/>
                <a:cs typeface="Consolas" pitchFamily="34" charset="-120"/>
              </a:rPr>
              <a:t>Zenmap</a:t>
            </a:r>
            <a:endParaRPr lang="en-US" sz="1200" dirty="0"/>
          </a:p>
          <a:p>
            <a:pPr marL="0" indent="0" algn="ctr">
              <a:buNone/>
            </a:pPr>
            <a:r>
              <a:rPr lang="en-US" sz="1200" b="1" dirty="0">
                <a:solidFill>
                  <a:srgbClr val="0D1117"/>
                </a:solidFill>
                <a:latin typeface="Consolas" pitchFamily="34" charset="0"/>
                <a:ea typeface="Consolas" pitchFamily="34" charset="-122"/>
                <a:cs typeface="Consolas" pitchFamily="34" charset="-120"/>
              </a:rPr>
              <a:t>(GUI de Nmap)</a:t>
            </a:r>
            <a:endParaRPr lang="en-US" sz="1200" dirty="0"/>
          </a:p>
        </p:txBody>
      </p:sp>
      <p:sp>
        <p:nvSpPr>
          <p:cNvPr id="18" name="Text 16"/>
          <p:cNvSpPr/>
          <p:nvPr/>
        </p:nvSpPr>
        <p:spPr>
          <a:xfrm>
            <a:off x="6263640" y="2148840"/>
            <a:ext cx="2468880" cy="2468880"/>
          </a:xfrm>
          <a:prstGeom prst="rect">
            <a:avLst/>
          </a:prstGeom>
          <a:noFill/>
          <a:ln/>
        </p:spPr>
        <p:txBody>
          <a:bodyPr wrap="square" rtlCol="0" anchor="ctr"/>
          <a:lstStyle/>
          <a:p>
            <a:pPr marL="0" indent="0">
              <a:buNone/>
            </a:pPr>
            <a:r>
              <a:rPr lang="en-US" sz="1050" dirty="0">
                <a:solidFill>
                  <a:srgbClr val="F0F6FC"/>
                </a:solidFill>
                <a:latin typeface="Calibri" pitchFamily="34" charset="0"/>
                <a:ea typeface="Calibri" pitchFamily="34" charset="-122"/>
                <a:cs typeface="Calibri" pitchFamily="34" charset="-120"/>
              </a:rPr>
              <a:t>Interfaz gráfica oficial de Nmap que facilita la visualización de resultados. Muestra puertos abiertos, servicios, versiones, rutas de red y los logs completos del escaneo.</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883E"/>
          </a:solidFill>
          <a:ln w="12700">
            <a:solidFill>
              <a:srgbClr val="F0883E"/>
            </a:solidFill>
            <a:prstDash val="solid"/>
          </a:ln>
        </p:spPr>
        <p:txBody>
          <a:bodyPr/>
          <a:lstStyle/>
          <a:p>
            <a:endParaRPr lang="es-PA"/>
          </a:p>
        </p:txBody>
      </p:sp>
      <p:sp>
        <p:nvSpPr>
          <p:cNvPr id="3" name="Text 1"/>
          <p:cNvSpPr/>
          <p:nvPr/>
        </p:nvSpPr>
        <p:spPr>
          <a:xfrm>
            <a:off x="365760" y="182880"/>
            <a:ext cx="8229600" cy="594360"/>
          </a:xfrm>
          <a:prstGeom prst="rect">
            <a:avLst/>
          </a:prstGeom>
          <a:noFill/>
          <a:ln/>
        </p:spPr>
        <p:txBody>
          <a:bodyPr wrap="square" rtlCol="0" anchor="ctr"/>
          <a:lstStyle/>
          <a:p>
            <a:pPr marL="0" indent="0">
              <a:buNone/>
            </a:pPr>
            <a:r>
              <a:rPr lang="en-US" sz="3000" b="1" dirty="0">
                <a:solidFill>
                  <a:srgbClr val="F0F6FC"/>
                </a:solidFill>
                <a:latin typeface="Consolas" pitchFamily="34" charset="0"/>
                <a:ea typeface="Consolas" pitchFamily="34" charset="-122"/>
                <a:cs typeface="Consolas" pitchFamily="34" charset="-120"/>
              </a:rPr>
              <a:t>Metodología del Escaneo</a:t>
            </a:r>
            <a:endParaRPr lang="en-US" sz="3000" dirty="0"/>
          </a:p>
        </p:txBody>
      </p:sp>
      <p:sp>
        <p:nvSpPr>
          <p:cNvPr id="4" name="Shape 2"/>
          <p:cNvSpPr/>
          <p:nvPr/>
        </p:nvSpPr>
        <p:spPr>
          <a:xfrm>
            <a:off x="365760" y="868680"/>
            <a:ext cx="8412480" cy="36576"/>
          </a:xfrm>
          <a:prstGeom prst="rect">
            <a:avLst/>
          </a:prstGeom>
          <a:solidFill>
            <a:srgbClr val="F0883E"/>
          </a:solidFill>
          <a:ln w="12700">
            <a:solidFill>
              <a:srgbClr val="F0883E"/>
            </a:solidFill>
            <a:prstDash val="solid"/>
          </a:ln>
        </p:spPr>
        <p:txBody>
          <a:bodyPr/>
          <a:lstStyle/>
          <a:p>
            <a:endParaRPr lang="es-PA"/>
          </a:p>
        </p:txBody>
      </p:sp>
      <p:sp>
        <p:nvSpPr>
          <p:cNvPr id="5" name="Shape 3"/>
          <p:cNvSpPr/>
          <p:nvPr/>
        </p:nvSpPr>
        <p:spPr>
          <a:xfrm>
            <a:off x="274320" y="1069848"/>
            <a:ext cx="502920" cy="502920"/>
          </a:xfrm>
          <a:prstGeom prst="ellipse">
            <a:avLst/>
          </a:prstGeom>
          <a:solidFill>
            <a:srgbClr val="00BFFF"/>
          </a:solidFill>
          <a:ln w="12700">
            <a:solidFill>
              <a:srgbClr val="00BFFF"/>
            </a:solidFill>
            <a:prstDash val="solid"/>
          </a:ln>
        </p:spPr>
        <p:txBody>
          <a:bodyPr/>
          <a:lstStyle/>
          <a:p>
            <a:endParaRPr lang="es-PA"/>
          </a:p>
        </p:txBody>
      </p:sp>
      <p:sp>
        <p:nvSpPr>
          <p:cNvPr id="6" name="Text 4"/>
          <p:cNvSpPr/>
          <p:nvPr/>
        </p:nvSpPr>
        <p:spPr>
          <a:xfrm>
            <a:off x="274320" y="1069848"/>
            <a:ext cx="502920" cy="502920"/>
          </a:xfrm>
          <a:prstGeom prst="rect">
            <a:avLst/>
          </a:prstGeom>
          <a:noFill/>
          <a:ln/>
        </p:spPr>
        <p:txBody>
          <a:bodyPr wrap="square" rtlCol="0" anchor="ctr"/>
          <a:lstStyle/>
          <a:p>
            <a:pPr marL="0" indent="0" algn="ctr">
              <a:buNone/>
            </a:pPr>
            <a:r>
              <a:rPr lang="en-US" sz="1800" b="1" dirty="0">
                <a:solidFill>
                  <a:srgbClr val="0D1117"/>
                </a:solidFill>
                <a:latin typeface="Consolas" pitchFamily="34" charset="0"/>
                <a:ea typeface="Consolas" pitchFamily="34" charset="-122"/>
                <a:cs typeface="Consolas" pitchFamily="34" charset="-120"/>
              </a:rPr>
              <a:t>1</a:t>
            </a:r>
            <a:endParaRPr lang="en-US" sz="1800" dirty="0"/>
          </a:p>
        </p:txBody>
      </p:sp>
      <p:sp>
        <p:nvSpPr>
          <p:cNvPr id="7" name="Text 5"/>
          <p:cNvSpPr/>
          <p:nvPr/>
        </p:nvSpPr>
        <p:spPr>
          <a:xfrm>
            <a:off x="1005840" y="1051560"/>
            <a:ext cx="7772400" cy="274320"/>
          </a:xfrm>
          <a:prstGeom prst="rect">
            <a:avLst/>
          </a:prstGeom>
          <a:noFill/>
          <a:ln/>
        </p:spPr>
        <p:txBody>
          <a:bodyPr wrap="square" rtlCol="0" anchor="ctr"/>
          <a:lstStyle/>
          <a:p>
            <a:pPr marL="0" indent="0">
              <a:buNone/>
            </a:pPr>
            <a:r>
              <a:rPr lang="en-US" sz="1300" b="1" dirty="0">
                <a:solidFill>
                  <a:srgbClr val="00BFFF"/>
                </a:solidFill>
                <a:latin typeface="Consolas" pitchFamily="34" charset="0"/>
                <a:ea typeface="Consolas" pitchFamily="34" charset="-122"/>
                <a:cs typeface="Consolas" pitchFamily="34" charset="-120"/>
              </a:rPr>
              <a:t>Identificar el dominio objetivo</a:t>
            </a:r>
            <a:endParaRPr lang="en-US" sz="1300" dirty="0"/>
          </a:p>
        </p:txBody>
      </p:sp>
      <p:sp>
        <p:nvSpPr>
          <p:cNvPr id="8" name="Text 6"/>
          <p:cNvSpPr/>
          <p:nvPr/>
        </p:nvSpPr>
        <p:spPr>
          <a:xfrm>
            <a:off x="1005840" y="1335024"/>
            <a:ext cx="7772400" cy="502920"/>
          </a:xfrm>
          <a:prstGeom prst="rect">
            <a:avLst/>
          </a:prstGeom>
          <a:noFill/>
          <a:ln/>
        </p:spPr>
        <p:txBody>
          <a:bodyPr wrap="square" rtlCol="0" anchor="ctr"/>
          <a:lstStyle/>
          <a:p>
            <a:pPr marL="0" indent="0">
              <a:buNone/>
            </a:pPr>
            <a:r>
              <a:rPr lang="en-US" sz="1100" dirty="0">
                <a:solidFill>
                  <a:srgbClr val="F0F6FC"/>
                </a:solidFill>
                <a:latin typeface="Calibri" pitchFamily="34" charset="0"/>
                <a:ea typeface="Calibri" pitchFamily="34" charset="-122"/>
                <a:cs typeface="Calibri" pitchFamily="34" charset="-120"/>
              </a:rPr>
              <a:t>Se selecciona el dominio o URL del sitio web a analizar (ej: panasonic.com/pa). Se obtiene la dirección IP mediante resolución DNS.</a:t>
            </a:r>
            <a:endParaRPr lang="en-US" sz="1100" dirty="0"/>
          </a:p>
        </p:txBody>
      </p:sp>
      <p:sp>
        <p:nvSpPr>
          <p:cNvPr id="9" name="Shape 7"/>
          <p:cNvSpPr/>
          <p:nvPr/>
        </p:nvSpPr>
        <p:spPr>
          <a:xfrm>
            <a:off x="512064" y="1572768"/>
            <a:ext cx="0" cy="411480"/>
          </a:xfrm>
          <a:prstGeom prst="line">
            <a:avLst/>
          </a:prstGeom>
          <a:noFill/>
          <a:ln w="19050">
            <a:solidFill>
              <a:srgbClr val="00BFFF"/>
            </a:solidFill>
            <a:prstDash val="dash"/>
          </a:ln>
        </p:spPr>
        <p:txBody>
          <a:bodyPr/>
          <a:lstStyle/>
          <a:p>
            <a:endParaRPr lang="es-PA"/>
          </a:p>
        </p:txBody>
      </p:sp>
      <p:sp>
        <p:nvSpPr>
          <p:cNvPr id="10" name="Shape 8"/>
          <p:cNvSpPr/>
          <p:nvPr/>
        </p:nvSpPr>
        <p:spPr>
          <a:xfrm>
            <a:off x="274320" y="2029968"/>
            <a:ext cx="502920" cy="502920"/>
          </a:xfrm>
          <a:prstGeom prst="ellipse">
            <a:avLst/>
          </a:prstGeom>
          <a:solidFill>
            <a:srgbClr val="F0883E"/>
          </a:solidFill>
          <a:ln w="12700">
            <a:solidFill>
              <a:srgbClr val="F0883E"/>
            </a:solidFill>
            <a:prstDash val="solid"/>
          </a:ln>
        </p:spPr>
        <p:txBody>
          <a:bodyPr/>
          <a:lstStyle/>
          <a:p>
            <a:endParaRPr lang="es-PA"/>
          </a:p>
        </p:txBody>
      </p:sp>
      <p:sp>
        <p:nvSpPr>
          <p:cNvPr id="11" name="Text 9"/>
          <p:cNvSpPr/>
          <p:nvPr/>
        </p:nvSpPr>
        <p:spPr>
          <a:xfrm>
            <a:off x="274320" y="2029968"/>
            <a:ext cx="502920" cy="502920"/>
          </a:xfrm>
          <a:prstGeom prst="rect">
            <a:avLst/>
          </a:prstGeom>
          <a:noFill/>
          <a:ln/>
        </p:spPr>
        <p:txBody>
          <a:bodyPr wrap="square" rtlCol="0" anchor="ctr"/>
          <a:lstStyle/>
          <a:p>
            <a:pPr marL="0" indent="0" algn="ctr">
              <a:buNone/>
            </a:pPr>
            <a:r>
              <a:rPr lang="en-US" sz="1800" b="1" dirty="0">
                <a:solidFill>
                  <a:srgbClr val="0D1117"/>
                </a:solidFill>
                <a:latin typeface="Consolas" pitchFamily="34" charset="0"/>
                <a:ea typeface="Consolas" pitchFamily="34" charset="-122"/>
                <a:cs typeface="Consolas" pitchFamily="34" charset="-120"/>
              </a:rPr>
              <a:t>2</a:t>
            </a:r>
            <a:endParaRPr lang="en-US" sz="1800" dirty="0"/>
          </a:p>
        </p:txBody>
      </p:sp>
      <p:sp>
        <p:nvSpPr>
          <p:cNvPr id="12" name="Text 10"/>
          <p:cNvSpPr/>
          <p:nvPr/>
        </p:nvSpPr>
        <p:spPr>
          <a:xfrm>
            <a:off x="1005840" y="2011680"/>
            <a:ext cx="7772400" cy="274320"/>
          </a:xfrm>
          <a:prstGeom prst="rect">
            <a:avLst/>
          </a:prstGeom>
          <a:noFill/>
          <a:ln/>
        </p:spPr>
        <p:txBody>
          <a:bodyPr wrap="square" rtlCol="0" anchor="ctr"/>
          <a:lstStyle/>
          <a:p>
            <a:pPr marL="0" indent="0">
              <a:buNone/>
            </a:pPr>
            <a:r>
              <a:rPr lang="en-US" sz="1300" b="1" dirty="0">
                <a:solidFill>
                  <a:srgbClr val="F0883E"/>
                </a:solidFill>
                <a:latin typeface="Consolas" pitchFamily="34" charset="0"/>
                <a:ea typeface="Consolas" pitchFamily="34" charset="-122"/>
                <a:cs typeface="Consolas" pitchFamily="34" charset="-120"/>
              </a:rPr>
              <a:t>Escaneo de vulnerabilidades (Pentest Tools)</a:t>
            </a:r>
            <a:endParaRPr lang="en-US" sz="1300" dirty="0"/>
          </a:p>
        </p:txBody>
      </p:sp>
      <p:sp>
        <p:nvSpPr>
          <p:cNvPr id="13" name="Text 11"/>
          <p:cNvSpPr/>
          <p:nvPr/>
        </p:nvSpPr>
        <p:spPr>
          <a:xfrm>
            <a:off x="1005840" y="2295144"/>
            <a:ext cx="7772400" cy="502920"/>
          </a:xfrm>
          <a:prstGeom prst="rect">
            <a:avLst/>
          </a:prstGeom>
          <a:noFill/>
          <a:ln/>
        </p:spPr>
        <p:txBody>
          <a:bodyPr wrap="square" rtlCol="0" anchor="ctr"/>
          <a:lstStyle/>
          <a:p>
            <a:pPr marL="0" indent="0">
              <a:buNone/>
            </a:pPr>
            <a:r>
              <a:rPr lang="en-US" sz="1100" dirty="0">
                <a:solidFill>
                  <a:srgbClr val="F0F6FC"/>
                </a:solidFill>
                <a:latin typeface="Calibri" pitchFamily="34" charset="0"/>
                <a:ea typeface="Calibri" pitchFamily="34" charset="-122"/>
                <a:cs typeface="Calibri" pitchFamily="34" charset="-120"/>
              </a:rPr>
              <a:t>Se introduce la URL en el escáner web de Pentest Tools. La herramienta ejecuta 38 pruebas automáticas sobre el objetivo y clasifica los hallazgos por nivel de riesgo.</a:t>
            </a:r>
            <a:endParaRPr lang="en-US" sz="1100" dirty="0"/>
          </a:p>
        </p:txBody>
      </p:sp>
      <p:sp>
        <p:nvSpPr>
          <p:cNvPr id="14" name="Shape 12"/>
          <p:cNvSpPr/>
          <p:nvPr/>
        </p:nvSpPr>
        <p:spPr>
          <a:xfrm>
            <a:off x="512064" y="2532888"/>
            <a:ext cx="0" cy="411480"/>
          </a:xfrm>
          <a:prstGeom prst="line">
            <a:avLst/>
          </a:prstGeom>
          <a:noFill/>
          <a:ln w="19050">
            <a:solidFill>
              <a:srgbClr val="F0883E"/>
            </a:solidFill>
            <a:prstDash val="dash"/>
          </a:ln>
        </p:spPr>
        <p:txBody>
          <a:bodyPr/>
          <a:lstStyle/>
          <a:p>
            <a:endParaRPr lang="es-PA"/>
          </a:p>
        </p:txBody>
      </p:sp>
      <p:sp>
        <p:nvSpPr>
          <p:cNvPr id="15" name="Shape 13"/>
          <p:cNvSpPr/>
          <p:nvPr/>
        </p:nvSpPr>
        <p:spPr>
          <a:xfrm>
            <a:off x="274320" y="2990088"/>
            <a:ext cx="502920" cy="502920"/>
          </a:xfrm>
          <a:prstGeom prst="ellipse">
            <a:avLst/>
          </a:prstGeom>
          <a:solidFill>
            <a:srgbClr val="39D353"/>
          </a:solidFill>
          <a:ln w="12700">
            <a:solidFill>
              <a:srgbClr val="39D353"/>
            </a:solidFill>
            <a:prstDash val="solid"/>
          </a:ln>
        </p:spPr>
        <p:txBody>
          <a:bodyPr/>
          <a:lstStyle/>
          <a:p>
            <a:endParaRPr lang="es-PA"/>
          </a:p>
        </p:txBody>
      </p:sp>
      <p:sp>
        <p:nvSpPr>
          <p:cNvPr id="16" name="Text 14"/>
          <p:cNvSpPr/>
          <p:nvPr/>
        </p:nvSpPr>
        <p:spPr>
          <a:xfrm>
            <a:off x="274320" y="2990088"/>
            <a:ext cx="502920" cy="502920"/>
          </a:xfrm>
          <a:prstGeom prst="rect">
            <a:avLst/>
          </a:prstGeom>
          <a:noFill/>
          <a:ln/>
        </p:spPr>
        <p:txBody>
          <a:bodyPr wrap="square" rtlCol="0" anchor="ctr"/>
          <a:lstStyle/>
          <a:p>
            <a:pPr marL="0" indent="0" algn="ctr">
              <a:buNone/>
            </a:pPr>
            <a:r>
              <a:rPr lang="en-US" sz="1800" b="1" dirty="0">
                <a:solidFill>
                  <a:srgbClr val="0D1117"/>
                </a:solidFill>
                <a:latin typeface="Consolas" pitchFamily="34" charset="0"/>
                <a:ea typeface="Consolas" pitchFamily="34" charset="-122"/>
                <a:cs typeface="Consolas" pitchFamily="34" charset="-120"/>
              </a:rPr>
              <a:t>3</a:t>
            </a:r>
            <a:endParaRPr lang="en-US" sz="1800" dirty="0"/>
          </a:p>
        </p:txBody>
      </p:sp>
      <p:sp>
        <p:nvSpPr>
          <p:cNvPr id="17" name="Text 15"/>
          <p:cNvSpPr/>
          <p:nvPr/>
        </p:nvSpPr>
        <p:spPr>
          <a:xfrm>
            <a:off x="1005840" y="2971800"/>
            <a:ext cx="7772400" cy="274320"/>
          </a:xfrm>
          <a:prstGeom prst="rect">
            <a:avLst/>
          </a:prstGeom>
          <a:noFill/>
          <a:ln/>
        </p:spPr>
        <p:txBody>
          <a:bodyPr wrap="square" rtlCol="0" anchor="ctr"/>
          <a:lstStyle/>
          <a:p>
            <a:pPr marL="0" indent="0">
              <a:buNone/>
            </a:pPr>
            <a:r>
              <a:rPr lang="en-US" sz="1300" b="1" dirty="0">
                <a:solidFill>
                  <a:srgbClr val="39D353"/>
                </a:solidFill>
                <a:latin typeface="Consolas" pitchFamily="34" charset="0"/>
                <a:ea typeface="Consolas" pitchFamily="34" charset="-122"/>
                <a:cs typeface="Consolas" pitchFamily="34" charset="-120"/>
              </a:rPr>
              <a:t>Búsqueda de subdominios (Pentest Tools)</a:t>
            </a:r>
            <a:endParaRPr lang="en-US" sz="1300" dirty="0"/>
          </a:p>
        </p:txBody>
      </p:sp>
      <p:sp>
        <p:nvSpPr>
          <p:cNvPr id="18" name="Text 16"/>
          <p:cNvSpPr/>
          <p:nvPr/>
        </p:nvSpPr>
        <p:spPr>
          <a:xfrm>
            <a:off x="1005840" y="3255264"/>
            <a:ext cx="7772400" cy="502920"/>
          </a:xfrm>
          <a:prstGeom prst="rect">
            <a:avLst/>
          </a:prstGeom>
          <a:noFill/>
          <a:ln/>
        </p:spPr>
        <p:txBody>
          <a:bodyPr wrap="square" rtlCol="0" anchor="ctr"/>
          <a:lstStyle/>
          <a:p>
            <a:pPr marL="0" indent="0">
              <a:buNone/>
            </a:pPr>
            <a:r>
              <a:rPr lang="en-US" sz="1100" dirty="0">
                <a:solidFill>
                  <a:srgbClr val="F0F6FC"/>
                </a:solidFill>
                <a:latin typeface="Calibri" pitchFamily="34" charset="0"/>
                <a:ea typeface="Calibri" pitchFamily="34" charset="-122"/>
                <a:cs typeface="Calibri" pitchFamily="34" charset="-120"/>
              </a:rPr>
              <a:t>Se introduce el dominio principal en el buscador de subdominios. Se enumeran subdominios activos y sus IPs, útiles para identificar superficies de ataque adicionales.</a:t>
            </a:r>
            <a:endParaRPr lang="en-US" sz="1100" dirty="0"/>
          </a:p>
        </p:txBody>
      </p:sp>
      <p:sp>
        <p:nvSpPr>
          <p:cNvPr id="19" name="Shape 17"/>
          <p:cNvSpPr/>
          <p:nvPr/>
        </p:nvSpPr>
        <p:spPr>
          <a:xfrm>
            <a:off x="512064" y="3493008"/>
            <a:ext cx="0" cy="411480"/>
          </a:xfrm>
          <a:prstGeom prst="line">
            <a:avLst/>
          </a:prstGeom>
          <a:noFill/>
          <a:ln w="19050">
            <a:solidFill>
              <a:srgbClr val="39D353"/>
            </a:solidFill>
            <a:prstDash val="dash"/>
          </a:ln>
        </p:spPr>
        <p:txBody>
          <a:bodyPr/>
          <a:lstStyle/>
          <a:p>
            <a:endParaRPr lang="es-PA"/>
          </a:p>
        </p:txBody>
      </p:sp>
      <p:sp>
        <p:nvSpPr>
          <p:cNvPr id="20" name="Shape 18"/>
          <p:cNvSpPr/>
          <p:nvPr/>
        </p:nvSpPr>
        <p:spPr>
          <a:xfrm>
            <a:off x="274320" y="3950208"/>
            <a:ext cx="502920" cy="502920"/>
          </a:xfrm>
          <a:prstGeom prst="ellipse">
            <a:avLst/>
          </a:prstGeom>
          <a:solidFill>
            <a:srgbClr val="FF6B6B"/>
          </a:solidFill>
          <a:ln w="12700">
            <a:solidFill>
              <a:srgbClr val="FF6B6B"/>
            </a:solidFill>
            <a:prstDash val="solid"/>
          </a:ln>
        </p:spPr>
        <p:txBody>
          <a:bodyPr/>
          <a:lstStyle/>
          <a:p>
            <a:endParaRPr lang="es-PA"/>
          </a:p>
        </p:txBody>
      </p:sp>
      <p:sp>
        <p:nvSpPr>
          <p:cNvPr id="21" name="Text 19"/>
          <p:cNvSpPr/>
          <p:nvPr/>
        </p:nvSpPr>
        <p:spPr>
          <a:xfrm>
            <a:off x="274320" y="3950208"/>
            <a:ext cx="502920" cy="502920"/>
          </a:xfrm>
          <a:prstGeom prst="rect">
            <a:avLst/>
          </a:prstGeom>
          <a:noFill/>
          <a:ln/>
        </p:spPr>
        <p:txBody>
          <a:bodyPr wrap="square" rtlCol="0" anchor="ctr"/>
          <a:lstStyle/>
          <a:p>
            <a:pPr marL="0" indent="0" algn="ctr">
              <a:buNone/>
            </a:pPr>
            <a:r>
              <a:rPr lang="en-US" sz="1800" b="1" dirty="0">
                <a:solidFill>
                  <a:srgbClr val="0D1117"/>
                </a:solidFill>
                <a:latin typeface="Consolas" pitchFamily="34" charset="0"/>
                <a:ea typeface="Consolas" pitchFamily="34" charset="-122"/>
                <a:cs typeface="Consolas" pitchFamily="34" charset="-120"/>
              </a:rPr>
              <a:t>4</a:t>
            </a:r>
            <a:endParaRPr lang="en-US" sz="1800" dirty="0"/>
          </a:p>
        </p:txBody>
      </p:sp>
      <p:sp>
        <p:nvSpPr>
          <p:cNvPr id="22" name="Text 20"/>
          <p:cNvSpPr/>
          <p:nvPr/>
        </p:nvSpPr>
        <p:spPr>
          <a:xfrm>
            <a:off x="1005840" y="3931920"/>
            <a:ext cx="7772400" cy="274320"/>
          </a:xfrm>
          <a:prstGeom prst="rect">
            <a:avLst/>
          </a:prstGeom>
          <a:noFill/>
          <a:ln/>
        </p:spPr>
        <p:txBody>
          <a:bodyPr wrap="square" rtlCol="0" anchor="ctr"/>
          <a:lstStyle/>
          <a:p>
            <a:pPr marL="0" indent="0">
              <a:buNone/>
            </a:pPr>
            <a:r>
              <a:rPr lang="en-US" sz="1300" b="1" dirty="0">
                <a:solidFill>
                  <a:srgbClr val="FF6B6B"/>
                </a:solidFill>
                <a:latin typeface="Consolas" pitchFamily="34" charset="0"/>
                <a:ea typeface="Consolas" pitchFamily="34" charset="-122"/>
                <a:cs typeface="Consolas" pitchFamily="34" charset="-120"/>
              </a:rPr>
              <a:t>Escaneo con Nmap (Zenmap)</a:t>
            </a:r>
            <a:endParaRPr lang="en-US" sz="1300" dirty="0"/>
          </a:p>
        </p:txBody>
      </p:sp>
      <p:sp>
        <p:nvSpPr>
          <p:cNvPr id="23" name="Text 21"/>
          <p:cNvSpPr/>
          <p:nvPr/>
        </p:nvSpPr>
        <p:spPr>
          <a:xfrm>
            <a:off x="1005840" y="4215384"/>
            <a:ext cx="7772400" cy="502920"/>
          </a:xfrm>
          <a:prstGeom prst="rect">
            <a:avLst/>
          </a:prstGeom>
          <a:noFill/>
          <a:ln/>
        </p:spPr>
        <p:txBody>
          <a:bodyPr wrap="square" rtlCol="0" anchor="ctr"/>
          <a:lstStyle/>
          <a:p>
            <a:pPr marL="0" indent="0">
              <a:buNone/>
            </a:pPr>
            <a:r>
              <a:rPr lang="en-US" sz="1100" dirty="0">
                <a:solidFill>
                  <a:srgbClr val="F0F6FC"/>
                </a:solidFill>
                <a:latin typeface="Calibri" pitchFamily="34" charset="0"/>
                <a:ea typeface="Calibri" pitchFamily="34" charset="-122"/>
                <a:cs typeface="Calibri" pitchFamily="34" charset="-120"/>
              </a:rPr>
              <a:t>Con la IP obtenida, se ejecuta: nmap -T4 -A -v [IP]. Se obtiene información detallada de puertos, servicios, versiones y traceroute hacia el objetivo.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FFF"/>
          </a:solidFill>
          <a:ln w="12700">
            <a:solidFill>
              <a:srgbClr val="00BFFF"/>
            </a:solidFill>
            <a:prstDash val="solid"/>
          </a:ln>
        </p:spPr>
        <p:txBody>
          <a:bodyPr/>
          <a:lstStyle/>
          <a:p>
            <a:endParaRPr lang="es-PA"/>
          </a:p>
        </p:txBody>
      </p:sp>
      <p:sp>
        <p:nvSpPr>
          <p:cNvPr id="3" name="Text 1"/>
          <p:cNvSpPr/>
          <p:nvPr/>
        </p:nvSpPr>
        <p:spPr>
          <a:xfrm>
            <a:off x="365760" y="109728"/>
            <a:ext cx="8229600" cy="457200"/>
          </a:xfrm>
          <a:prstGeom prst="rect">
            <a:avLst/>
          </a:prstGeom>
          <a:noFill/>
          <a:ln/>
        </p:spPr>
        <p:txBody>
          <a:bodyPr wrap="square" rtlCol="0" anchor="ctr"/>
          <a:lstStyle/>
          <a:p>
            <a:pPr marL="0" indent="0">
              <a:buNone/>
            </a:pPr>
            <a:r>
              <a:rPr lang="en-US" sz="2400" b="1" dirty="0">
                <a:solidFill>
                  <a:srgbClr val="F0F6FC"/>
                </a:solidFill>
                <a:latin typeface="Consolas" pitchFamily="34" charset="0"/>
                <a:ea typeface="Consolas" pitchFamily="34" charset="-122"/>
                <a:cs typeface="Consolas" pitchFamily="34" charset="-120"/>
              </a:rPr>
              <a:t>Dominio 1: Panasonic Panamá</a:t>
            </a:r>
            <a:endParaRPr lang="en-US" sz="2400" dirty="0"/>
          </a:p>
        </p:txBody>
      </p:sp>
      <p:sp>
        <p:nvSpPr>
          <p:cNvPr id="4" name="Text 2"/>
          <p:cNvSpPr/>
          <p:nvPr/>
        </p:nvSpPr>
        <p:spPr>
          <a:xfrm>
            <a:off x="365760" y="566928"/>
            <a:ext cx="8229600" cy="274320"/>
          </a:xfrm>
          <a:prstGeom prst="rect">
            <a:avLst/>
          </a:prstGeom>
          <a:noFill/>
          <a:ln/>
        </p:spPr>
        <p:txBody>
          <a:bodyPr wrap="square" rtlCol="0" anchor="ctr"/>
          <a:lstStyle/>
          <a:p>
            <a:pPr marL="0" indent="0">
              <a:buNone/>
            </a:pPr>
            <a:r>
              <a:rPr lang="en-US" sz="1200" dirty="0">
                <a:solidFill>
                  <a:srgbClr val="00BFFF"/>
                </a:solidFill>
                <a:latin typeface="Consolas" pitchFamily="34" charset="0"/>
                <a:ea typeface="Consolas" pitchFamily="34" charset="-122"/>
                <a:cs typeface="Consolas" pitchFamily="34" charset="-120"/>
              </a:rPr>
              <a:t>https://www.panasonic.com/pa/</a:t>
            </a:r>
            <a:endParaRPr lang="en-US" sz="1200" dirty="0"/>
          </a:p>
        </p:txBody>
      </p:sp>
      <p:pic>
        <p:nvPicPr>
          <p:cNvPr id="5" name="Image 0" descr="preencoded.png"/>
          <p:cNvPicPr>
            <a:picLocks noChangeAspect="1"/>
          </p:cNvPicPr>
          <p:nvPr/>
        </p:nvPicPr>
        <p:blipFill>
          <a:blip r:embed="rId3"/>
          <a:stretch>
            <a:fillRect/>
          </a:stretch>
        </p:blipFill>
        <p:spPr>
          <a:xfrm>
            <a:off x="274320" y="868680"/>
            <a:ext cx="5120640" cy="2651760"/>
          </a:xfrm>
          <a:prstGeom prst="rect">
            <a:avLst/>
          </a:prstGeom>
        </p:spPr>
      </p:pic>
      <p:pic>
        <p:nvPicPr>
          <p:cNvPr id="6" name="Image 1" descr="preencoded.png"/>
          <p:cNvPicPr>
            <a:picLocks noChangeAspect="1"/>
          </p:cNvPicPr>
          <p:nvPr/>
        </p:nvPicPr>
        <p:blipFill>
          <a:blip r:embed="rId4"/>
          <a:stretch>
            <a:fillRect/>
          </a:stretch>
        </p:blipFill>
        <p:spPr>
          <a:xfrm>
            <a:off x="274320" y="3566160"/>
            <a:ext cx="5120640" cy="1463040"/>
          </a:xfrm>
          <a:prstGeom prst="rect">
            <a:avLst/>
          </a:prstGeom>
        </p:spPr>
      </p:pic>
      <p:sp>
        <p:nvSpPr>
          <p:cNvPr id="7" name="Shape 3"/>
          <p:cNvSpPr/>
          <p:nvPr/>
        </p:nvSpPr>
        <p:spPr>
          <a:xfrm>
            <a:off x="5577840" y="868680"/>
            <a:ext cx="3383280" cy="4160520"/>
          </a:xfrm>
          <a:prstGeom prst="roundRect">
            <a:avLst>
              <a:gd name="adj" fmla="val 2162"/>
            </a:avLst>
          </a:prstGeom>
          <a:solidFill>
            <a:srgbClr val="21262D"/>
          </a:solidFill>
          <a:ln w="12700">
            <a:solidFill>
              <a:srgbClr val="00BFFF"/>
            </a:solidFill>
            <a:prstDash val="solid"/>
          </a:ln>
        </p:spPr>
        <p:txBody>
          <a:bodyPr/>
          <a:lstStyle/>
          <a:p>
            <a:endParaRPr lang="es-PA"/>
          </a:p>
        </p:txBody>
      </p:sp>
      <p:sp>
        <p:nvSpPr>
          <p:cNvPr id="8" name="Text 4"/>
          <p:cNvSpPr/>
          <p:nvPr/>
        </p:nvSpPr>
        <p:spPr>
          <a:xfrm>
            <a:off x="5715000" y="960120"/>
            <a:ext cx="3108960" cy="320040"/>
          </a:xfrm>
          <a:prstGeom prst="rect">
            <a:avLst/>
          </a:prstGeom>
          <a:noFill/>
          <a:ln/>
        </p:spPr>
        <p:txBody>
          <a:bodyPr wrap="square" rtlCol="0" anchor="ctr"/>
          <a:lstStyle/>
          <a:p>
            <a:pPr marL="0" indent="0">
              <a:buNone/>
            </a:pPr>
            <a:r>
              <a:rPr lang="en-US" sz="1200" b="1" dirty="0">
                <a:solidFill>
                  <a:srgbClr val="00BFFF"/>
                </a:solidFill>
                <a:latin typeface="Consolas" pitchFamily="34" charset="0"/>
                <a:ea typeface="Consolas" pitchFamily="34" charset="-122"/>
                <a:cs typeface="Consolas" pitchFamily="34" charset="-120"/>
              </a:rPr>
              <a:t>Resultados del Escaneo</a:t>
            </a:r>
            <a:endParaRPr lang="en-US" sz="1200" dirty="0"/>
          </a:p>
        </p:txBody>
      </p:sp>
      <p:sp>
        <p:nvSpPr>
          <p:cNvPr id="9" name="Text 5"/>
          <p:cNvSpPr/>
          <p:nvPr/>
        </p:nvSpPr>
        <p:spPr>
          <a:xfrm>
            <a:off x="5715000" y="1325880"/>
            <a:ext cx="3108960" cy="3566160"/>
          </a:xfrm>
          <a:prstGeom prst="rect">
            <a:avLst/>
          </a:prstGeom>
          <a:noFill/>
          <a:ln/>
        </p:spPr>
        <p:txBody>
          <a:bodyPr wrap="square" rtlCol="0" anchor="ctr"/>
          <a:lstStyle/>
          <a:p>
            <a:pPr marL="0" indent="0">
              <a:buNone/>
            </a:pPr>
            <a:r>
              <a:rPr lang="en-US" sz="950" b="1" dirty="0">
                <a:solidFill>
                  <a:srgbClr val="F0F6FC"/>
                </a:solidFill>
                <a:latin typeface="Calibri" pitchFamily="34" charset="0"/>
                <a:ea typeface="Calibri" pitchFamily="34" charset="-122"/>
                <a:cs typeface="Calibri" pitchFamily="34" charset="-120"/>
              </a:rPr>
              <a:t>Vulnerabilidades detectadas:
</a:t>
            </a:r>
            <a:r>
              <a:rPr lang="en-US" sz="950" dirty="0">
                <a:solidFill>
                  <a:srgbClr val="F0F6FC"/>
                </a:solidFill>
                <a:latin typeface="Calibri" pitchFamily="34" charset="0"/>
                <a:ea typeface="Calibri" pitchFamily="34" charset="-122"/>
                <a:cs typeface="Calibri" pitchFamily="34" charset="-120"/>
              </a:rPr>
              <a:t>• Crítico: 0
• Alto: 0
• Medio: 1  ⚠
• Bajo: 1
• Información: 1
</a:t>
            </a:r>
            <a:r>
              <a:rPr lang="en-US" sz="950" b="1" dirty="0">
                <a:solidFill>
                  <a:srgbClr val="F0883E"/>
                </a:solidFill>
                <a:latin typeface="Calibri" pitchFamily="34" charset="0"/>
                <a:ea typeface="Calibri" pitchFamily="34" charset="-122"/>
                <a:cs typeface="Calibri" pitchFamily="34" charset="-120"/>
              </a:rPr>
              <a:t>Nivel de Riesgo General: MEDIO
</a:t>
            </a:r>
            <a:r>
              <a:rPr lang="en-US" sz="950" dirty="0">
                <a:solidFill>
                  <a:srgbClr val="F0F6FC"/>
                </a:solidFill>
                <a:latin typeface="Calibri" pitchFamily="34" charset="0"/>
                <a:ea typeface="Calibri" pitchFamily="34" charset="-122"/>
                <a:cs typeface="Calibri" pitchFamily="34" charset="-120"/>
              </a:rPr>
              <a:t>Duración del escaneo: 50 seg
Pruebas realizadas: 38
</a:t>
            </a:r>
            <a:r>
              <a:rPr lang="en-US" sz="950" b="1" dirty="0">
                <a:solidFill>
                  <a:srgbClr val="39D353"/>
                </a:solidFill>
                <a:latin typeface="Calibri" pitchFamily="34" charset="0"/>
                <a:ea typeface="Calibri" pitchFamily="34" charset="-122"/>
                <a:cs typeface="Calibri" pitchFamily="34" charset="-120"/>
              </a:rPr>
              <a:t>Subdominios encontrados: 3
</a:t>
            </a:r>
            <a:r>
              <a:rPr lang="en-US" sz="950" dirty="0">
                <a:solidFill>
                  <a:srgbClr val="F0F6FC"/>
                </a:solidFill>
                <a:latin typeface="Calibri" pitchFamily="34" charset="0"/>
                <a:ea typeface="Calibri" pitchFamily="34" charset="-122"/>
                <a:cs typeface="Calibri" pitchFamily="34" charset="-120"/>
              </a:rPr>
              <a:t>• tienda.www.panasonic.com → 72.52.10.14
• www.eu.sso.www.panasonic.com → No resuelto
• eu.sso.www.panasonic.com → No resuelto
</a:t>
            </a:r>
            <a:r>
              <a:rPr lang="en-US" sz="950" b="1" dirty="0">
                <a:solidFill>
                  <a:srgbClr val="39D353"/>
                </a:solidFill>
                <a:latin typeface="Calibri" pitchFamily="34" charset="0"/>
                <a:ea typeface="Calibri" pitchFamily="34" charset="-122"/>
                <a:cs typeface="Calibri" pitchFamily="34" charset="-120"/>
              </a:rPr>
              <a:t>Nmap - IP: 172.232.211.44
</a:t>
            </a:r>
            <a:r>
              <a:rPr lang="en-US" sz="950" dirty="0">
                <a:solidFill>
                  <a:srgbClr val="F0F6FC"/>
                </a:solidFill>
                <a:latin typeface="Calibri" pitchFamily="34" charset="0"/>
                <a:ea typeface="Calibri" pitchFamily="34" charset="-122"/>
                <a:cs typeface="Calibri" pitchFamily="34" charset="-120"/>
              </a:rPr>
              <a:t>Puertos abiertos:</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 Puerto 80/tcp  → HTTP</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 Puerto 8080/tcp → HTTP alternativo</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Host activo, latencia 0.100s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FFF"/>
          </a:solidFill>
          <a:ln w="12700">
            <a:solidFill>
              <a:srgbClr val="00BFFF"/>
            </a:solidFill>
            <a:prstDash val="solid"/>
          </a:ln>
        </p:spPr>
        <p:txBody>
          <a:bodyPr/>
          <a:lstStyle/>
          <a:p>
            <a:endParaRPr lang="es-PA"/>
          </a:p>
        </p:txBody>
      </p:sp>
      <p:sp>
        <p:nvSpPr>
          <p:cNvPr id="3" name="Text 1"/>
          <p:cNvSpPr/>
          <p:nvPr/>
        </p:nvSpPr>
        <p:spPr>
          <a:xfrm>
            <a:off x="365760" y="109728"/>
            <a:ext cx="8229600" cy="457200"/>
          </a:xfrm>
          <a:prstGeom prst="rect">
            <a:avLst/>
          </a:prstGeom>
          <a:noFill/>
          <a:ln/>
        </p:spPr>
        <p:txBody>
          <a:bodyPr wrap="square" rtlCol="0" anchor="ctr"/>
          <a:lstStyle/>
          <a:p>
            <a:pPr marL="0" indent="0">
              <a:buNone/>
            </a:pPr>
            <a:r>
              <a:rPr lang="en-US" sz="2200" b="1" dirty="0">
                <a:solidFill>
                  <a:srgbClr val="F0F6FC"/>
                </a:solidFill>
                <a:latin typeface="Consolas" pitchFamily="34" charset="0"/>
                <a:ea typeface="Consolas" pitchFamily="34" charset="-122"/>
                <a:cs typeface="Consolas" pitchFamily="34" charset="-120"/>
              </a:rPr>
              <a:t>Dominio 1 — Escaneo Nmap (Zenmap)</a:t>
            </a:r>
            <a:endParaRPr lang="en-US" sz="2200" dirty="0"/>
          </a:p>
        </p:txBody>
      </p:sp>
      <p:pic>
        <p:nvPicPr>
          <p:cNvPr id="4" name="Image 0" descr="preencoded.png"/>
          <p:cNvPicPr>
            <a:picLocks noChangeAspect="1"/>
          </p:cNvPicPr>
          <p:nvPr/>
        </p:nvPicPr>
        <p:blipFill>
          <a:blip r:embed="rId3"/>
          <a:stretch>
            <a:fillRect/>
          </a:stretch>
        </p:blipFill>
        <p:spPr>
          <a:xfrm>
            <a:off x="274320" y="640080"/>
            <a:ext cx="5486400" cy="4434840"/>
          </a:xfrm>
          <a:prstGeom prst="rect">
            <a:avLst/>
          </a:prstGeom>
        </p:spPr>
      </p:pic>
      <p:sp>
        <p:nvSpPr>
          <p:cNvPr id="5" name="Shape 2"/>
          <p:cNvSpPr/>
          <p:nvPr/>
        </p:nvSpPr>
        <p:spPr>
          <a:xfrm>
            <a:off x="5943600" y="640080"/>
            <a:ext cx="3017520" cy="4434840"/>
          </a:xfrm>
          <a:prstGeom prst="roundRect">
            <a:avLst>
              <a:gd name="adj" fmla="val 2424"/>
            </a:avLst>
          </a:prstGeom>
          <a:solidFill>
            <a:srgbClr val="21262D"/>
          </a:solidFill>
          <a:ln w="12700">
            <a:solidFill>
              <a:srgbClr val="39D353"/>
            </a:solidFill>
            <a:prstDash val="solid"/>
          </a:ln>
        </p:spPr>
        <p:txBody>
          <a:bodyPr/>
          <a:lstStyle/>
          <a:p>
            <a:endParaRPr lang="es-PA"/>
          </a:p>
        </p:txBody>
      </p:sp>
      <p:sp>
        <p:nvSpPr>
          <p:cNvPr id="6" name="Text 3"/>
          <p:cNvSpPr/>
          <p:nvPr/>
        </p:nvSpPr>
        <p:spPr>
          <a:xfrm>
            <a:off x="6080760" y="731520"/>
            <a:ext cx="2743200" cy="320040"/>
          </a:xfrm>
          <a:prstGeom prst="rect">
            <a:avLst/>
          </a:prstGeom>
          <a:noFill/>
          <a:ln/>
        </p:spPr>
        <p:txBody>
          <a:bodyPr wrap="square" rtlCol="0" anchor="ctr"/>
          <a:lstStyle/>
          <a:p>
            <a:pPr marL="0" indent="0">
              <a:buNone/>
            </a:pPr>
            <a:r>
              <a:rPr lang="en-US" sz="1200" b="1" dirty="0">
                <a:solidFill>
                  <a:srgbClr val="39D353"/>
                </a:solidFill>
                <a:latin typeface="Consolas" pitchFamily="34" charset="0"/>
                <a:ea typeface="Consolas" pitchFamily="34" charset="-122"/>
                <a:cs typeface="Consolas" pitchFamily="34" charset="-120"/>
              </a:rPr>
              <a:t>Análisis Nmap</a:t>
            </a:r>
            <a:endParaRPr lang="en-US" sz="1200" dirty="0"/>
          </a:p>
        </p:txBody>
      </p:sp>
      <p:sp>
        <p:nvSpPr>
          <p:cNvPr id="7" name="Text 4"/>
          <p:cNvSpPr/>
          <p:nvPr/>
        </p:nvSpPr>
        <p:spPr>
          <a:xfrm>
            <a:off x="6080760" y="1097280"/>
            <a:ext cx="2743200" cy="3840480"/>
          </a:xfrm>
          <a:prstGeom prst="rect">
            <a:avLst/>
          </a:prstGeom>
          <a:noFill/>
          <a:ln/>
        </p:spPr>
        <p:txBody>
          <a:bodyPr wrap="square" rtlCol="0" anchor="ctr"/>
          <a:lstStyle/>
          <a:p>
            <a:pPr marL="0" indent="0">
              <a:buNone/>
            </a:pPr>
            <a:r>
              <a:rPr lang="en-US" sz="900" b="1" dirty="0">
                <a:solidFill>
                  <a:srgbClr val="F0F6FC"/>
                </a:solidFill>
                <a:latin typeface="Calibri" pitchFamily="34" charset="0"/>
                <a:ea typeface="Calibri" pitchFamily="34" charset="-122"/>
                <a:cs typeface="Calibri" pitchFamily="34" charset="-120"/>
              </a:rPr>
              <a:t>Target: </a:t>
            </a:r>
            <a:r>
              <a:rPr lang="en-US" sz="900" dirty="0">
                <a:solidFill>
                  <a:srgbClr val="F0F6FC"/>
                </a:solidFill>
                <a:latin typeface="Calibri" pitchFamily="34" charset="0"/>
                <a:ea typeface="Calibri" pitchFamily="34" charset="-122"/>
                <a:cs typeface="Calibri" pitchFamily="34" charset="-120"/>
              </a:rPr>
              <a:t>172.232.211.44
(172-232-211-44.ip.linodeusercontent.com)
</a:t>
            </a:r>
            <a:r>
              <a:rPr lang="en-US" sz="900" b="1" dirty="0">
                <a:solidFill>
                  <a:srgbClr val="F0883E"/>
                </a:solidFill>
                <a:latin typeface="Calibri" pitchFamily="34" charset="0"/>
                <a:ea typeface="Calibri" pitchFamily="34" charset="-122"/>
                <a:cs typeface="Calibri" pitchFamily="34" charset="-120"/>
              </a:rPr>
              <a:t>Comando: </a:t>
            </a:r>
            <a:r>
              <a:rPr lang="en-US" sz="900" dirty="0">
                <a:solidFill>
                  <a:srgbClr val="F0F6FC"/>
                </a:solidFill>
                <a:latin typeface="Calibri" pitchFamily="34" charset="0"/>
                <a:ea typeface="Calibri" pitchFamily="34" charset="-122"/>
                <a:cs typeface="Calibri" pitchFamily="34" charset="-120"/>
              </a:rPr>
              <a:t>nmap -T4 -A -v
</a:t>
            </a:r>
            <a:r>
              <a:rPr lang="en-US" sz="900" b="1" dirty="0">
                <a:solidFill>
                  <a:srgbClr val="00BFFF"/>
                </a:solidFill>
                <a:latin typeface="Calibri" pitchFamily="34" charset="0"/>
                <a:ea typeface="Calibri" pitchFamily="34" charset="-122"/>
                <a:cs typeface="Calibri" pitchFamily="34" charset="-120"/>
              </a:rPr>
              <a:t>Fases del escaneo:
</a:t>
            </a:r>
            <a:r>
              <a:rPr lang="en-US" sz="900" dirty="0">
                <a:solidFill>
                  <a:srgbClr val="F0F6FC"/>
                </a:solidFill>
                <a:latin typeface="Calibri" pitchFamily="34" charset="0"/>
                <a:ea typeface="Calibri" pitchFamily="34" charset="-122"/>
                <a:cs typeface="Calibri" pitchFamily="34" charset="-120"/>
              </a:rPr>
              <a:t>1. NSE Pre-scanning (scripts iniciales)
2. Ping Scan → host activo
3. DNS Paralelo → resolución de nombre
4. SYN Stealth Scan → 1000 puertos TCP
5. Service Scan → detecta servicios
6. OS Detection → intento de SO
7. Traceroute → ruta de red
8. NSE Post-scanning (scripts finales)
</a:t>
            </a:r>
            <a:r>
              <a:rPr lang="en-US" sz="900" b="1" dirty="0">
                <a:solidFill>
                  <a:srgbClr val="39D353"/>
                </a:solidFill>
                <a:latin typeface="Calibri" pitchFamily="34" charset="0"/>
                <a:ea typeface="Calibri" pitchFamily="34" charset="-122"/>
                <a:cs typeface="Calibri" pitchFamily="34" charset="-120"/>
              </a:rPr>
              <a:t>Puertos descubiertos:
</a:t>
            </a:r>
            <a:r>
              <a:rPr lang="en-US" sz="900" dirty="0">
                <a:solidFill>
                  <a:srgbClr val="F0F6FC"/>
                </a:solidFill>
                <a:latin typeface="Calibri" pitchFamily="34" charset="0"/>
                <a:ea typeface="Calibri" pitchFamily="34" charset="-122"/>
                <a:cs typeface="Calibri" pitchFamily="34" charset="-120"/>
              </a:rPr>
              <a:t>• 80/tcp  OPEN  HTTP
• 8080/tcp OPEN  HTTP
• 986 puertos filtrados
• 14 puertos cerrados
NSE: 158 scripts cargados y ejecutados</a:t>
            </a:r>
            <a:endParaRPr lang="en-US" sz="900" dirty="0"/>
          </a:p>
          <a:p>
            <a:pPr marL="0" indent="0">
              <a:buNone/>
            </a:pPr>
            <a:r>
              <a:rPr lang="en-US" sz="900" dirty="0">
                <a:solidFill>
                  <a:srgbClr val="F0F6FC"/>
                </a:solidFill>
                <a:latin typeface="Calibri" pitchFamily="34" charset="0"/>
                <a:ea typeface="Calibri" pitchFamily="34" charset="-122"/>
                <a:cs typeface="Calibri" pitchFamily="34" charset="-120"/>
              </a:rPr>
              <a:t>Duración total: ~18 segundos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883E"/>
          </a:solidFill>
          <a:ln w="12700">
            <a:solidFill>
              <a:srgbClr val="F0883E"/>
            </a:solidFill>
            <a:prstDash val="solid"/>
          </a:ln>
        </p:spPr>
        <p:txBody>
          <a:bodyPr/>
          <a:lstStyle/>
          <a:p>
            <a:endParaRPr lang="es-PA"/>
          </a:p>
        </p:txBody>
      </p:sp>
      <p:sp>
        <p:nvSpPr>
          <p:cNvPr id="3" name="Text 1"/>
          <p:cNvSpPr/>
          <p:nvPr/>
        </p:nvSpPr>
        <p:spPr>
          <a:xfrm>
            <a:off x="365760" y="109728"/>
            <a:ext cx="8229600" cy="457200"/>
          </a:xfrm>
          <a:prstGeom prst="rect">
            <a:avLst/>
          </a:prstGeom>
          <a:noFill/>
          <a:ln/>
        </p:spPr>
        <p:txBody>
          <a:bodyPr wrap="square" rtlCol="0" anchor="ctr"/>
          <a:lstStyle/>
          <a:p>
            <a:pPr marL="0" indent="0">
              <a:buNone/>
            </a:pPr>
            <a:r>
              <a:rPr lang="en-US" sz="2400" b="1" dirty="0">
                <a:solidFill>
                  <a:srgbClr val="F0F6FC"/>
                </a:solidFill>
                <a:latin typeface="Consolas" pitchFamily="34" charset="0"/>
                <a:ea typeface="Consolas" pitchFamily="34" charset="-122"/>
                <a:cs typeface="Consolas" pitchFamily="34" charset="-120"/>
              </a:rPr>
              <a:t>Dominio 2: Panafoto</a:t>
            </a:r>
            <a:endParaRPr lang="en-US" sz="2400" dirty="0"/>
          </a:p>
        </p:txBody>
      </p:sp>
      <p:sp>
        <p:nvSpPr>
          <p:cNvPr id="4" name="Text 2"/>
          <p:cNvSpPr/>
          <p:nvPr/>
        </p:nvSpPr>
        <p:spPr>
          <a:xfrm>
            <a:off x="365760" y="566928"/>
            <a:ext cx="8229600" cy="274320"/>
          </a:xfrm>
          <a:prstGeom prst="rect">
            <a:avLst/>
          </a:prstGeom>
          <a:noFill/>
          <a:ln/>
        </p:spPr>
        <p:txBody>
          <a:bodyPr wrap="square" rtlCol="0" anchor="ctr"/>
          <a:lstStyle/>
          <a:p>
            <a:pPr marL="0" indent="0">
              <a:buNone/>
            </a:pPr>
            <a:r>
              <a:rPr lang="en-US" sz="1200" dirty="0">
                <a:solidFill>
                  <a:srgbClr val="F0883E"/>
                </a:solidFill>
                <a:latin typeface="Consolas" pitchFamily="34" charset="0"/>
                <a:ea typeface="Consolas" pitchFamily="34" charset="-122"/>
                <a:cs typeface="Consolas" pitchFamily="34" charset="-120"/>
              </a:rPr>
              <a:t>https://www.panafoto.com/</a:t>
            </a:r>
            <a:endParaRPr lang="en-US" sz="1200" dirty="0"/>
          </a:p>
        </p:txBody>
      </p:sp>
      <p:pic>
        <p:nvPicPr>
          <p:cNvPr id="5" name="Image 0" descr="preencoded.png"/>
          <p:cNvPicPr>
            <a:picLocks noChangeAspect="1"/>
          </p:cNvPicPr>
          <p:nvPr/>
        </p:nvPicPr>
        <p:blipFill>
          <a:blip r:embed="rId3"/>
          <a:stretch>
            <a:fillRect/>
          </a:stretch>
        </p:blipFill>
        <p:spPr>
          <a:xfrm>
            <a:off x="274320" y="868680"/>
            <a:ext cx="5120640" cy="2651760"/>
          </a:xfrm>
          <a:prstGeom prst="rect">
            <a:avLst/>
          </a:prstGeom>
        </p:spPr>
      </p:pic>
      <p:pic>
        <p:nvPicPr>
          <p:cNvPr id="6" name="Image 1" descr="preencoded.png"/>
          <p:cNvPicPr>
            <a:picLocks noChangeAspect="1"/>
          </p:cNvPicPr>
          <p:nvPr/>
        </p:nvPicPr>
        <p:blipFill>
          <a:blip r:embed="rId4"/>
          <a:stretch>
            <a:fillRect/>
          </a:stretch>
        </p:blipFill>
        <p:spPr>
          <a:xfrm>
            <a:off x="274320" y="3566160"/>
            <a:ext cx="5120640" cy="1463040"/>
          </a:xfrm>
          <a:prstGeom prst="rect">
            <a:avLst/>
          </a:prstGeom>
        </p:spPr>
      </p:pic>
      <p:sp>
        <p:nvSpPr>
          <p:cNvPr id="7" name="Shape 3"/>
          <p:cNvSpPr/>
          <p:nvPr/>
        </p:nvSpPr>
        <p:spPr>
          <a:xfrm>
            <a:off x="5577840" y="868680"/>
            <a:ext cx="3383280" cy="4160520"/>
          </a:xfrm>
          <a:prstGeom prst="roundRect">
            <a:avLst>
              <a:gd name="adj" fmla="val 2162"/>
            </a:avLst>
          </a:prstGeom>
          <a:solidFill>
            <a:srgbClr val="21262D"/>
          </a:solidFill>
          <a:ln w="12700">
            <a:solidFill>
              <a:srgbClr val="F0883E"/>
            </a:solidFill>
            <a:prstDash val="solid"/>
          </a:ln>
        </p:spPr>
        <p:txBody>
          <a:bodyPr/>
          <a:lstStyle/>
          <a:p>
            <a:endParaRPr lang="es-PA"/>
          </a:p>
        </p:txBody>
      </p:sp>
      <p:sp>
        <p:nvSpPr>
          <p:cNvPr id="8" name="Text 4"/>
          <p:cNvSpPr/>
          <p:nvPr/>
        </p:nvSpPr>
        <p:spPr>
          <a:xfrm>
            <a:off x="5715000" y="960120"/>
            <a:ext cx="3108960" cy="320040"/>
          </a:xfrm>
          <a:prstGeom prst="rect">
            <a:avLst/>
          </a:prstGeom>
          <a:noFill/>
          <a:ln/>
        </p:spPr>
        <p:txBody>
          <a:bodyPr wrap="square" rtlCol="0" anchor="ctr"/>
          <a:lstStyle/>
          <a:p>
            <a:pPr marL="0" indent="0">
              <a:buNone/>
            </a:pPr>
            <a:r>
              <a:rPr lang="en-US" sz="1200" b="1" dirty="0">
                <a:solidFill>
                  <a:srgbClr val="F0883E"/>
                </a:solidFill>
                <a:latin typeface="Consolas" pitchFamily="34" charset="0"/>
                <a:ea typeface="Consolas" pitchFamily="34" charset="-122"/>
                <a:cs typeface="Consolas" pitchFamily="34" charset="-120"/>
              </a:rPr>
              <a:t>Resultados del Escaneo</a:t>
            </a:r>
            <a:endParaRPr lang="en-US" sz="1200" dirty="0"/>
          </a:p>
        </p:txBody>
      </p:sp>
      <p:sp>
        <p:nvSpPr>
          <p:cNvPr id="9" name="Text 5"/>
          <p:cNvSpPr/>
          <p:nvPr/>
        </p:nvSpPr>
        <p:spPr>
          <a:xfrm>
            <a:off x="5715000" y="1325880"/>
            <a:ext cx="3108960" cy="3566160"/>
          </a:xfrm>
          <a:prstGeom prst="rect">
            <a:avLst/>
          </a:prstGeom>
          <a:noFill/>
          <a:ln/>
        </p:spPr>
        <p:txBody>
          <a:bodyPr wrap="square" rtlCol="0" anchor="ctr"/>
          <a:lstStyle/>
          <a:p>
            <a:pPr marL="0" indent="0">
              <a:buNone/>
            </a:pPr>
            <a:r>
              <a:rPr lang="en-US" sz="950" b="1" dirty="0">
                <a:solidFill>
                  <a:srgbClr val="F0F6FC"/>
                </a:solidFill>
                <a:latin typeface="Calibri" pitchFamily="34" charset="0"/>
                <a:ea typeface="Calibri" pitchFamily="34" charset="-122"/>
                <a:cs typeface="Calibri" pitchFamily="34" charset="-120"/>
              </a:rPr>
              <a:t>Vulnerabilidades detectadas:
</a:t>
            </a:r>
            <a:r>
              <a:rPr lang="en-US" sz="950" dirty="0">
                <a:solidFill>
                  <a:srgbClr val="F0F6FC"/>
                </a:solidFill>
                <a:latin typeface="Calibri" pitchFamily="34" charset="0"/>
                <a:ea typeface="Calibri" pitchFamily="34" charset="-122"/>
                <a:cs typeface="Calibri" pitchFamily="34" charset="-120"/>
              </a:rPr>
              <a:t>• Crítico: 0
• Alto: 0
• Medio: 0
• Bajo: 4  ℹ
• Información: 2
</a:t>
            </a:r>
            <a:r>
              <a:rPr lang="en-US" sz="950" b="1" dirty="0">
                <a:solidFill>
                  <a:srgbClr val="00BFFF"/>
                </a:solidFill>
                <a:latin typeface="Calibri" pitchFamily="34" charset="0"/>
                <a:ea typeface="Calibri" pitchFamily="34" charset="-122"/>
                <a:cs typeface="Calibri" pitchFamily="34" charset="-120"/>
              </a:rPr>
              <a:t>Nivel de Riesgo General: BAJO
</a:t>
            </a:r>
            <a:r>
              <a:rPr lang="en-US" sz="950" dirty="0">
                <a:solidFill>
                  <a:srgbClr val="F0F6FC"/>
                </a:solidFill>
                <a:latin typeface="Calibri" pitchFamily="34" charset="0"/>
                <a:ea typeface="Calibri" pitchFamily="34" charset="-122"/>
                <a:cs typeface="Calibri" pitchFamily="34" charset="-120"/>
              </a:rPr>
              <a:t>Duración: 3 min 15 seg  |  Pruebas: 38
</a:t>
            </a:r>
            <a:r>
              <a:rPr lang="en-US" sz="950" b="1" dirty="0">
                <a:solidFill>
                  <a:srgbClr val="8B949E"/>
                </a:solidFill>
                <a:latin typeface="Calibri" pitchFamily="34" charset="0"/>
                <a:ea typeface="Calibri" pitchFamily="34" charset="-122"/>
                <a:cs typeface="Calibri" pitchFamily="34" charset="-120"/>
              </a:rPr>
              <a:t>Subdominios encontrados: 0
</a:t>
            </a:r>
            <a:r>
              <a:rPr lang="en-US" sz="950" dirty="0">
                <a:solidFill>
                  <a:srgbClr val="F0F6FC"/>
                </a:solidFill>
                <a:latin typeface="Calibri" pitchFamily="34" charset="0"/>
                <a:ea typeface="Calibri" pitchFamily="34" charset="-122"/>
                <a:cs typeface="Calibri" pitchFamily="34" charset="-120"/>
              </a:rPr>
              <a:t>No se encontraron subdominios adicionales en www.panafoto.com. La herramienta advirtió que al ser ya un subdominio, se recomienda escanear el dominio raíz panafoto.com para mayor cobertura.
</a:t>
            </a:r>
            <a:r>
              <a:rPr lang="en-US" sz="950" b="1" dirty="0">
                <a:solidFill>
                  <a:srgbClr val="39D353"/>
                </a:solidFill>
                <a:latin typeface="Calibri" pitchFamily="34" charset="0"/>
                <a:ea typeface="Calibri" pitchFamily="34" charset="-122"/>
                <a:cs typeface="Calibri" pitchFamily="34" charset="-120"/>
              </a:rPr>
              <a:t>Nmap - IP: 172.232.197.234
</a:t>
            </a:r>
            <a:r>
              <a:rPr lang="en-US" sz="950" dirty="0">
                <a:solidFill>
                  <a:srgbClr val="F0F6FC"/>
                </a:solidFill>
                <a:latin typeface="Calibri" pitchFamily="34" charset="0"/>
                <a:ea typeface="Calibri" pitchFamily="34" charset="-122"/>
                <a:cs typeface="Calibri" pitchFamily="34" charset="-120"/>
              </a:rPr>
              <a:t>Puertos abiertos:</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 Puerto 80/tcp  → HTTP</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 Puerto 8080/tcp → HTTP alternativo</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Latencia: 0.10s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883E"/>
          </a:solidFill>
          <a:ln w="12700">
            <a:solidFill>
              <a:srgbClr val="F0883E"/>
            </a:solidFill>
            <a:prstDash val="solid"/>
          </a:ln>
        </p:spPr>
        <p:txBody>
          <a:bodyPr/>
          <a:lstStyle/>
          <a:p>
            <a:endParaRPr lang="es-PA"/>
          </a:p>
        </p:txBody>
      </p:sp>
      <p:sp>
        <p:nvSpPr>
          <p:cNvPr id="3" name="Text 1"/>
          <p:cNvSpPr/>
          <p:nvPr/>
        </p:nvSpPr>
        <p:spPr>
          <a:xfrm>
            <a:off x="365760" y="109728"/>
            <a:ext cx="8229600" cy="457200"/>
          </a:xfrm>
          <a:prstGeom prst="rect">
            <a:avLst/>
          </a:prstGeom>
          <a:noFill/>
          <a:ln/>
        </p:spPr>
        <p:txBody>
          <a:bodyPr wrap="square" rtlCol="0" anchor="ctr"/>
          <a:lstStyle/>
          <a:p>
            <a:pPr marL="0" indent="0">
              <a:buNone/>
            </a:pPr>
            <a:r>
              <a:rPr lang="en-US" sz="2200" b="1" dirty="0">
                <a:solidFill>
                  <a:srgbClr val="F0F6FC"/>
                </a:solidFill>
                <a:latin typeface="Consolas" pitchFamily="34" charset="0"/>
                <a:ea typeface="Consolas" pitchFamily="34" charset="-122"/>
                <a:cs typeface="Consolas" pitchFamily="34" charset="-120"/>
              </a:rPr>
              <a:t>Dominio 2 — Escaneo Nmap (Panafoto)</a:t>
            </a:r>
            <a:endParaRPr lang="en-US" sz="2200" dirty="0"/>
          </a:p>
        </p:txBody>
      </p:sp>
      <p:pic>
        <p:nvPicPr>
          <p:cNvPr id="4" name="Image 0" descr="preencoded.png"/>
          <p:cNvPicPr>
            <a:picLocks noChangeAspect="1"/>
          </p:cNvPicPr>
          <p:nvPr/>
        </p:nvPicPr>
        <p:blipFill>
          <a:blip r:embed="rId3"/>
          <a:stretch>
            <a:fillRect/>
          </a:stretch>
        </p:blipFill>
        <p:spPr>
          <a:xfrm>
            <a:off x="274320" y="640080"/>
            <a:ext cx="5486400" cy="4434840"/>
          </a:xfrm>
          <a:prstGeom prst="rect">
            <a:avLst/>
          </a:prstGeom>
        </p:spPr>
      </p:pic>
      <p:sp>
        <p:nvSpPr>
          <p:cNvPr id="5" name="Shape 2"/>
          <p:cNvSpPr/>
          <p:nvPr/>
        </p:nvSpPr>
        <p:spPr>
          <a:xfrm>
            <a:off x="5943600" y="640080"/>
            <a:ext cx="3017520" cy="4434840"/>
          </a:xfrm>
          <a:prstGeom prst="roundRect">
            <a:avLst>
              <a:gd name="adj" fmla="val 2424"/>
            </a:avLst>
          </a:prstGeom>
          <a:solidFill>
            <a:srgbClr val="21262D"/>
          </a:solidFill>
          <a:ln w="12700">
            <a:solidFill>
              <a:srgbClr val="39D353"/>
            </a:solidFill>
            <a:prstDash val="solid"/>
          </a:ln>
        </p:spPr>
        <p:txBody>
          <a:bodyPr/>
          <a:lstStyle/>
          <a:p>
            <a:endParaRPr lang="es-PA"/>
          </a:p>
        </p:txBody>
      </p:sp>
      <p:sp>
        <p:nvSpPr>
          <p:cNvPr id="6" name="Text 3"/>
          <p:cNvSpPr/>
          <p:nvPr/>
        </p:nvSpPr>
        <p:spPr>
          <a:xfrm>
            <a:off x="6080760" y="731520"/>
            <a:ext cx="2743200" cy="320040"/>
          </a:xfrm>
          <a:prstGeom prst="rect">
            <a:avLst/>
          </a:prstGeom>
          <a:noFill/>
          <a:ln/>
        </p:spPr>
        <p:txBody>
          <a:bodyPr wrap="square" rtlCol="0" anchor="ctr"/>
          <a:lstStyle/>
          <a:p>
            <a:pPr marL="0" indent="0">
              <a:buNone/>
            </a:pPr>
            <a:r>
              <a:rPr lang="en-US" sz="1200" b="1" dirty="0">
                <a:solidFill>
                  <a:srgbClr val="39D353"/>
                </a:solidFill>
                <a:latin typeface="Consolas" pitchFamily="34" charset="0"/>
                <a:ea typeface="Consolas" pitchFamily="34" charset="-122"/>
                <a:cs typeface="Consolas" pitchFamily="34" charset="-120"/>
              </a:rPr>
              <a:t>Análisis Nmap</a:t>
            </a:r>
            <a:endParaRPr lang="en-US" sz="1200" dirty="0"/>
          </a:p>
        </p:txBody>
      </p:sp>
      <p:sp>
        <p:nvSpPr>
          <p:cNvPr id="7" name="Text 4"/>
          <p:cNvSpPr/>
          <p:nvPr/>
        </p:nvSpPr>
        <p:spPr>
          <a:xfrm>
            <a:off x="6080760" y="1097280"/>
            <a:ext cx="2743200" cy="3840480"/>
          </a:xfrm>
          <a:prstGeom prst="rect">
            <a:avLst/>
          </a:prstGeom>
          <a:noFill/>
          <a:ln/>
        </p:spPr>
        <p:txBody>
          <a:bodyPr wrap="square" rtlCol="0" anchor="ctr"/>
          <a:lstStyle/>
          <a:p>
            <a:pPr marL="0" indent="0">
              <a:buNone/>
            </a:pPr>
            <a:r>
              <a:rPr lang="en-US" sz="950" b="1" dirty="0">
                <a:solidFill>
                  <a:srgbClr val="F0F6FC"/>
                </a:solidFill>
                <a:latin typeface="Calibri" pitchFamily="34" charset="0"/>
                <a:ea typeface="Calibri" pitchFamily="34" charset="-122"/>
                <a:cs typeface="Calibri" pitchFamily="34" charset="-120"/>
              </a:rPr>
              <a:t>Target: </a:t>
            </a:r>
            <a:r>
              <a:rPr lang="en-US" sz="950" dirty="0">
                <a:solidFill>
                  <a:srgbClr val="F0F6FC"/>
                </a:solidFill>
                <a:latin typeface="Calibri" pitchFamily="34" charset="0"/>
                <a:ea typeface="Calibri" pitchFamily="34" charset="-122"/>
                <a:cs typeface="Calibri" pitchFamily="34" charset="-120"/>
              </a:rPr>
              <a:t>172.232.197.234
(172-232-197-234.ip.linodeusercontent.com)
</a:t>
            </a:r>
            <a:r>
              <a:rPr lang="en-US" sz="950" b="1" dirty="0">
                <a:solidFill>
                  <a:srgbClr val="39D353"/>
                </a:solidFill>
                <a:latin typeface="Calibri" pitchFamily="34" charset="0"/>
                <a:ea typeface="Calibri" pitchFamily="34" charset="-122"/>
                <a:cs typeface="Calibri" pitchFamily="34" charset="-120"/>
              </a:rPr>
              <a:t>Puertos abiertos:
</a:t>
            </a:r>
            <a:r>
              <a:rPr lang="en-US" sz="950" dirty="0">
                <a:solidFill>
                  <a:srgbClr val="F0F6FC"/>
                </a:solidFill>
                <a:latin typeface="Calibri" pitchFamily="34" charset="0"/>
                <a:ea typeface="Calibri" pitchFamily="34" charset="-122"/>
                <a:cs typeface="Calibri" pitchFamily="34" charset="-120"/>
              </a:rPr>
              <a:t>• 80/tcp  OPEN  HTTP
• 8080/tcp OPEN  HTTP-Proxy
• 986 puertos filtrados
</a:t>
            </a:r>
            <a:r>
              <a:rPr lang="en-US" sz="950" b="1" dirty="0">
                <a:solidFill>
                  <a:srgbClr val="F0883E"/>
                </a:solidFill>
                <a:latin typeface="Calibri" pitchFamily="34" charset="0"/>
                <a:ea typeface="Calibri" pitchFamily="34" charset="-122"/>
                <a:cs typeface="Calibri" pitchFamily="34" charset="-120"/>
              </a:rPr>
              <a:t>Observaciones:
</a:t>
            </a:r>
            <a:r>
              <a:rPr lang="en-US" sz="950" dirty="0">
                <a:solidFill>
                  <a:srgbClr val="F0F6FC"/>
                </a:solidFill>
                <a:latin typeface="Calibri" pitchFamily="34" charset="0"/>
                <a:ea typeface="Calibri" pitchFamily="34" charset="-122"/>
                <a:cs typeface="Calibri" pitchFamily="34" charset="-120"/>
              </a:rPr>
              <a:t>El servidor está alojado en Linode (Akamai), lo que indica uso de infraestructura cloud. El perfil de puertos es similar al del dominio anterior (Panasonic), lo que sugiere que ambos comparten el mismo proveedor de hosting y posiblemente la misma configuración de servidor.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9D353"/>
          </a:solidFill>
          <a:ln w="12700">
            <a:solidFill>
              <a:srgbClr val="39D353"/>
            </a:solidFill>
            <a:prstDash val="solid"/>
          </a:ln>
        </p:spPr>
        <p:txBody>
          <a:bodyPr/>
          <a:lstStyle/>
          <a:p>
            <a:endParaRPr lang="es-PA"/>
          </a:p>
        </p:txBody>
      </p:sp>
      <p:sp>
        <p:nvSpPr>
          <p:cNvPr id="3" name="Text 1"/>
          <p:cNvSpPr/>
          <p:nvPr/>
        </p:nvSpPr>
        <p:spPr>
          <a:xfrm>
            <a:off x="365760" y="109728"/>
            <a:ext cx="8229600" cy="457200"/>
          </a:xfrm>
          <a:prstGeom prst="rect">
            <a:avLst/>
          </a:prstGeom>
          <a:noFill/>
          <a:ln/>
        </p:spPr>
        <p:txBody>
          <a:bodyPr wrap="square" rtlCol="0" anchor="ctr"/>
          <a:lstStyle/>
          <a:p>
            <a:pPr marL="0" indent="0">
              <a:buNone/>
            </a:pPr>
            <a:r>
              <a:rPr lang="en-US" sz="2400" b="1" dirty="0">
                <a:solidFill>
                  <a:srgbClr val="F0F6FC"/>
                </a:solidFill>
                <a:latin typeface="Consolas" pitchFamily="34" charset="0"/>
                <a:ea typeface="Consolas" pitchFamily="34" charset="-122"/>
                <a:cs typeface="Consolas" pitchFamily="34" charset="-120"/>
              </a:rPr>
              <a:t>Dominio 3: Titan Panamá</a:t>
            </a:r>
            <a:endParaRPr lang="en-US" sz="2400" dirty="0"/>
          </a:p>
        </p:txBody>
      </p:sp>
      <p:sp>
        <p:nvSpPr>
          <p:cNvPr id="4" name="Text 2"/>
          <p:cNvSpPr/>
          <p:nvPr/>
        </p:nvSpPr>
        <p:spPr>
          <a:xfrm>
            <a:off x="365760" y="566928"/>
            <a:ext cx="8229600" cy="274320"/>
          </a:xfrm>
          <a:prstGeom prst="rect">
            <a:avLst/>
          </a:prstGeom>
          <a:noFill/>
          <a:ln/>
        </p:spPr>
        <p:txBody>
          <a:bodyPr wrap="square" rtlCol="0" anchor="ctr"/>
          <a:lstStyle/>
          <a:p>
            <a:pPr marL="0" indent="0">
              <a:buNone/>
            </a:pPr>
            <a:r>
              <a:rPr lang="en-US" sz="1200" dirty="0">
                <a:solidFill>
                  <a:srgbClr val="39D353"/>
                </a:solidFill>
                <a:latin typeface="Consolas" pitchFamily="34" charset="0"/>
                <a:ea typeface="Consolas" pitchFamily="34" charset="-122"/>
                <a:cs typeface="Consolas" pitchFamily="34" charset="-120"/>
              </a:rPr>
              <a:t>https://titan.com.pa/collections/electronica</a:t>
            </a:r>
            <a:endParaRPr lang="en-US" sz="1200" dirty="0"/>
          </a:p>
        </p:txBody>
      </p:sp>
      <p:pic>
        <p:nvPicPr>
          <p:cNvPr id="5" name="Image 0" descr="preencoded.png"/>
          <p:cNvPicPr>
            <a:picLocks noChangeAspect="1"/>
          </p:cNvPicPr>
          <p:nvPr/>
        </p:nvPicPr>
        <p:blipFill>
          <a:blip r:embed="rId3"/>
          <a:stretch>
            <a:fillRect/>
          </a:stretch>
        </p:blipFill>
        <p:spPr>
          <a:xfrm>
            <a:off x="274320" y="868680"/>
            <a:ext cx="5120640" cy="2651760"/>
          </a:xfrm>
          <a:prstGeom prst="rect">
            <a:avLst/>
          </a:prstGeom>
        </p:spPr>
      </p:pic>
      <p:pic>
        <p:nvPicPr>
          <p:cNvPr id="6" name="Image 1" descr="preencoded.png"/>
          <p:cNvPicPr>
            <a:picLocks noChangeAspect="1"/>
          </p:cNvPicPr>
          <p:nvPr/>
        </p:nvPicPr>
        <p:blipFill>
          <a:blip r:embed="rId4"/>
          <a:stretch>
            <a:fillRect/>
          </a:stretch>
        </p:blipFill>
        <p:spPr>
          <a:xfrm>
            <a:off x="274320" y="3566160"/>
            <a:ext cx="5120640" cy="1463040"/>
          </a:xfrm>
          <a:prstGeom prst="rect">
            <a:avLst/>
          </a:prstGeom>
        </p:spPr>
      </p:pic>
      <p:sp>
        <p:nvSpPr>
          <p:cNvPr id="7" name="Shape 3"/>
          <p:cNvSpPr/>
          <p:nvPr/>
        </p:nvSpPr>
        <p:spPr>
          <a:xfrm>
            <a:off x="5577840" y="868680"/>
            <a:ext cx="3383280" cy="4160520"/>
          </a:xfrm>
          <a:prstGeom prst="roundRect">
            <a:avLst>
              <a:gd name="adj" fmla="val 2162"/>
            </a:avLst>
          </a:prstGeom>
          <a:solidFill>
            <a:srgbClr val="21262D"/>
          </a:solidFill>
          <a:ln w="12700">
            <a:solidFill>
              <a:srgbClr val="39D353"/>
            </a:solidFill>
            <a:prstDash val="solid"/>
          </a:ln>
        </p:spPr>
        <p:txBody>
          <a:bodyPr/>
          <a:lstStyle/>
          <a:p>
            <a:endParaRPr lang="es-PA"/>
          </a:p>
        </p:txBody>
      </p:sp>
      <p:sp>
        <p:nvSpPr>
          <p:cNvPr id="8" name="Text 4"/>
          <p:cNvSpPr/>
          <p:nvPr/>
        </p:nvSpPr>
        <p:spPr>
          <a:xfrm>
            <a:off x="5715000" y="960120"/>
            <a:ext cx="3108960" cy="320040"/>
          </a:xfrm>
          <a:prstGeom prst="rect">
            <a:avLst/>
          </a:prstGeom>
          <a:noFill/>
          <a:ln/>
        </p:spPr>
        <p:txBody>
          <a:bodyPr wrap="square" rtlCol="0" anchor="ctr"/>
          <a:lstStyle/>
          <a:p>
            <a:pPr marL="0" indent="0">
              <a:buNone/>
            </a:pPr>
            <a:r>
              <a:rPr lang="en-US" sz="1200" b="1" dirty="0">
                <a:solidFill>
                  <a:srgbClr val="39D353"/>
                </a:solidFill>
                <a:latin typeface="Consolas" pitchFamily="34" charset="0"/>
                <a:ea typeface="Consolas" pitchFamily="34" charset="-122"/>
                <a:cs typeface="Consolas" pitchFamily="34" charset="-120"/>
              </a:rPr>
              <a:t>Resultados del Escaneo</a:t>
            </a:r>
            <a:endParaRPr lang="en-US" sz="1200" dirty="0"/>
          </a:p>
        </p:txBody>
      </p:sp>
      <p:sp>
        <p:nvSpPr>
          <p:cNvPr id="9" name="Text 5"/>
          <p:cNvSpPr/>
          <p:nvPr/>
        </p:nvSpPr>
        <p:spPr>
          <a:xfrm>
            <a:off x="5715000" y="1325880"/>
            <a:ext cx="3108960" cy="3566160"/>
          </a:xfrm>
          <a:prstGeom prst="rect">
            <a:avLst/>
          </a:prstGeom>
          <a:noFill/>
          <a:ln/>
        </p:spPr>
        <p:txBody>
          <a:bodyPr wrap="square" rtlCol="0" anchor="ctr"/>
          <a:lstStyle/>
          <a:p>
            <a:pPr marL="0" indent="0">
              <a:buNone/>
            </a:pPr>
            <a:r>
              <a:rPr lang="en-US" sz="950" b="1" dirty="0">
                <a:solidFill>
                  <a:srgbClr val="F0F6FC"/>
                </a:solidFill>
                <a:latin typeface="Calibri" pitchFamily="34" charset="0"/>
                <a:ea typeface="Calibri" pitchFamily="34" charset="-122"/>
                <a:cs typeface="Calibri" pitchFamily="34" charset="-120"/>
              </a:rPr>
              <a:t>Vulnerabilidades detectadas:
</a:t>
            </a:r>
            <a:r>
              <a:rPr lang="en-US" sz="950" dirty="0">
                <a:solidFill>
                  <a:srgbClr val="F0F6FC"/>
                </a:solidFill>
                <a:latin typeface="Calibri" pitchFamily="34" charset="0"/>
                <a:ea typeface="Calibri" pitchFamily="34" charset="-122"/>
                <a:cs typeface="Calibri" pitchFamily="34" charset="-120"/>
              </a:rPr>
              <a:t>• Crítico: 0
• Alto: 0
• Medio: 2  ⚠
• Bajo: 4
• Información: 2
</a:t>
            </a:r>
            <a:r>
              <a:rPr lang="en-US" sz="950" b="1" dirty="0">
                <a:solidFill>
                  <a:srgbClr val="F0883E"/>
                </a:solidFill>
                <a:latin typeface="Calibri" pitchFamily="34" charset="0"/>
                <a:ea typeface="Calibri" pitchFamily="34" charset="-122"/>
                <a:cs typeface="Calibri" pitchFamily="34" charset="-120"/>
              </a:rPr>
              <a:t>Nivel de Riesgo General: MEDIO
</a:t>
            </a:r>
            <a:r>
              <a:rPr lang="en-US" sz="950" dirty="0">
                <a:solidFill>
                  <a:srgbClr val="F0F6FC"/>
                </a:solidFill>
                <a:latin typeface="Calibri" pitchFamily="34" charset="0"/>
                <a:ea typeface="Calibri" pitchFamily="34" charset="-122"/>
                <a:cs typeface="Calibri" pitchFamily="34" charset="-120"/>
              </a:rPr>
              <a:t>Duración: 1 min 20 seg  |  Pruebas: 38
</a:t>
            </a:r>
            <a:r>
              <a:rPr lang="en-US" sz="950" b="1" dirty="0">
                <a:solidFill>
                  <a:srgbClr val="39D353"/>
                </a:solidFill>
                <a:latin typeface="Calibri" pitchFamily="34" charset="0"/>
                <a:ea typeface="Calibri" pitchFamily="34" charset="-122"/>
                <a:cs typeface="Calibri" pitchFamily="34" charset="-120"/>
              </a:rPr>
              <a:t>Subdominios encontrados: 23
</a:t>
            </a:r>
            <a:r>
              <a:rPr lang="en-US" sz="950" dirty="0">
                <a:solidFill>
                  <a:srgbClr val="F0F6FC"/>
                </a:solidFill>
                <a:latin typeface="Calibri" pitchFamily="34" charset="0"/>
                <a:ea typeface="Calibri" pitchFamily="34" charset="-122"/>
                <a:cs typeface="Calibri" pitchFamily="34" charset="-120"/>
              </a:rPr>
              <a:t>Algunos subdominios detectados:
• www.titan.com.pa → 23.227.38.74
• www.em.titan.com.pa → 35.168.208.130
• pamserver.titan.com.pa → 38.131.13.18
• jenkins.titan.com.pa → 38.131.13.18
y 19 más...
</a:t>
            </a:r>
            <a:r>
              <a:rPr lang="en-US" sz="950" b="1" dirty="0">
                <a:solidFill>
                  <a:srgbClr val="39D353"/>
                </a:solidFill>
                <a:latin typeface="Calibri" pitchFamily="34" charset="0"/>
                <a:ea typeface="Calibri" pitchFamily="34" charset="-122"/>
                <a:cs typeface="Calibri" pitchFamily="34" charset="-120"/>
              </a:rPr>
              <a:t>Nmap - IP: 172.236.25.241
</a:t>
            </a:r>
            <a:r>
              <a:rPr lang="en-US" sz="950" dirty="0">
                <a:solidFill>
                  <a:srgbClr val="F0F6FC"/>
                </a:solidFill>
                <a:latin typeface="Calibri" pitchFamily="34" charset="0"/>
                <a:ea typeface="Calibri" pitchFamily="34" charset="-122"/>
                <a:cs typeface="Calibri" pitchFamily="34" charset="-120"/>
              </a:rPr>
              <a:t>• Puerto 80/tcp → HTTP</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 Puerto 8080/tcp → HTTP</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Latencia: 0.097s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9D353"/>
          </a:solidFill>
          <a:ln w="12700">
            <a:solidFill>
              <a:srgbClr val="39D353"/>
            </a:solidFill>
            <a:prstDash val="solid"/>
          </a:ln>
        </p:spPr>
        <p:txBody>
          <a:bodyPr/>
          <a:lstStyle/>
          <a:p>
            <a:endParaRPr lang="es-PA"/>
          </a:p>
        </p:txBody>
      </p:sp>
      <p:sp>
        <p:nvSpPr>
          <p:cNvPr id="3" name="Text 1"/>
          <p:cNvSpPr/>
          <p:nvPr/>
        </p:nvSpPr>
        <p:spPr>
          <a:xfrm>
            <a:off x="365760" y="109728"/>
            <a:ext cx="8229600" cy="457200"/>
          </a:xfrm>
          <a:prstGeom prst="rect">
            <a:avLst/>
          </a:prstGeom>
          <a:noFill/>
          <a:ln/>
        </p:spPr>
        <p:txBody>
          <a:bodyPr wrap="square" rtlCol="0" anchor="ctr"/>
          <a:lstStyle/>
          <a:p>
            <a:pPr marL="0" indent="0">
              <a:buNone/>
            </a:pPr>
            <a:r>
              <a:rPr lang="en-US" sz="2000" b="1" dirty="0">
                <a:solidFill>
                  <a:srgbClr val="F0F6FC"/>
                </a:solidFill>
                <a:latin typeface="Consolas" pitchFamily="34" charset="0"/>
                <a:ea typeface="Consolas" pitchFamily="34" charset="-122"/>
                <a:cs typeface="Consolas" pitchFamily="34" charset="-120"/>
              </a:rPr>
              <a:t>Dominio 3 — Nmap + Traceroute Titan Panamá</a:t>
            </a:r>
            <a:endParaRPr lang="en-US" sz="2000" dirty="0"/>
          </a:p>
        </p:txBody>
      </p:sp>
      <p:pic>
        <p:nvPicPr>
          <p:cNvPr id="4" name="Image 0" descr="preencoded.png"/>
          <p:cNvPicPr>
            <a:picLocks noChangeAspect="1"/>
          </p:cNvPicPr>
          <p:nvPr/>
        </p:nvPicPr>
        <p:blipFill>
          <a:blip r:embed="rId3"/>
          <a:stretch>
            <a:fillRect/>
          </a:stretch>
        </p:blipFill>
        <p:spPr>
          <a:xfrm>
            <a:off x="274320" y="640080"/>
            <a:ext cx="5486400" cy="4434840"/>
          </a:xfrm>
          <a:prstGeom prst="rect">
            <a:avLst/>
          </a:prstGeom>
        </p:spPr>
      </p:pic>
      <p:sp>
        <p:nvSpPr>
          <p:cNvPr id="5" name="Shape 2"/>
          <p:cNvSpPr/>
          <p:nvPr/>
        </p:nvSpPr>
        <p:spPr>
          <a:xfrm>
            <a:off x="5943600" y="640080"/>
            <a:ext cx="3017520" cy="4434840"/>
          </a:xfrm>
          <a:prstGeom prst="roundRect">
            <a:avLst>
              <a:gd name="adj" fmla="val 2424"/>
            </a:avLst>
          </a:prstGeom>
          <a:solidFill>
            <a:srgbClr val="21262D"/>
          </a:solidFill>
          <a:ln w="12700">
            <a:solidFill>
              <a:srgbClr val="39D353"/>
            </a:solidFill>
            <a:prstDash val="solid"/>
          </a:ln>
        </p:spPr>
        <p:txBody>
          <a:bodyPr/>
          <a:lstStyle/>
          <a:p>
            <a:endParaRPr lang="es-PA"/>
          </a:p>
        </p:txBody>
      </p:sp>
      <p:sp>
        <p:nvSpPr>
          <p:cNvPr id="6" name="Text 3"/>
          <p:cNvSpPr/>
          <p:nvPr/>
        </p:nvSpPr>
        <p:spPr>
          <a:xfrm>
            <a:off x="6080760" y="731520"/>
            <a:ext cx="2743200" cy="320040"/>
          </a:xfrm>
          <a:prstGeom prst="rect">
            <a:avLst/>
          </a:prstGeom>
          <a:noFill/>
          <a:ln/>
        </p:spPr>
        <p:txBody>
          <a:bodyPr wrap="square" rtlCol="0" anchor="ctr"/>
          <a:lstStyle/>
          <a:p>
            <a:pPr marL="0" indent="0">
              <a:buNone/>
            </a:pPr>
            <a:r>
              <a:rPr lang="en-US" sz="1200" b="1" dirty="0">
                <a:solidFill>
                  <a:srgbClr val="39D353"/>
                </a:solidFill>
                <a:latin typeface="Consolas" pitchFamily="34" charset="0"/>
                <a:ea typeface="Consolas" pitchFamily="34" charset="-122"/>
                <a:cs typeface="Consolas" pitchFamily="34" charset="-120"/>
              </a:rPr>
              <a:t>Análisis Nmap</a:t>
            </a:r>
            <a:endParaRPr lang="en-US" sz="1200" dirty="0"/>
          </a:p>
        </p:txBody>
      </p:sp>
      <p:sp>
        <p:nvSpPr>
          <p:cNvPr id="7" name="Text 4"/>
          <p:cNvSpPr/>
          <p:nvPr/>
        </p:nvSpPr>
        <p:spPr>
          <a:xfrm>
            <a:off x="6080760" y="1097280"/>
            <a:ext cx="2743200" cy="3840480"/>
          </a:xfrm>
          <a:prstGeom prst="rect">
            <a:avLst/>
          </a:prstGeom>
          <a:noFill/>
          <a:ln/>
        </p:spPr>
        <p:txBody>
          <a:bodyPr wrap="square" rtlCol="0" anchor="ctr"/>
          <a:lstStyle/>
          <a:p>
            <a:pPr marL="0" indent="0">
              <a:buNone/>
            </a:pPr>
            <a:r>
              <a:rPr lang="en-US" sz="950" b="1" dirty="0">
                <a:solidFill>
                  <a:srgbClr val="F0F6FC"/>
                </a:solidFill>
                <a:latin typeface="Calibri" pitchFamily="34" charset="0"/>
                <a:ea typeface="Calibri" pitchFamily="34" charset="-122"/>
                <a:cs typeface="Calibri" pitchFamily="34" charset="-120"/>
              </a:rPr>
              <a:t>Target: </a:t>
            </a:r>
            <a:r>
              <a:rPr lang="en-US" sz="950" dirty="0">
                <a:solidFill>
                  <a:srgbClr val="F0F6FC"/>
                </a:solidFill>
                <a:latin typeface="Calibri" pitchFamily="34" charset="0"/>
                <a:ea typeface="Calibri" pitchFamily="34" charset="-122"/>
                <a:cs typeface="Calibri" pitchFamily="34" charset="-120"/>
              </a:rPr>
              <a:t>172.236.25.241
(linodeusercontent.com)
</a:t>
            </a:r>
            <a:r>
              <a:rPr lang="en-US" sz="950" b="1" dirty="0">
                <a:solidFill>
                  <a:srgbClr val="39D353"/>
                </a:solidFill>
                <a:latin typeface="Calibri" pitchFamily="34" charset="0"/>
                <a:ea typeface="Calibri" pitchFamily="34" charset="-122"/>
                <a:cs typeface="Calibri" pitchFamily="34" charset="-120"/>
              </a:rPr>
              <a:t>Puertos abiertos:
</a:t>
            </a:r>
            <a:r>
              <a:rPr lang="en-US" sz="950" dirty="0">
                <a:solidFill>
                  <a:srgbClr val="F0F6FC"/>
                </a:solidFill>
                <a:latin typeface="Calibri" pitchFamily="34" charset="0"/>
                <a:ea typeface="Calibri" pitchFamily="34" charset="-122"/>
                <a:cs typeface="Calibri" pitchFamily="34" charset="-120"/>
              </a:rPr>
              <a:t>• 80/tcp  → HTTP
• 8080/tcp → HTTP
</a:t>
            </a:r>
            <a:r>
              <a:rPr lang="en-US" sz="950" b="1" dirty="0">
                <a:solidFill>
                  <a:srgbClr val="F0883E"/>
                </a:solidFill>
                <a:latin typeface="Calibri" pitchFamily="34" charset="0"/>
                <a:ea typeface="Calibri" pitchFamily="34" charset="-122"/>
                <a:cs typeface="Calibri" pitchFamily="34" charset="-120"/>
              </a:rPr>
              <a:t>Traceroute destacado:
</a:t>
            </a:r>
            <a:r>
              <a:rPr lang="en-US" sz="950" dirty="0">
                <a:solidFill>
                  <a:srgbClr val="F0F6FC"/>
                </a:solidFill>
                <a:latin typeface="Calibri" pitchFamily="34" charset="0"/>
                <a:ea typeface="Calibri" pitchFamily="34" charset="-122"/>
                <a:cs typeface="Calibri" pitchFamily="34" charset="-120"/>
              </a:rPr>
              <a:t>La ruta pasa por Liberty Networks (Panamá), luego salta a Twelve99/Akamai en Miami y Europa, mostrando cómo el tráfico desde Panamá se enruta internacionalmente antes de llegar al servidor final en Linode.
</a:t>
            </a:r>
            <a:r>
              <a:rPr lang="en-US" sz="950" b="1" dirty="0">
                <a:solidFill>
                  <a:srgbClr val="00BFFF"/>
                </a:solidFill>
                <a:latin typeface="Calibri" pitchFamily="34" charset="0"/>
                <a:ea typeface="Calibri" pitchFamily="34" charset="-122"/>
                <a:cs typeface="Calibri" pitchFamily="34" charset="-120"/>
              </a:rPr>
              <a:t>Dato importante:
</a:t>
            </a:r>
            <a:r>
              <a:rPr lang="en-US" sz="950" dirty="0">
                <a:solidFill>
                  <a:srgbClr val="F0F6FC"/>
                </a:solidFill>
                <a:latin typeface="Calibri" pitchFamily="34" charset="0"/>
                <a:ea typeface="Calibri" pitchFamily="34" charset="-122"/>
                <a:cs typeface="Calibri" pitchFamily="34" charset="-120"/>
              </a:rPr>
              <a:t>Titan tiene 23 subdominios incluyendo servidores internos (jenkins, pamserver) que podrían representar mayor superficie de ataque.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6B6B"/>
          </a:solidFill>
          <a:ln w="12700">
            <a:solidFill>
              <a:srgbClr val="FF6B6B"/>
            </a:solidFill>
            <a:prstDash val="solid"/>
          </a:ln>
        </p:spPr>
        <p:txBody>
          <a:bodyPr/>
          <a:lstStyle/>
          <a:p>
            <a:endParaRPr lang="es-PA"/>
          </a:p>
        </p:txBody>
      </p:sp>
      <p:sp>
        <p:nvSpPr>
          <p:cNvPr id="3" name="Text 1"/>
          <p:cNvSpPr/>
          <p:nvPr/>
        </p:nvSpPr>
        <p:spPr>
          <a:xfrm>
            <a:off x="365760" y="109728"/>
            <a:ext cx="8229600" cy="457200"/>
          </a:xfrm>
          <a:prstGeom prst="rect">
            <a:avLst/>
          </a:prstGeom>
          <a:noFill/>
          <a:ln/>
        </p:spPr>
        <p:txBody>
          <a:bodyPr wrap="square" rtlCol="0" anchor="ctr"/>
          <a:lstStyle/>
          <a:p>
            <a:pPr marL="0" indent="0">
              <a:buNone/>
            </a:pPr>
            <a:r>
              <a:rPr lang="en-US" sz="2400" b="1" dirty="0">
                <a:solidFill>
                  <a:srgbClr val="F0F6FC"/>
                </a:solidFill>
                <a:latin typeface="Consolas" pitchFamily="34" charset="0"/>
                <a:ea typeface="Consolas" pitchFamily="34" charset="-122"/>
                <a:cs typeface="Consolas" pitchFamily="34" charset="-120"/>
              </a:rPr>
              <a:t>Dominio 4: Domino's Panamá</a:t>
            </a:r>
            <a:endParaRPr lang="en-US" sz="2400" dirty="0"/>
          </a:p>
        </p:txBody>
      </p:sp>
      <p:sp>
        <p:nvSpPr>
          <p:cNvPr id="4" name="Text 2"/>
          <p:cNvSpPr/>
          <p:nvPr/>
        </p:nvSpPr>
        <p:spPr>
          <a:xfrm>
            <a:off x="365760" y="566928"/>
            <a:ext cx="8229600" cy="274320"/>
          </a:xfrm>
          <a:prstGeom prst="rect">
            <a:avLst/>
          </a:prstGeom>
          <a:noFill/>
          <a:ln/>
        </p:spPr>
        <p:txBody>
          <a:bodyPr wrap="square" rtlCol="0" anchor="ctr"/>
          <a:lstStyle/>
          <a:p>
            <a:pPr marL="0" indent="0">
              <a:buNone/>
            </a:pPr>
            <a:r>
              <a:rPr lang="en-US" sz="1200" dirty="0">
                <a:solidFill>
                  <a:srgbClr val="FF6B6B"/>
                </a:solidFill>
                <a:latin typeface="Consolas" pitchFamily="34" charset="0"/>
                <a:ea typeface="Consolas" pitchFamily="34" charset="-122"/>
                <a:cs typeface="Consolas" pitchFamily="34" charset="-120"/>
              </a:rPr>
              <a:t>https://www.dominospanama.com/es/</a:t>
            </a:r>
            <a:endParaRPr lang="en-US" sz="1200" dirty="0"/>
          </a:p>
        </p:txBody>
      </p:sp>
      <p:pic>
        <p:nvPicPr>
          <p:cNvPr id="5" name="Image 0" descr="preencoded.png"/>
          <p:cNvPicPr>
            <a:picLocks noChangeAspect="1"/>
          </p:cNvPicPr>
          <p:nvPr/>
        </p:nvPicPr>
        <p:blipFill>
          <a:blip r:embed="rId3"/>
          <a:stretch>
            <a:fillRect/>
          </a:stretch>
        </p:blipFill>
        <p:spPr>
          <a:xfrm>
            <a:off x="274320" y="868680"/>
            <a:ext cx="8595360" cy="4160520"/>
          </a:xfrm>
          <a:prstGeom prst="rect">
            <a:avLst/>
          </a:prstGeom>
        </p:spPr>
      </p:pic>
      <p:sp>
        <p:nvSpPr>
          <p:cNvPr id="6" name="Shape 3"/>
          <p:cNvSpPr/>
          <p:nvPr/>
        </p:nvSpPr>
        <p:spPr>
          <a:xfrm>
            <a:off x="274320" y="3749040"/>
            <a:ext cx="8595360" cy="1234440"/>
          </a:xfrm>
          <a:prstGeom prst="roundRect">
            <a:avLst>
              <a:gd name="adj" fmla="val 4444"/>
            </a:avLst>
          </a:prstGeom>
          <a:solidFill>
            <a:srgbClr val="21262D"/>
          </a:solidFill>
          <a:ln w="12700">
            <a:solidFill>
              <a:srgbClr val="FF6B6B"/>
            </a:solidFill>
            <a:prstDash val="solid"/>
          </a:ln>
        </p:spPr>
        <p:txBody>
          <a:bodyPr/>
          <a:lstStyle/>
          <a:p>
            <a:endParaRPr lang="es-PA"/>
          </a:p>
        </p:txBody>
      </p:sp>
      <p:sp>
        <p:nvSpPr>
          <p:cNvPr id="7" name="Text 4"/>
          <p:cNvSpPr/>
          <p:nvPr/>
        </p:nvSpPr>
        <p:spPr>
          <a:xfrm>
            <a:off x="457200" y="3794760"/>
            <a:ext cx="8229600" cy="1143000"/>
          </a:xfrm>
          <a:prstGeom prst="rect">
            <a:avLst/>
          </a:prstGeom>
          <a:noFill/>
          <a:ln/>
        </p:spPr>
        <p:txBody>
          <a:bodyPr wrap="square" rtlCol="0" anchor="ctr"/>
          <a:lstStyle/>
          <a:p>
            <a:pPr marL="0" indent="0">
              <a:buNone/>
            </a:pPr>
            <a:r>
              <a:rPr lang="en-US" sz="1000" b="1" dirty="0">
                <a:solidFill>
                  <a:srgbClr val="F0883E"/>
                </a:solidFill>
                <a:latin typeface="Calibri" pitchFamily="34" charset="0"/>
                <a:ea typeface="Calibri" pitchFamily="34" charset="-122"/>
                <a:cs typeface="Calibri" pitchFamily="34" charset="-120"/>
              </a:rPr>
              <a:t>Nivel de Riesgo: MEDIO  </a:t>
            </a:r>
            <a:r>
              <a:rPr lang="en-US" sz="1000" dirty="0">
                <a:solidFill>
                  <a:srgbClr val="F0F6FC"/>
                </a:solidFill>
                <a:latin typeface="Calibri" pitchFamily="34" charset="0"/>
                <a:ea typeface="Calibri" pitchFamily="34" charset="-122"/>
                <a:cs typeface="Calibri" pitchFamily="34" charset="-120"/>
              </a:rPr>
              <a:t>  |  Crítico: 0  |  Alto: 0  |  </a:t>
            </a:r>
            <a:r>
              <a:rPr lang="en-US" sz="1000" b="1" dirty="0">
                <a:solidFill>
                  <a:srgbClr val="F0883E"/>
                </a:solidFill>
                <a:latin typeface="Calibri" pitchFamily="34" charset="0"/>
                <a:ea typeface="Calibri" pitchFamily="34" charset="-122"/>
                <a:cs typeface="Calibri" pitchFamily="34" charset="-120"/>
              </a:rPr>
              <a:t>Medio: 1  |  </a:t>
            </a:r>
            <a:r>
              <a:rPr lang="en-US" sz="1000" dirty="0">
                <a:solidFill>
                  <a:srgbClr val="F0F6FC"/>
                </a:solidFill>
                <a:latin typeface="Calibri" pitchFamily="34" charset="0"/>
                <a:ea typeface="Calibri" pitchFamily="34" charset="-122"/>
                <a:cs typeface="Calibri" pitchFamily="34" charset="-120"/>
              </a:rPr>
              <a:t>Bajo: 6  |  Info: 2  |  Duración: 23 seg  |  Pruebas: 38
</a:t>
            </a:r>
            <a:r>
              <a:rPr lang="en-US" sz="1000" b="1" dirty="0">
                <a:solidFill>
                  <a:srgbClr val="00BFFF"/>
                </a:solidFill>
                <a:latin typeface="Calibri" pitchFamily="34" charset="0"/>
                <a:ea typeface="Calibri" pitchFamily="34" charset="-122"/>
                <a:cs typeface="Calibri" pitchFamily="34" charset="-120"/>
              </a:rPr>
              <a:t>Observación: </a:t>
            </a:r>
            <a:r>
              <a:rPr lang="en-US" sz="1000" dirty="0">
                <a:solidFill>
                  <a:srgbClr val="F0F6FC"/>
                </a:solidFill>
                <a:latin typeface="Calibri" pitchFamily="34" charset="0"/>
                <a:ea typeface="Calibri" pitchFamily="34" charset="-122"/>
                <a:cs typeface="Calibri" pitchFamily="34" charset="-120"/>
              </a:rPr>
              <a:t>Domino's Panamá presenta un perfil de riesgo moderado. El dominio detectó 1 vulnerabilidad media y 6 bajas en apenas 23 segundos de escaneo, lo que indica que el servidor responde rápidamente. La sección de Recomendaciones de Pentest Tools ofrece guías para mitigar estos hallazgos.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883E"/>
          </a:solidFill>
          <a:ln w="12700">
            <a:solidFill>
              <a:srgbClr val="F0883E"/>
            </a:solidFill>
            <a:prstDash val="solid"/>
          </a:ln>
        </p:spPr>
        <p:txBody>
          <a:bodyPr/>
          <a:lstStyle/>
          <a:p>
            <a:endParaRPr lang="es-PA"/>
          </a:p>
        </p:txBody>
      </p:sp>
      <p:sp>
        <p:nvSpPr>
          <p:cNvPr id="3" name="Text 1"/>
          <p:cNvSpPr/>
          <p:nvPr/>
        </p:nvSpPr>
        <p:spPr>
          <a:xfrm>
            <a:off x="365760" y="109728"/>
            <a:ext cx="8229600" cy="457200"/>
          </a:xfrm>
          <a:prstGeom prst="rect">
            <a:avLst/>
          </a:prstGeom>
          <a:noFill/>
          <a:ln/>
        </p:spPr>
        <p:txBody>
          <a:bodyPr wrap="square" rtlCol="0" anchor="ctr"/>
          <a:lstStyle/>
          <a:p>
            <a:pPr marL="0" indent="0">
              <a:buNone/>
            </a:pPr>
            <a:r>
              <a:rPr lang="en-US" sz="2400" b="1" dirty="0">
                <a:solidFill>
                  <a:srgbClr val="F0F6FC"/>
                </a:solidFill>
                <a:latin typeface="Consolas" pitchFamily="34" charset="0"/>
                <a:ea typeface="Consolas" pitchFamily="34" charset="-122"/>
                <a:cs typeface="Consolas" pitchFamily="34" charset="-120"/>
              </a:rPr>
              <a:t>Dominio 5: FutbolLibreTV</a:t>
            </a:r>
            <a:endParaRPr lang="en-US" sz="2400" dirty="0"/>
          </a:p>
        </p:txBody>
      </p:sp>
      <p:sp>
        <p:nvSpPr>
          <p:cNvPr id="4" name="Text 2"/>
          <p:cNvSpPr/>
          <p:nvPr/>
        </p:nvSpPr>
        <p:spPr>
          <a:xfrm>
            <a:off x="365760" y="566928"/>
            <a:ext cx="8229600" cy="274320"/>
          </a:xfrm>
          <a:prstGeom prst="rect">
            <a:avLst/>
          </a:prstGeom>
          <a:noFill/>
          <a:ln/>
        </p:spPr>
        <p:txBody>
          <a:bodyPr wrap="square" rtlCol="0" anchor="ctr"/>
          <a:lstStyle/>
          <a:p>
            <a:pPr marL="0" indent="0">
              <a:buNone/>
            </a:pPr>
            <a:r>
              <a:rPr lang="en-US" sz="1200" dirty="0">
                <a:solidFill>
                  <a:srgbClr val="F0883E"/>
                </a:solidFill>
                <a:latin typeface="Consolas" pitchFamily="34" charset="0"/>
                <a:ea typeface="Consolas" pitchFamily="34" charset="-122"/>
                <a:cs typeface="Consolas" pitchFamily="34" charset="-120"/>
              </a:rPr>
              <a:t>https://futbollibretv.su/</a:t>
            </a:r>
            <a:endParaRPr lang="en-US" sz="1200" dirty="0"/>
          </a:p>
        </p:txBody>
      </p:sp>
      <p:pic>
        <p:nvPicPr>
          <p:cNvPr id="5" name="Image 0" descr="preencoded.png"/>
          <p:cNvPicPr>
            <a:picLocks noChangeAspect="1"/>
          </p:cNvPicPr>
          <p:nvPr/>
        </p:nvPicPr>
        <p:blipFill>
          <a:blip r:embed="rId3"/>
          <a:stretch>
            <a:fillRect/>
          </a:stretch>
        </p:blipFill>
        <p:spPr>
          <a:xfrm>
            <a:off x="274320" y="868680"/>
            <a:ext cx="5120640" cy="2651760"/>
          </a:xfrm>
          <a:prstGeom prst="rect">
            <a:avLst/>
          </a:prstGeom>
        </p:spPr>
      </p:pic>
      <p:pic>
        <p:nvPicPr>
          <p:cNvPr id="6" name="Image 1" descr="preencoded.png"/>
          <p:cNvPicPr>
            <a:picLocks noChangeAspect="1"/>
          </p:cNvPicPr>
          <p:nvPr/>
        </p:nvPicPr>
        <p:blipFill>
          <a:blip r:embed="rId4"/>
          <a:stretch>
            <a:fillRect/>
          </a:stretch>
        </p:blipFill>
        <p:spPr>
          <a:xfrm>
            <a:off x="274320" y="3566160"/>
            <a:ext cx="5120640" cy="1463040"/>
          </a:xfrm>
          <a:prstGeom prst="rect">
            <a:avLst/>
          </a:prstGeom>
        </p:spPr>
      </p:pic>
      <p:sp>
        <p:nvSpPr>
          <p:cNvPr id="7" name="Shape 3"/>
          <p:cNvSpPr/>
          <p:nvPr/>
        </p:nvSpPr>
        <p:spPr>
          <a:xfrm>
            <a:off x="5577840" y="868680"/>
            <a:ext cx="3383280" cy="4160520"/>
          </a:xfrm>
          <a:prstGeom prst="roundRect">
            <a:avLst>
              <a:gd name="adj" fmla="val 2162"/>
            </a:avLst>
          </a:prstGeom>
          <a:solidFill>
            <a:srgbClr val="21262D"/>
          </a:solidFill>
          <a:ln w="12700">
            <a:solidFill>
              <a:srgbClr val="F0883E"/>
            </a:solidFill>
            <a:prstDash val="solid"/>
          </a:ln>
        </p:spPr>
        <p:txBody>
          <a:bodyPr/>
          <a:lstStyle/>
          <a:p>
            <a:endParaRPr lang="es-PA"/>
          </a:p>
        </p:txBody>
      </p:sp>
      <p:sp>
        <p:nvSpPr>
          <p:cNvPr id="8" name="Text 4"/>
          <p:cNvSpPr/>
          <p:nvPr/>
        </p:nvSpPr>
        <p:spPr>
          <a:xfrm>
            <a:off x="5715000" y="960120"/>
            <a:ext cx="3108960" cy="320040"/>
          </a:xfrm>
          <a:prstGeom prst="rect">
            <a:avLst/>
          </a:prstGeom>
          <a:noFill/>
          <a:ln/>
        </p:spPr>
        <p:txBody>
          <a:bodyPr wrap="square" rtlCol="0" anchor="ctr"/>
          <a:lstStyle/>
          <a:p>
            <a:pPr marL="0" indent="0">
              <a:buNone/>
            </a:pPr>
            <a:r>
              <a:rPr lang="en-US" sz="1200" b="1" dirty="0">
                <a:solidFill>
                  <a:srgbClr val="F0883E"/>
                </a:solidFill>
                <a:latin typeface="Consolas" pitchFamily="34" charset="0"/>
                <a:ea typeface="Consolas" pitchFamily="34" charset="-122"/>
                <a:cs typeface="Consolas" pitchFamily="34" charset="-120"/>
              </a:rPr>
              <a:t>Resultados del Escaneo</a:t>
            </a:r>
            <a:endParaRPr lang="en-US" sz="1200" dirty="0"/>
          </a:p>
        </p:txBody>
      </p:sp>
      <p:sp>
        <p:nvSpPr>
          <p:cNvPr id="9" name="Text 5"/>
          <p:cNvSpPr/>
          <p:nvPr/>
        </p:nvSpPr>
        <p:spPr>
          <a:xfrm>
            <a:off x="5715000" y="1325880"/>
            <a:ext cx="3108960" cy="3566160"/>
          </a:xfrm>
          <a:prstGeom prst="rect">
            <a:avLst/>
          </a:prstGeom>
          <a:noFill/>
          <a:ln/>
        </p:spPr>
        <p:txBody>
          <a:bodyPr wrap="square" rtlCol="0" anchor="ctr"/>
          <a:lstStyle/>
          <a:p>
            <a:pPr marL="0" indent="0">
              <a:buNone/>
            </a:pPr>
            <a:r>
              <a:rPr lang="en-US" sz="950" b="1" dirty="0">
                <a:solidFill>
                  <a:srgbClr val="F0883E"/>
                </a:solidFill>
                <a:latin typeface="Calibri" pitchFamily="34" charset="0"/>
                <a:ea typeface="Calibri" pitchFamily="34" charset="-122"/>
                <a:cs typeface="Calibri" pitchFamily="34" charset="-120"/>
              </a:rPr>
              <a:t>⚠ WordPress detectado
</a:t>
            </a:r>
            <a:r>
              <a:rPr lang="en-US" sz="950" dirty="0">
                <a:solidFill>
                  <a:srgbClr val="F0F6FC"/>
                </a:solidFill>
                <a:latin typeface="Calibri" pitchFamily="34" charset="0"/>
                <a:ea typeface="Calibri" pitchFamily="34" charset="-122"/>
                <a:cs typeface="Calibri" pitchFamily="34" charset="-120"/>
              </a:rPr>
              <a:t>Pentest Tools recomienda también ejecutar el escáner específico de WordPress para este objetivo.
</a:t>
            </a:r>
            <a:r>
              <a:rPr lang="en-US" sz="950" b="1" dirty="0">
                <a:solidFill>
                  <a:srgbClr val="F0F6FC"/>
                </a:solidFill>
                <a:latin typeface="Calibri" pitchFamily="34" charset="0"/>
                <a:ea typeface="Calibri" pitchFamily="34" charset="-122"/>
                <a:cs typeface="Calibri" pitchFamily="34" charset="-120"/>
              </a:rPr>
              <a:t>Vulnerabilidades:
</a:t>
            </a:r>
            <a:r>
              <a:rPr lang="en-US" sz="950" dirty="0">
                <a:solidFill>
                  <a:srgbClr val="F0F6FC"/>
                </a:solidFill>
                <a:latin typeface="Calibri" pitchFamily="34" charset="0"/>
                <a:ea typeface="Calibri" pitchFamily="34" charset="-122"/>
                <a:cs typeface="Calibri" pitchFamily="34" charset="-120"/>
              </a:rPr>
              <a:t>• Crítico: 0
• Alto: 0
• Medio: 0
• Bajo: 6  ℹ
• Información: 3
</a:t>
            </a:r>
            <a:r>
              <a:rPr lang="en-US" sz="950" b="1" dirty="0">
                <a:solidFill>
                  <a:srgbClr val="00BFFF"/>
                </a:solidFill>
                <a:latin typeface="Calibri" pitchFamily="34" charset="0"/>
                <a:ea typeface="Calibri" pitchFamily="34" charset="-122"/>
                <a:cs typeface="Calibri" pitchFamily="34" charset="-120"/>
              </a:rPr>
              <a:t>Nivel de Riesgo: BAJO
</a:t>
            </a:r>
            <a:r>
              <a:rPr lang="en-US" sz="950" dirty="0">
                <a:solidFill>
                  <a:srgbClr val="F0F6FC"/>
                </a:solidFill>
                <a:latin typeface="Calibri" pitchFamily="34" charset="0"/>
                <a:ea typeface="Calibri" pitchFamily="34" charset="-122"/>
                <a:cs typeface="Calibri" pitchFamily="34" charset="-120"/>
              </a:rPr>
              <a:t>Duración: 35 seg  |  Pruebas: 38
</a:t>
            </a:r>
            <a:r>
              <a:rPr lang="en-US" sz="950" b="1" dirty="0">
                <a:solidFill>
                  <a:srgbClr val="39D353"/>
                </a:solidFill>
                <a:latin typeface="Calibri" pitchFamily="34" charset="0"/>
                <a:ea typeface="Calibri" pitchFamily="34" charset="-122"/>
                <a:cs typeface="Calibri" pitchFamily="34" charset="-120"/>
              </a:rPr>
              <a:t>Nmap - IP: 172.238.118.169
</a:t>
            </a:r>
            <a:r>
              <a:rPr lang="en-US" sz="950" dirty="0">
                <a:solidFill>
                  <a:srgbClr val="F0F6FC"/>
                </a:solidFill>
                <a:latin typeface="Calibri" pitchFamily="34" charset="0"/>
                <a:ea typeface="Calibri" pitchFamily="34" charset="-122"/>
                <a:cs typeface="Calibri" pitchFamily="34" charset="-120"/>
              </a:rPr>
              <a:t>Traceroute: 26 saltos</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Ruta: Panamá → Liberty Networks → Twelve99 → Akamai (Paris/Frankfurt) → Linode</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Latencia final: 179ms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FFF"/>
          </a:solidFill>
          <a:ln w="12700">
            <a:solidFill>
              <a:srgbClr val="00BFFF"/>
            </a:solidFill>
            <a:prstDash val="solid"/>
          </a:ln>
        </p:spPr>
        <p:txBody>
          <a:bodyPr/>
          <a:lstStyle/>
          <a:p>
            <a:endParaRPr lang="es-PA"/>
          </a:p>
        </p:txBody>
      </p:sp>
      <p:sp>
        <p:nvSpPr>
          <p:cNvPr id="3" name="Text 1"/>
          <p:cNvSpPr/>
          <p:nvPr/>
        </p:nvSpPr>
        <p:spPr>
          <a:xfrm>
            <a:off x="365760" y="109728"/>
            <a:ext cx="8229600" cy="457200"/>
          </a:xfrm>
          <a:prstGeom prst="rect">
            <a:avLst/>
          </a:prstGeom>
          <a:noFill/>
          <a:ln/>
        </p:spPr>
        <p:txBody>
          <a:bodyPr wrap="square" rtlCol="0" anchor="ctr"/>
          <a:lstStyle/>
          <a:p>
            <a:pPr marL="0" indent="0">
              <a:buNone/>
            </a:pPr>
            <a:r>
              <a:rPr lang="en-US" sz="2200" b="1" dirty="0">
                <a:solidFill>
                  <a:srgbClr val="F0F6FC"/>
                </a:solidFill>
                <a:latin typeface="Consolas" pitchFamily="34" charset="0"/>
                <a:ea typeface="Consolas" pitchFamily="34" charset="-122"/>
                <a:cs typeface="Consolas" pitchFamily="34" charset="-120"/>
              </a:rPr>
              <a:t>Dominios 6, 7 y 8 — Resumen y Escaneos</a:t>
            </a:r>
            <a:endParaRPr lang="en-US" sz="2200" dirty="0"/>
          </a:p>
        </p:txBody>
      </p:sp>
      <p:pic>
        <p:nvPicPr>
          <p:cNvPr id="4" name="Image 0" descr="preencoded.png"/>
          <p:cNvPicPr>
            <a:picLocks noChangeAspect="1"/>
          </p:cNvPicPr>
          <p:nvPr/>
        </p:nvPicPr>
        <p:blipFill>
          <a:blip r:embed="rId3"/>
          <a:stretch>
            <a:fillRect/>
          </a:stretch>
        </p:blipFill>
        <p:spPr>
          <a:xfrm>
            <a:off x="91440" y="640080"/>
            <a:ext cx="2926080" cy="1645920"/>
          </a:xfrm>
          <a:prstGeom prst="rect">
            <a:avLst/>
          </a:prstGeom>
        </p:spPr>
      </p:pic>
      <p:pic>
        <p:nvPicPr>
          <p:cNvPr id="5" name="Image 1" descr="preencoded.png"/>
          <p:cNvPicPr>
            <a:picLocks noChangeAspect="1"/>
          </p:cNvPicPr>
          <p:nvPr/>
        </p:nvPicPr>
        <p:blipFill>
          <a:blip r:embed="rId4"/>
          <a:stretch>
            <a:fillRect/>
          </a:stretch>
        </p:blipFill>
        <p:spPr>
          <a:xfrm>
            <a:off x="3108960" y="640080"/>
            <a:ext cx="2926080" cy="1645920"/>
          </a:xfrm>
          <a:prstGeom prst="rect">
            <a:avLst/>
          </a:prstGeom>
        </p:spPr>
      </p:pic>
      <p:pic>
        <p:nvPicPr>
          <p:cNvPr id="6" name="Image 2" descr="preencoded.png"/>
          <p:cNvPicPr>
            <a:picLocks noChangeAspect="1"/>
          </p:cNvPicPr>
          <p:nvPr/>
        </p:nvPicPr>
        <p:blipFill>
          <a:blip r:embed="rId5"/>
          <a:stretch>
            <a:fillRect/>
          </a:stretch>
        </p:blipFill>
        <p:spPr>
          <a:xfrm>
            <a:off x="6126480" y="640080"/>
            <a:ext cx="2834640" cy="1645920"/>
          </a:xfrm>
          <a:prstGeom prst="rect">
            <a:avLst/>
          </a:prstGeom>
        </p:spPr>
      </p:pic>
      <p:sp>
        <p:nvSpPr>
          <p:cNvPr id="7" name="Text 2"/>
          <p:cNvSpPr/>
          <p:nvPr/>
        </p:nvSpPr>
        <p:spPr>
          <a:xfrm>
            <a:off x="91440" y="2331720"/>
            <a:ext cx="2926080" cy="228600"/>
          </a:xfrm>
          <a:prstGeom prst="rect">
            <a:avLst/>
          </a:prstGeom>
          <a:noFill/>
          <a:ln/>
        </p:spPr>
        <p:txBody>
          <a:bodyPr wrap="square" rtlCol="0" anchor="ctr"/>
          <a:lstStyle/>
          <a:p>
            <a:pPr marL="0" indent="0" algn="ctr">
              <a:buNone/>
            </a:pPr>
            <a:r>
              <a:rPr lang="en-US" sz="900" b="1" dirty="0">
                <a:solidFill>
                  <a:srgbClr val="00BFFF"/>
                </a:solidFill>
                <a:latin typeface="Consolas" pitchFamily="34" charset="0"/>
                <a:ea typeface="Consolas" pitchFamily="34" charset="-122"/>
                <a:cs typeface="Consolas" pitchFamily="34" charset="-120"/>
              </a:rPr>
              <a:t>D6: ElCampeon.com.pa</a:t>
            </a:r>
            <a:endParaRPr lang="en-US" sz="900" dirty="0"/>
          </a:p>
        </p:txBody>
      </p:sp>
      <p:sp>
        <p:nvSpPr>
          <p:cNvPr id="8" name="Text 3"/>
          <p:cNvSpPr/>
          <p:nvPr/>
        </p:nvSpPr>
        <p:spPr>
          <a:xfrm>
            <a:off x="3108960" y="2331720"/>
            <a:ext cx="2926080" cy="228600"/>
          </a:xfrm>
          <a:prstGeom prst="rect">
            <a:avLst/>
          </a:prstGeom>
          <a:noFill/>
          <a:ln/>
        </p:spPr>
        <p:txBody>
          <a:bodyPr wrap="square" rtlCol="0" anchor="ctr"/>
          <a:lstStyle/>
          <a:p>
            <a:pPr marL="0" indent="0" algn="ctr">
              <a:buNone/>
            </a:pPr>
            <a:r>
              <a:rPr lang="en-US" sz="900" b="1" dirty="0">
                <a:solidFill>
                  <a:srgbClr val="F0883E"/>
                </a:solidFill>
                <a:latin typeface="Consolas" pitchFamily="34" charset="0"/>
                <a:ea typeface="Consolas" pitchFamily="34" charset="-122"/>
                <a:cs typeface="Consolas" pitchFamily="34" charset="-120"/>
              </a:rPr>
              <a:t>D7: ElMachetazo.com</a:t>
            </a:r>
            <a:endParaRPr lang="en-US" sz="900" dirty="0"/>
          </a:p>
        </p:txBody>
      </p:sp>
      <p:sp>
        <p:nvSpPr>
          <p:cNvPr id="9" name="Text 4"/>
          <p:cNvSpPr/>
          <p:nvPr/>
        </p:nvSpPr>
        <p:spPr>
          <a:xfrm>
            <a:off x="6126480" y="2331720"/>
            <a:ext cx="2834640" cy="228600"/>
          </a:xfrm>
          <a:prstGeom prst="rect">
            <a:avLst/>
          </a:prstGeom>
          <a:noFill/>
          <a:ln/>
        </p:spPr>
        <p:txBody>
          <a:bodyPr wrap="square" rtlCol="0" anchor="ctr"/>
          <a:lstStyle/>
          <a:p>
            <a:pPr marL="0" indent="0" algn="ctr">
              <a:buNone/>
            </a:pPr>
            <a:r>
              <a:rPr lang="en-US" sz="900" b="1" dirty="0">
                <a:solidFill>
                  <a:srgbClr val="39D353"/>
                </a:solidFill>
                <a:latin typeface="Consolas" pitchFamily="34" charset="0"/>
                <a:ea typeface="Consolas" pitchFamily="34" charset="-122"/>
                <a:cs typeface="Consolas" pitchFamily="34" charset="-120"/>
              </a:rPr>
              <a:t>D8: DoitCenter.com.pa</a:t>
            </a:r>
            <a:endParaRPr lang="en-US" sz="900" dirty="0"/>
          </a:p>
        </p:txBody>
      </p:sp>
      <p:sp>
        <p:nvSpPr>
          <p:cNvPr id="10" name="Shape 5"/>
          <p:cNvSpPr/>
          <p:nvPr/>
        </p:nvSpPr>
        <p:spPr>
          <a:xfrm>
            <a:off x="91440" y="2606040"/>
            <a:ext cx="2834640" cy="2468880"/>
          </a:xfrm>
          <a:prstGeom prst="roundRect">
            <a:avLst>
              <a:gd name="adj" fmla="val 2593"/>
            </a:avLst>
          </a:prstGeom>
          <a:solidFill>
            <a:srgbClr val="21262D"/>
          </a:solidFill>
          <a:ln w="12700">
            <a:solidFill>
              <a:srgbClr val="00BFFF"/>
            </a:solidFill>
            <a:prstDash val="solid"/>
          </a:ln>
        </p:spPr>
        <p:txBody>
          <a:bodyPr/>
          <a:lstStyle/>
          <a:p>
            <a:endParaRPr lang="es-PA"/>
          </a:p>
        </p:txBody>
      </p:sp>
      <p:sp>
        <p:nvSpPr>
          <p:cNvPr id="11" name="Text 6"/>
          <p:cNvSpPr/>
          <p:nvPr/>
        </p:nvSpPr>
        <p:spPr>
          <a:xfrm>
            <a:off x="182880" y="2697480"/>
            <a:ext cx="2651760" cy="2286000"/>
          </a:xfrm>
          <a:prstGeom prst="rect">
            <a:avLst/>
          </a:prstGeom>
          <a:noFill/>
          <a:ln/>
        </p:spPr>
        <p:txBody>
          <a:bodyPr wrap="square" rtlCol="0" anchor="ctr"/>
          <a:lstStyle/>
          <a:p>
            <a:pPr marL="0" indent="0">
              <a:buNone/>
            </a:pPr>
            <a:r>
              <a:rPr lang="en-US" sz="950" b="1" dirty="0">
                <a:solidFill>
                  <a:srgbClr val="00BFFF"/>
                </a:solidFill>
                <a:latin typeface="Calibri" pitchFamily="34" charset="0"/>
                <a:ea typeface="Calibri" pitchFamily="34" charset="-122"/>
                <a:cs typeface="Calibri" pitchFamily="34" charset="-120"/>
              </a:rPr>
              <a:t>Riesgo: BAJO
</a:t>
            </a:r>
            <a:r>
              <a:rPr lang="en-US" sz="950" dirty="0">
                <a:solidFill>
                  <a:srgbClr val="F0F6FC"/>
                </a:solidFill>
                <a:latin typeface="Calibri" pitchFamily="34" charset="0"/>
                <a:ea typeface="Calibri" pitchFamily="34" charset="-122"/>
                <a:cs typeface="Calibri" pitchFamily="34" charset="-120"/>
              </a:rPr>
              <a:t>Medio: 0  |  Bajo: 4  |  Info: 1
Duración: 52 seg
Pruebas: 38
</a:t>
            </a:r>
            <a:r>
              <a:rPr lang="en-US" sz="950" dirty="0">
                <a:solidFill>
                  <a:srgbClr val="8B949E"/>
                </a:solidFill>
                <a:latin typeface="Calibri" pitchFamily="34" charset="0"/>
                <a:ea typeface="Calibri" pitchFamily="34" charset="-122"/>
                <a:cs typeface="Calibri" pitchFamily="34" charset="-120"/>
              </a:rPr>
              <a:t>Nmap: Traceroute: 26 saltos por Akamai hacia Linode. Puertos 80 y 8080 abiertos.</a:t>
            </a:r>
            <a:endParaRPr lang="en-US" sz="950" dirty="0"/>
          </a:p>
        </p:txBody>
      </p:sp>
      <p:sp>
        <p:nvSpPr>
          <p:cNvPr id="12" name="Shape 7"/>
          <p:cNvSpPr/>
          <p:nvPr/>
        </p:nvSpPr>
        <p:spPr>
          <a:xfrm>
            <a:off x="3108960" y="2606040"/>
            <a:ext cx="2834640" cy="2468880"/>
          </a:xfrm>
          <a:prstGeom prst="roundRect">
            <a:avLst>
              <a:gd name="adj" fmla="val 2593"/>
            </a:avLst>
          </a:prstGeom>
          <a:solidFill>
            <a:srgbClr val="21262D"/>
          </a:solidFill>
          <a:ln w="12700">
            <a:solidFill>
              <a:srgbClr val="F0883E"/>
            </a:solidFill>
            <a:prstDash val="solid"/>
          </a:ln>
        </p:spPr>
        <p:txBody>
          <a:bodyPr/>
          <a:lstStyle/>
          <a:p>
            <a:endParaRPr lang="es-PA"/>
          </a:p>
        </p:txBody>
      </p:sp>
      <p:sp>
        <p:nvSpPr>
          <p:cNvPr id="13" name="Text 8"/>
          <p:cNvSpPr/>
          <p:nvPr/>
        </p:nvSpPr>
        <p:spPr>
          <a:xfrm>
            <a:off x="3200400" y="2697480"/>
            <a:ext cx="2651760" cy="2286000"/>
          </a:xfrm>
          <a:prstGeom prst="rect">
            <a:avLst/>
          </a:prstGeom>
          <a:noFill/>
          <a:ln/>
        </p:spPr>
        <p:txBody>
          <a:bodyPr wrap="square" rtlCol="0" anchor="ctr"/>
          <a:lstStyle/>
          <a:p>
            <a:pPr marL="0" indent="0">
              <a:buNone/>
            </a:pPr>
            <a:r>
              <a:rPr lang="en-US" sz="950" b="1" dirty="0">
                <a:solidFill>
                  <a:srgbClr val="F0883E"/>
                </a:solidFill>
                <a:latin typeface="Calibri" pitchFamily="34" charset="0"/>
                <a:ea typeface="Calibri" pitchFamily="34" charset="-122"/>
                <a:cs typeface="Calibri" pitchFamily="34" charset="-120"/>
              </a:rPr>
              <a:t>Riesgo: BAJO
</a:t>
            </a:r>
            <a:r>
              <a:rPr lang="en-US" sz="950" dirty="0">
                <a:solidFill>
                  <a:srgbClr val="F0F6FC"/>
                </a:solidFill>
                <a:latin typeface="Calibri" pitchFamily="34" charset="0"/>
                <a:ea typeface="Calibri" pitchFamily="34" charset="-122"/>
                <a:cs typeface="Calibri" pitchFamily="34" charset="-120"/>
              </a:rPr>
              <a:t>Medio: 0  |  Bajo: 6  |  Info: 2
Duración: 1 min 23 seg
Pruebas: 38
</a:t>
            </a:r>
            <a:r>
              <a:rPr lang="en-US" sz="950" dirty="0">
                <a:solidFill>
                  <a:srgbClr val="8B949E"/>
                </a:solidFill>
                <a:latin typeface="Calibri" pitchFamily="34" charset="0"/>
                <a:ea typeface="Calibri" pitchFamily="34" charset="-122"/>
                <a:cs typeface="Calibri" pitchFamily="34" charset="-120"/>
              </a:rPr>
              <a:t>Nmap: Misma IP que FutbolLibreTV (172.238.118.169). Comparten infraestructura Linode.</a:t>
            </a:r>
            <a:endParaRPr lang="en-US" sz="950" dirty="0"/>
          </a:p>
        </p:txBody>
      </p:sp>
      <p:sp>
        <p:nvSpPr>
          <p:cNvPr id="14" name="Shape 9"/>
          <p:cNvSpPr/>
          <p:nvPr/>
        </p:nvSpPr>
        <p:spPr>
          <a:xfrm>
            <a:off x="6126480" y="2606040"/>
            <a:ext cx="2834640" cy="2468880"/>
          </a:xfrm>
          <a:prstGeom prst="roundRect">
            <a:avLst>
              <a:gd name="adj" fmla="val 2593"/>
            </a:avLst>
          </a:prstGeom>
          <a:solidFill>
            <a:srgbClr val="21262D"/>
          </a:solidFill>
          <a:ln w="12700">
            <a:solidFill>
              <a:srgbClr val="39D353"/>
            </a:solidFill>
            <a:prstDash val="solid"/>
          </a:ln>
        </p:spPr>
        <p:txBody>
          <a:bodyPr/>
          <a:lstStyle/>
          <a:p>
            <a:endParaRPr lang="es-PA"/>
          </a:p>
        </p:txBody>
      </p:sp>
      <p:sp>
        <p:nvSpPr>
          <p:cNvPr id="15" name="Text 10"/>
          <p:cNvSpPr/>
          <p:nvPr/>
        </p:nvSpPr>
        <p:spPr>
          <a:xfrm>
            <a:off x="6217920" y="2697480"/>
            <a:ext cx="2651760" cy="2286000"/>
          </a:xfrm>
          <a:prstGeom prst="rect">
            <a:avLst/>
          </a:prstGeom>
          <a:noFill/>
          <a:ln/>
        </p:spPr>
        <p:txBody>
          <a:bodyPr wrap="square" rtlCol="0" anchor="ctr"/>
          <a:lstStyle/>
          <a:p>
            <a:pPr marL="0" indent="0">
              <a:buNone/>
            </a:pPr>
            <a:r>
              <a:rPr lang="en-US" sz="950" b="1" dirty="0">
                <a:solidFill>
                  <a:srgbClr val="F0883E"/>
                </a:solidFill>
                <a:latin typeface="Calibri" pitchFamily="34" charset="0"/>
                <a:ea typeface="Calibri" pitchFamily="34" charset="-122"/>
                <a:cs typeface="Calibri" pitchFamily="34" charset="-120"/>
              </a:rPr>
              <a:t>Riesgo: MEDIO
</a:t>
            </a:r>
            <a:r>
              <a:rPr lang="en-US" sz="950" dirty="0">
                <a:solidFill>
                  <a:srgbClr val="F0F6FC"/>
                </a:solidFill>
                <a:latin typeface="Calibri" pitchFamily="34" charset="0"/>
                <a:ea typeface="Calibri" pitchFamily="34" charset="-122"/>
                <a:cs typeface="Calibri" pitchFamily="34" charset="-120"/>
              </a:rPr>
              <a:t>Medio: 1  |  Bajo: 4  |  Info: 2
Duración: 48 seg
Pruebas: 38
</a:t>
            </a:r>
            <a:r>
              <a:rPr lang="en-US" sz="950" dirty="0">
                <a:solidFill>
                  <a:srgbClr val="8B949E"/>
                </a:solidFill>
                <a:latin typeface="Calibri" pitchFamily="34" charset="0"/>
                <a:ea typeface="Calibri" pitchFamily="34" charset="-122"/>
                <a:cs typeface="Calibri" pitchFamily="34" charset="-120"/>
              </a:rPr>
              <a:t>Nmap: Nivel medio por 1 hallazgo medio. 4 bajos y 2 informativos. 7 hallazgos en total.</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9D353"/>
          </a:solidFill>
          <a:ln w="12700">
            <a:solidFill>
              <a:srgbClr val="39D353"/>
            </a:solidFill>
            <a:prstDash val="solid"/>
          </a:ln>
        </p:spPr>
        <p:txBody>
          <a:bodyPr/>
          <a:lstStyle/>
          <a:p>
            <a:endParaRPr lang="es-PA"/>
          </a:p>
        </p:txBody>
      </p:sp>
      <p:sp>
        <p:nvSpPr>
          <p:cNvPr id="3" name="Text 1"/>
          <p:cNvSpPr/>
          <p:nvPr/>
        </p:nvSpPr>
        <p:spPr>
          <a:xfrm>
            <a:off x="365760" y="109728"/>
            <a:ext cx="8229600" cy="457200"/>
          </a:xfrm>
          <a:prstGeom prst="rect">
            <a:avLst/>
          </a:prstGeom>
          <a:noFill/>
          <a:ln/>
        </p:spPr>
        <p:txBody>
          <a:bodyPr wrap="square" rtlCol="0" anchor="ctr"/>
          <a:lstStyle/>
          <a:p>
            <a:pPr marL="0" indent="0">
              <a:buNone/>
            </a:pPr>
            <a:r>
              <a:rPr lang="en-US" sz="2400" b="1" dirty="0">
                <a:solidFill>
                  <a:srgbClr val="F0F6FC"/>
                </a:solidFill>
                <a:latin typeface="Consolas" pitchFamily="34" charset="0"/>
                <a:ea typeface="Consolas" pitchFamily="34" charset="-122"/>
                <a:cs typeface="Consolas" pitchFamily="34" charset="-120"/>
              </a:rPr>
              <a:t>Dominio 9: Arrocha</a:t>
            </a:r>
            <a:endParaRPr lang="en-US" sz="2400" dirty="0"/>
          </a:p>
        </p:txBody>
      </p:sp>
      <p:sp>
        <p:nvSpPr>
          <p:cNvPr id="4" name="Text 2"/>
          <p:cNvSpPr/>
          <p:nvPr/>
        </p:nvSpPr>
        <p:spPr>
          <a:xfrm>
            <a:off x="365760" y="566928"/>
            <a:ext cx="8229600" cy="274320"/>
          </a:xfrm>
          <a:prstGeom prst="rect">
            <a:avLst/>
          </a:prstGeom>
          <a:noFill/>
          <a:ln/>
        </p:spPr>
        <p:txBody>
          <a:bodyPr wrap="square" rtlCol="0" anchor="ctr"/>
          <a:lstStyle/>
          <a:p>
            <a:pPr marL="0" indent="0">
              <a:buNone/>
            </a:pPr>
            <a:r>
              <a:rPr lang="en-US" sz="1200" dirty="0">
                <a:solidFill>
                  <a:srgbClr val="39D353"/>
                </a:solidFill>
                <a:latin typeface="Consolas" pitchFamily="34" charset="0"/>
                <a:ea typeface="Consolas" pitchFamily="34" charset="-122"/>
                <a:cs typeface="Consolas" pitchFamily="34" charset="-120"/>
              </a:rPr>
              <a:t>https://arrocha.com/</a:t>
            </a:r>
            <a:endParaRPr lang="en-US" sz="1200" dirty="0"/>
          </a:p>
        </p:txBody>
      </p:sp>
      <p:pic>
        <p:nvPicPr>
          <p:cNvPr id="5" name="Image 0" descr="preencoded.png"/>
          <p:cNvPicPr>
            <a:picLocks noChangeAspect="1"/>
          </p:cNvPicPr>
          <p:nvPr/>
        </p:nvPicPr>
        <p:blipFill>
          <a:blip r:embed="rId3"/>
          <a:stretch>
            <a:fillRect/>
          </a:stretch>
        </p:blipFill>
        <p:spPr>
          <a:xfrm>
            <a:off x="274320" y="868680"/>
            <a:ext cx="8595360" cy="3931920"/>
          </a:xfrm>
          <a:prstGeom prst="rect">
            <a:avLst/>
          </a:prstGeom>
        </p:spPr>
      </p:pic>
      <p:sp>
        <p:nvSpPr>
          <p:cNvPr id="6" name="Shape 3"/>
          <p:cNvSpPr/>
          <p:nvPr/>
        </p:nvSpPr>
        <p:spPr>
          <a:xfrm>
            <a:off x="274320" y="3749040"/>
            <a:ext cx="8595360" cy="1280160"/>
          </a:xfrm>
          <a:prstGeom prst="roundRect">
            <a:avLst>
              <a:gd name="adj" fmla="val 4286"/>
            </a:avLst>
          </a:prstGeom>
          <a:solidFill>
            <a:srgbClr val="21262D"/>
          </a:solidFill>
          <a:ln w="12700">
            <a:solidFill>
              <a:srgbClr val="39D353"/>
            </a:solidFill>
            <a:prstDash val="solid"/>
          </a:ln>
        </p:spPr>
        <p:txBody>
          <a:bodyPr/>
          <a:lstStyle/>
          <a:p>
            <a:endParaRPr lang="es-PA"/>
          </a:p>
        </p:txBody>
      </p:sp>
      <p:sp>
        <p:nvSpPr>
          <p:cNvPr id="7" name="Text 4"/>
          <p:cNvSpPr/>
          <p:nvPr/>
        </p:nvSpPr>
        <p:spPr>
          <a:xfrm>
            <a:off x="457200" y="3794760"/>
            <a:ext cx="8229600" cy="1188720"/>
          </a:xfrm>
          <a:prstGeom prst="rect">
            <a:avLst/>
          </a:prstGeom>
          <a:noFill/>
          <a:ln/>
        </p:spPr>
        <p:txBody>
          <a:bodyPr wrap="square" rtlCol="0" anchor="ctr"/>
          <a:lstStyle/>
          <a:p>
            <a:pPr marL="0" indent="0">
              <a:buNone/>
            </a:pPr>
            <a:r>
              <a:rPr lang="en-US" sz="1000" b="1" dirty="0">
                <a:solidFill>
                  <a:srgbClr val="F0883E"/>
                </a:solidFill>
                <a:latin typeface="Calibri" pitchFamily="34" charset="0"/>
                <a:ea typeface="Calibri" pitchFamily="34" charset="-122"/>
                <a:cs typeface="Calibri" pitchFamily="34" charset="-120"/>
              </a:rPr>
              <a:t>Nivel de Riesgo: MEDIO  </a:t>
            </a:r>
            <a:r>
              <a:rPr lang="en-US" sz="1000" dirty="0">
                <a:solidFill>
                  <a:srgbClr val="F0F6FC"/>
                </a:solidFill>
                <a:latin typeface="Calibri" pitchFamily="34" charset="0"/>
                <a:ea typeface="Calibri" pitchFamily="34" charset="-122"/>
                <a:cs typeface="Calibri" pitchFamily="34" charset="-120"/>
              </a:rPr>
              <a:t>  |  Crítico: 0  |  Alto: 0  |  </a:t>
            </a:r>
            <a:r>
              <a:rPr lang="en-US" sz="1000" b="1" dirty="0">
                <a:solidFill>
                  <a:srgbClr val="F0883E"/>
                </a:solidFill>
                <a:latin typeface="Calibri" pitchFamily="34" charset="0"/>
                <a:ea typeface="Calibri" pitchFamily="34" charset="-122"/>
                <a:cs typeface="Calibri" pitchFamily="34" charset="-120"/>
              </a:rPr>
              <a:t>Medio: 2  |  </a:t>
            </a:r>
            <a:r>
              <a:rPr lang="en-US" sz="1000" dirty="0">
                <a:solidFill>
                  <a:srgbClr val="F0F6FC"/>
                </a:solidFill>
                <a:latin typeface="Calibri" pitchFamily="34" charset="0"/>
                <a:ea typeface="Calibri" pitchFamily="34" charset="-122"/>
                <a:cs typeface="Calibri" pitchFamily="34" charset="-120"/>
              </a:rPr>
              <a:t>Bajo: 4  |  Info: 2  |  Duración: 59 seg  |  Pruebas: 38
</a:t>
            </a:r>
            <a:r>
              <a:rPr lang="en-US" sz="1000" b="1" dirty="0">
                <a:solidFill>
                  <a:srgbClr val="00BFFF"/>
                </a:solidFill>
                <a:latin typeface="Calibri" pitchFamily="34" charset="0"/>
                <a:ea typeface="Calibri" pitchFamily="34" charset="-122"/>
                <a:cs typeface="Calibri" pitchFamily="34" charset="-120"/>
              </a:rPr>
              <a:t>Hallazgos: </a:t>
            </a:r>
            <a:r>
              <a:rPr lang="en-US" sz="1000" dirty="0">
                <a:solidFill>
                  <a:srgbClr val="F0F6FC"/>
                </a:solidFill>
                <a:latin typeface="Calibri" pitchFamily="34" charset="0"/>
                <a:ea typeface="Calibri" pitchFamily="34" charset="-122"/>
                <a:cs typeface="Calibri" pitchFamily="34" charset="-120"/>
              </a:rPr>
              <a:t>8 hallazgos totales (2 medios + 4 bajos + 2 informativos). Al igual que otros dominios del estudio, no presenta vulnerabilidades críticas ni altas. Arrocha es la cadena de farmacias y perfumerías más reconocida de Panamá, lo que hace especialmente importante mantener su seguridad.</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883E"/>
          </a:solidFill>
          <a:ln w="12700">
            <a:solidFill>
              <a:srgbClr val="F0883E"/>
            </a:solidFill>
            <a:prstDash val="solid"/>
          </a:ln>
        </p:spPr>
        <p:txBody>
          <a:bodyPr/>
          <a:lstStyle/>
          <a:p>
            <a:endParaRPr lang="es-PA"/>
          </a:p>
        </p:txBody>
      </p:sp>
      <p:sp>
        <p:nvSpPr>
          <p:cNvPr id="3" name="Text 1"/>
          <p:cNvSpPr/>
          <p:nvPr/>
        </p:nvSpPr>
        <p:spPr>
          <a:xfrm>
            <a:off x="365760" y="109728"/>
            <a:ext cx="8229600" cy="457200"/>
          </a:xfrm>
          <a:prstGeom prst="rect">
            <a:avLst/>
          </a:prstGeom>
          <a:noFill/>
          <a:ln/>
        </p:spPr>
        <p:txBody>
          <a:bodyPr wrap="square" rtlCol="0" anchor="ctr"/>
          <a:lstStyle/>
          <a:p>
            <a:pPr marL="0" indent="0">
              <a:buNone/>
            </a:pPr>
            <a:r>
              <a:rPr lang="en-US" sz="2400" b="1" dirty="0">
                <a:solidFill>
                  <a:srgbClr val="F0F6FC"/>
                </a:solidFill>
                <a:latin typeface="Consolas" pitchFamily="34" charset="0"/>
                <a:ea typeface="Consolas" pitchFamily="34" charset="-122"/>
                <a:cs typeface="Consolas" pitchFamily="34" charset="-120"/>
              </a:rPr>
              <a:t>Dominio 10: Grupo Melo</a:t>
            </a:r>
            <a:endParaRPr lang="en-US" sz="2400" dirty="0"/>
          </a:p>
        </p:txBody>
      </p:sp>
      <p:sp>
        <p:nvSpPr>
          <p:cNvPr id="4" name="Text 2"/>
          <p:cNvSpPr/>
          <p:nvPr/>
        </p:nvSpPr>
        <p:spPr>
          <a:xfrm>
            <a:off x="365760" y="566928"/>
            <a:ext cx="8229600" cy="274320"/>
          </a:xfrm>
          <a:prstGeom prst="rect">
            <a:avLst/>
          </a:prstGeom>
          <a:noFill/>
          <a:ln/>
        </p:spPr>
        <p:txBody>
          <a:bodyPr wrap="square" rtlCol="0" anchor="ctr"/>
          <a:lstStyle/>
          <a:p>
            <a:pPr marL="0" indent="0">
              <a:buNone/>
            </a:pPr>
            <a:r>
              <a:rPr lang="en-US" sz="1200" dirty="0">
                <a:solidFill>
                  <a:srgbClr val="F0883E"/>
                </a:solidFill>
                <a:latin typeface="Consolas" pitchFamily="34" charset="0"/>
                <a:ea typeface="Consolas" pitchFamily="34" charset="-122"/>
                <a:cs typeface="Consolas" pitchFamily="34" charset="-120"/>
              </a:rPr>
              <a:t>https://www.grupomelo.com/pages/melo-y-cia</a:t>
            </a:r>
            <a:endParaRPr lang="en-US" sz="1200" dirty="0"/>
          </a:p>
        </p:txBody>
      </p:sp>
      <p:pic>
        <p:nvPicPr>
          <p:cNvPr id="5" name="Image 0" descr="preencoded.png"/>
          <p:cNvPicPr>
            <a:picLocks noChangeAspect="1"/>
          </p:cNvPicPr>
          <p:nvPr/>
        </p:nvPicPr>
        <p:blipFill>
          <a:blip r:embed="rId3"/>
          <a:stretch>
            <a:fillRect/>
          </a:stretch>
        </p:blipFill>
        <p:spPr>
          <a:xfrm>
            <a:off x="274320" y="868680"/>
            <a:ext cx="8595360" cy="3931920"/>
          </a:xfrm>
          <a:prstGeom prst="rect">
            <a:avLst/>
          </a:prstGeom>
        </p:spPr>
      </p:pic>
      <p:sp>
        <p:nvSpPr>
          <p:cNvPr id="6" name="Shape 3"/>
          <p:cNvSpPr/>
          <p:nvPr/>
        </p:nvSpPr>
        <p:spPr>
          <a:xfrm>
            <a:off x="274320" y="3749040"/>
            <a:ext cx="8595360" cy="1280160"/>
          </a:xfrm>
          <a:prstGeom prst="roundRect">
            <a:avLst>
              <a:gd name="adj" fmla="val 4286"/>
            </a:avLst>
          </a:prstGeom>
          <a:solidFill>
            <a:srgbClr val="21262D"/>
          </a:solidFill>
          <a:ln w="12700">
            <a:solidFill>
              <a:srgbClr val="F0883E"/>
            </a:solidFill>
            <a:prstDash val="solid"/>
          </a:ln>
        </p:spPr>
        <p:txBody>
          <a:bodyPr/>
          <a:lstStyle/>
          <a:p>
            <a:endParaRPr lang="es-PA"/>
          </a:p>
        </p:txBody>
      </p:sp>
      <p:sp>
        <p:nvSpPr>
          <p:cNvPr id="7" name="Text 4"/>
          <p:cNvSpPr/>
          <p:nvPr/>
        </p:nvSpPr>
        <p:spPr>
          <a:xfrm>
            <a:off x="457200" y="3794760"/>
            <a:ext cx="8229600" cy="1188720"/>
          </a:xfrm>
          <a:prstGeom prst="rect">
            <a:avLst/>
          </a:prstGeom>
          <a:noFill/>
          <a:ln/>
        </p:spPr>
        <p:txBody>
          <a:bodyPr wrap="square" rtlCol="0" anchor="ctr"/>
          <a:lstStyle/>
          <a:p>
            <a:pPr marL="0" indent="0">
              <a:buNone/>
            </a:pPr>
            <a:r>
              <a:rPr lang="en-US" sz="1000" b="1" dirty="0">
                <a:solidFill>
                  <a:srgbClr val="F0883E"/>
                </a:solidFill>
                <a:latin typeface="Calibri" pitchFamily="34" charset="0"/>
                <a:ea typeface="Calibri" pitchFamily="34" charset="-122"/>
                <a:cs typeface="Calibri" pitchFamily="34" charset="-120"/>
              </a:rPr>
              <a:t>Nivel de Riesgo: MEDIO  </a:t>
            </a:r>
            <a:r>
              <a:rPr lang="en-US" sz="1000" dirty="0">
                <a:solidFill>
                  <a:srgbClr val="F0F6FC"/>
                </a:solidFill>
                <a:latin typeface="Calibri" pitchFamily="34" charset="0"/>
                <a:ea typeface="Calibri" pitchFamily="34" charset="-122"/>
                <a:cs typeface="Calibri" pitchFamily="34" charset="-120"/>
              </a:rPr>
              <a:t>  |  Crítico: 0  |  Alto: 0  |  </a:t>
            </a:r>
            <a:r>
              <a:rPr lang="en-US" sz="1000" b="1" dirty="0">
                <a:solidFill>
                  <a:srgbClr val="F0883E"/>
                </a:solidFill>
                <a:latin typeface="Calibri" pitchFamily="34" charset="0"/>
                <a:ea typeface="Calibri" pitchFamily="34" charset="-122"/>
                <a:cs typeface="Calibri" pitchFamily="34" charset="-120"/>
              </a:rPr>
              <a:t>Medio: 2  |  </a:t>
            </a:r>
            <a:r>
              <a:rPr lang="en-US" sz="1000" dirty="0">
                <a:solidFill>
                  <a:srgbClr val="F0F6FC"/>
                </a:solidFill>
                <a:latin typeface="Calibri" pitchFamily="34" charset="0"/>
                <a:ea typeface="Calibri" pitchFamily="34" charset="-122"/>
                <a:cs typeface="Calibri" pitchFamily="34" charset="-120"/>
              </a:rPr>
              <a:t>Bajo: 4  |  Info: 2  |  Duración: 33 seg  |  Pruebas: 38
</a:t>
            </a:r>
            <a:r>
              <a:rPr lang="en-US" sz="1000" b="1" dirty="0">
                <a:solidFill>
                  <a:srgbClr val="00BFFF"/>
                </a:solidFill>
                <a:latin typeface="Calibri" pitchFamily="34" charset="0"/>
                <a:ea typeface="Calibri" pitchFamily="34" charset="-122"/>
                <a:cs typeface="Calibri" pitchFamily="34" charset="-120"/>
              </a:rPr>
              <a:t>Hallazgos: </a:t>
            </a:r>
            <a:r>
              <a:rPr lang="en-US" sz="1000" dirty="0">
                <a:solidFill>
                  <a:srgbClr val="F0F6FC"/>
                </a:solidFill>
                <a:latin typeface="Calibri" pitchFamily="34" charset="0"/>
                <a:ea typeface="Calibri" pitchFamily="34" charset="-122"/>
                <a:cs typeface="Calibri" pitchFamily="34" charset="-120"/>
              </a:rPr>
              <a:t>8 hallazgos totales, perfil idéntico al de Arrocha. Grupo Melo es uno de los conglomerados empresariales más importantes de Panamá. El riesgo medio indica que existen configuraciones que deben revisarse pero no hay vulnerabilidades inmediatamente críticas.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FFF"/>
          </a:solidFill>
          <a:ln w="12700">
            <a:solidFill>
              <a:srgbClr val="00BFFF"/>
            </a:solidFill>
            <a:prstDash val="solid"/>
          </a:ln>
        </p:spPr>
        <p:txBody>
          <a:bodyPr/>
          <a:lstStyle/>
          <a:p>
            <a:endParaRPr lang="es-PA"/>
          </a:p>
        </p:txBody>
      </p:sp>
      <p:sp>
        <p:nvSpPr>
          <p:cNvPr id="3" name="Text 1"/>
          <p:cNvSpPr/>
          <p:nvPr/>
        </p:nvSpPr>
        <p:spPr>
          <a:xfrm>
            <a:off x="365760" y="109728"/>
            <a:ext cx="8229600" cy="457200"/>
          </a:xfrm>
          <a:prstGeom prst="rect">
            <a:avLst/>
          </a:prstGeom>
          <a:noFill/>
          <a:ln/>
        </p:spPr>
        <p:txBody>
          <a:bodyPr wrap="square" rtlCol="0" anchor="ctr"/>
          <a:lstStyle/>
          <a:p>
            <a:pPr marL="0" indent="0">
              <a:buNone/>
            </a:pPr>
            <a:r>
              <a:rPr lang="en-US" sz="2200" b="1" dirty="0">
                <a:solidFill>
                  <a:srgbClr val="F0F6FC"/>
                </a:solidFill>
                <a:latin typeface="Consolas" pitchFamily="34" charset="0"/>
                <a:ea typeface="Consolas" pitchFamily="34" charset="-122"/>
                <a:cs typeface="Consolas" pitchFamily="34" charset="-120"/>
              </a:rPr>
              <a:t>Tabla Comparativa — Todos los Dominios</a:t>
            </a:r>
            <a:endParaRPr lang="en-US" sz="2200" dirty="0"/>
          </a:p>
        </p:txBody>
      </p:sp>
      <p:sp>
        <p:nvSpPr>
          <p:cNvPr id="4" name="Shape 2"/>
          <p:cNvSpPr/>
          <p:nvPr/>
        </p:nvSpPr>
        <p:spPr>
          <a:xfrm>
            <a:off x="137160" y="685800"/>
            <a:ext cx="228600" cy="292608"/>
          </a:xfrm>
          <a:prstGeom prst="rect">
            <a:avLst/>
          </a:prstGeom>
          <a:solidFill>
            <a:srgbClr val="00BFFF"/>
          </a:solidFill>
          <a:ln w="12700">
            <a:solidFill>
              <a:srgbClr val="00BFFF"/>
            </a:solidFill>
            <a:prstDash val="solid"/>
          </a:ln>
        </p:spPr>
        <p:txBody>
          <a:bodyPr/>
          <a:lstStyle/>
          <a:p>
            <a:endParaRPr lang="es-PA"/>
          </a:p>
        </p:txBody>
      </p:sp>
      <p:sp>
        <p:nvSpPr>
          <p:cNvPr id="5" name="Text 3"/>
          <p:cNvSpPr/>
          <p:nvPr/>
        </p:nvSpPr>
        <p:spPr>
          <a:xfrm>
            <a:off x="137160" y="685800"/>
            <a:ext cx="228600" cy="292608"/>
          </a:xfrm>
          <a:prstGeom prst="rect">
            <a:avLst/>
          </a:prstGeom>
          <a:noFill/>
          <a:ln/>
        </p:spPr>
        <p:txBody>
          <a:bodyPr wrap="square" rtlCol="0" anchor="ctr"/>
          <a:lstStyle/>
          <a:p>
            <a:pPr marL="0" indent="0" algn="ctr">
              <a:buNone/>
            </a:pPr>
            <a:r>
              <a:rPr lang="en-US" sz="850" b="1" dirty="0">
                <a:solidFill>
                  <a:srgbClr val="0D1117"/>
                </a:solidFill>
                <a:latin typeface="Consolas" pitchFamily="34" charset="0"/>
                <a:ea typeface="Consolas" pitchFamily="34" charset="-122"/>
                <a:cs typeface="Consolas" pitchFamily="34" charset="-120"/>
              </a:rPr>
              <a:t>#</a:t>
            </a:r>
            <a:endParaRPr lang="en-US" sz="850" dirty="0"/>
          </a:p>
        </p:txBody>
      </p:sp>
      <p:sp>
        <p:nvSpPr>
          <p:cNvPr id="6" name="Shape 4"/>
          <p:cNvSpPr/>
          <p:nvPr/>
        </p:nvSpPr>
        <p:spPr>
          <a:xfrm>
            <a:off x="365760" y="685800"/>
            <a:ext cx="2103120" cy="292608"/>
          </a:xfrm>
          <a:prstGeom prst="rect">
            <a:avLst/>
          </a:prstGeom>
          <a:solidFill>
            <a:srgbClr val="00BFFF"/>
          </a:solidFill>
          <a:ln w="12700">
            <a:solidFill>
              <a:srgbClr val="00BFFF"/>
            </a:solidFill>
            <a:prstDash val="solid"/>
          </a:ln>
        </p:spPr>
        <p:txBody>
          <a:bodyPr/>
          <a:lstStyle/>
          <a:p>
            <a:endParaRPr lang="es-PA"/>
          </a:p>
        </p:txBody>
      </p:sp>
      <p:sp>
        <p:nvSpPr>
          <p:cNvPr id="7" name="Text 5"/>
          <p:cNvSpPr/>
          <p:nvPr/>
        </p:nvSpPr>
        <p:spPr>
          <a:xfrm>
            <a:off x="365760" y="685800"/>
            <a:ext cx="2103120" cy="292608"/>
          </a:xfrm>
          <a:prstGeom prst="rect">
            <a:avLst/>
          </a:prstGeom>
          <a:noFill/>
          <a:ln/>
        </p:spPr>
        <p:txBody>
          <a:bodyPr wrap="square" rtlCol="0" anchor="ctr"/>
          <a:lstStyle/>
          <a:p>
            <a:pPr marL="0" indent="0" algn="ctr">
              <a:buNone/>
            </a:pPr>
            <a:r>
              <a:rPr lang="en-US" sz="850" b="1" dirty="0">
                <a:solidFill>
                  <a:srgbClr val="0D1117"/>
                </a:solidFill>
                <a:latin typeface="Consolas" pitchFamily="34" charset="0"/>
                <a:ea typeface="Consolas" pitchFamily="34" charset="-122"/>
                <a:cs typeface="Consolas" pitchFamily="34" charset="-120"/>
              </a:rPr>
              <a:t>Dominio</a:t>
            </a:r>
            <a:endParaRPr lang="en-US" sz="850" dirty="0"/>
          </a:p>
        </p:txBody>
      </p:sp>
      <p:sp>
        <p:nvSpPr>
          <p:cNvPr id="8" name="Shape 6"/>
          <p:cNvSpPr/>
          <p:nvPr/>
        </p:nvSpPr>
        <p:spPr>
          <a:xfrm>
            <a:off x="2468880" y="685800"/>
            <a:ext cx="1371600" cy="292608"/>
          </a:xfrm>
          <a:prstGeom prst="rect">
            <a:avLst/>
          </a:prstGeom>
          <a:solidFill>
            <a:srgbClr val="00BFFF"/>
          </a:solidFill>
          <a:ln w="12700">
            <a:solidFill>
              <a:srgbClr val="00BFFF"/>
            </a:solidFill>
            <a:prstDash val="solid"/>
          </a:ln>
        </p:spPr>
        <p:txBody>
          <a:bodyPr/>
          <a:lstStyle/>
          <a:p>
            <a:endParaRPr lang="es-PA"/>
          </a:p>
        </p:txBody>
      </p:sp>
      <p:sp>
        <p:nvSpPr>
          <p:cNvPr id="9" name="Text 7"/>
          <p:cNvSpPr/>
          <p:nvPr/>
        </p:nvSpPr>
        <p:spPr>
          <a:xfrm>
            <a:off x="2468880" y="685800"/>
            <a:ext cx="1371600" cy="292608"/>
          </a:xfrm>
          <a:prstGeom prst="rect">
            <a:avLst/>
          </a:prstGeom>
          <a:noFill/>
          <a:ln/>
        </p:spPr>
        <p:txBody>
          <a:bodyPr wrap="square" rtlCol="0" anchor="ctr"/>
          <a:lstStyle/>
          <a:p>
            <a:pPr marL="0" indent="0" algn="ctr">
              <a:buNone/>
            </a:pPr>
            <a:r>
              <a:rPr lang="en-US" sz="850" b="1" dirty="0">
                <a:solidFill>
                  <a:srgbClr val="0D1117"/>
                </a:solidFill>
                <a:latin typeface="Consolas" pitchFamily="34" charset="0"/>
                <a:ea typeface="Consolas" pitchFamily="34" charset="-122"/>
                <a:cs typeface="Consolas" pitchFamily="34" charset="-120"/>
              </a:rPr>
              <a:t>IP</a:t>
            </a:r>
            <a:endParaRPr lang="en-US" sz="850" dirty="0"/>
          </a:p>
        </p:txBody>
      </p:sp>
      <p:sp>
        <p:nvSpPr>
          <p:cNvPr id="10" name="Shape 8"/>
          <p:cNvSpPr/>
          <p:nvPr/>
        </p:nvSpPr>
        <p:spPr>
          <a:xfrm>
            <a:off x="3840480" y="685800"/>
            <a:ext cx="822960" cy="292608"/>
          </a:xfrm>
          <a:prstGeom prst="rect">
            <a:avLst/>
          </a:prstGeom>
          <a:solidFill>
            <a:srgbClr val="00BFFF"/>
          </a:solidFill>
          <a:ln w="12700">
            <a:solidFill>
              <a:srgbClr val="00BFFF"/>
            </a:solidFill>
            <a:prstDash val="solid"/>
          </a:ln>
        </p:spPr>
        <p:txBody>
          <a:bodyPr/>
          <a:lstStyle/>
          <a:p>
            <a:endParaRPr lang="es-PA"/>
          </a:p>
        </p:txBody>
      </p:sp>
      <p:sp>
        <p:nvSpPr>
          <p:cNvPr id="11" name="Text 9"/>
          <p:cNvSpPr/>
          <p:nvPr/>
        </p:nvSpPr>
        <p:spPr>
          <a:xfrm>
            <a:off x="3840480" y="685800"/>
            <a:ext cx="822960" cy="292608"/>
          </a:xfrm>
          <a:prstGeom prst="rect">
            <a:avLst/>
          </a:prstGeom>
          <a:noFill/>
          <a:ln/>
        </p:spPr>
        <p:txBody>
          <a:bodyPr wrap="square" rtlCol="0" anchor="ctr"/>
          <a:lstStyle/>
          <a:p>
            <a:pPr marL="0" indent="0" algn="ctr">
              <a:buNone/>
            </a:pPr>
            <a:r>
              <a:rPr lang="en-US" sz="850" b="1" dirty="0">
                <a:solidFill>
                  <a:srgbClr val="0D1117"/>
                </a:solidFill>
                <a:latin typeface="Consolas" pitchFamily="34" charset="0"/>
                <a:ea typeface="Consolas" pitchFamily="34" charset="-122"/>
                <a:cs typeface="Consolas" pitchFamily="34" charset="-120"/>
              </a:rPr>
              <a:t>Riesgo</a:t>
            </a:r>
            <a:endParaRPr lang="en-US" sz="850" dirty="0"/>
          </a:p>
        </p:txBody>
      </p:sp>
      <p:sp>
        <p:nvSpPr>
          <p:cNvPr id="12" name="Shape 10"/>
          <p:cNvSpPr/>
          <p:nvPr/>
        </p:nvSpPr>
        <p:spPr>
          <a:xfrm>
            <a:off x="4663440" y="685800"/>
            <a:ext cx="548640" cy="292608"/>
          </a:xfrm>
          <a:prstGeom prst="rect">
            <a:avLst/>
          </a:prstGeom>
          <a:solidFill>
            <a:srgbClr val="00BFFF"/>
          </a:solidFill>
          <a:ln w="12700">
            <a:solidFill>
              <a:srgbClr val="00BFFF"/>
            </a:solidFill>
            <a:prstDash val="solid"/>
          </a:ln>
        </p:spPr>
        <p:txBody>
          <a:bodyPr/>
          <a:lstStyle/>
          <a:p>
            <a:endParaRPr lang="es-PA"/>
          </a:p>
        </p:txBody>
      </p:sp>
      <p:sp>
        <p:nvSpPr>
          <p:cNvPr id="13" name="Text 11"/>
          <p:cNvSpPr/>
          <p:nvPr/>
        </p:nvSpPr>
        <p:spPr>
          <a:xfrm>
            <a:off x="4663440" y="685800"/>
            <a:ext cx="548640" cy="292608"/>
          </a:xfrm>
          <a:prstGeom prst="rect">
            <a:avLst/>
          </a:prstGeom>
          <a:noFill/>
          <a:ln/>
        </p:spPr>
        <p:txBody>
          <a:bodyPr wrap="square" rtlCol="0" anchor="ctr"/>
          <a:lstStyle/>
          <a:p>
            <a:pPr marL="0" indent="0" algn="ctr">
              <a:buNone/>
            </a:pPr>
            <a:r>
              <a:rPr lang="en-US" sz="850" b="1" dirty="0">
                <a:solidFill>
                  <a:srgbClr val="0D1117"/>
                </a:solidFill>
                <a:latin typeface="Consolas" pitchFamily="34" charset="0"/>
                <a:ea typeface="Consolas" pitchFamily="34" charset="-122"/>
                <a:cs typeface="Consolas" pitchFamily="34" charset="-120"/>
              </a:rPr>
              <a:t>Medio</a:t>
            </a:r>
            <a:endParaRPr lang="en-US" sz="850" dirty="0"/>
          </a:p>
        </p:txBody>
      </p:sp>
      <p:sp>
        <p:nvSpPr>
          <p:cNvPr id="14" name="Shape 12"/>
          <p:cNvSpPr/>
          <p:nvPr/>
        </p:nvSpPr>
        <p:spPr>
          <a:xfrm>
            <a:off x="5212080" y="685800"/>
            <a:ext cx="548640" cy="292608"/>
          </a:xfrm>
          <a:prstGeom prst="rect">
            <a:avLst/>
          </a:prstGeom>
          <a:solidFill>
            <a:srgbClr val="00BFFF"/>
          </a:solidFill>
          <a:ln w="12700">
            <a:solidFill>
              <a:srgbClr val="00BFFF"/>
            </a:solidFill>
            <a:prstDash val="solid"/>
          </a:ln>
        </p:spPr>
        <p:txBody>
          <a:bodyPr/>
          <a:lstStyle/>
          <a:p>
            <a:endParaRPr lang="es-PA"/>
          </a:p>
        </p:txBody>
      </p:sp>
      <p:sp>
        <p:nvSpPr>
          <p:cNvPr id="15" name="Text 13"/>
          <p:cNvSpPr/>
          <p:nvPr/>
        </p:nvSpPr>
        <p:spPr>
          <a:xfrm>
            <a:off x="5212080" y="685800"/>
            <a:ext cx="548640" cy="292608"/>
          </a:xfrm>
          <a:prstGeom prst="rect">
            <a:avLst/>
          </a:prstGeom>
          <a:noFill/>
          <a:ln/>
        </p:spPr>
        <p:txBody>
          <a:bodyPr wrap="square" rtlCol="0" anchor="ctr"/>
          <a:lstStyle/>
          <a:p>
            <a:pPr marL="0" indent="0" algn="ctr">
              <a:buNone/>
            </a:pPr>
            <a:r>
              <a:rPr lang="en-US" sz="850" b="1" dirty="0">
                <a:solidFill>
                  <a:srgbClr val="0D1117"/>
                </a:solidFill>
                <a:latin typeface="Consolas" pitchFamily="34" charset="0"/>
                <a:ea typeface="Consolas" pitchFamily="34" charset="-122"/>
                <a:cs typeface="Consolas" pitchFamily="34" charset="-120"/>
              </a:rPr>
              <a:t>Bajo</a:t>
            </a:r>
            <a:endParaRPr lang="en-US" sz="850" dirty="0"/>
          </a:p>
        </p:txBody>
      </p:sp>
      <p:sp>
        <p:nvSpPr>
          <p:cNvPr id="16" name="Shape 14"/>
          <p:cNvSpPr/>
          <p:nvPr/>
        </p:nvSpPr>
        <p:spPr>
          <a:xfrm>
            <a:off x="5760720" y="685800"/>
            <a:ext cx="457200" cy="292608"/>
          </a:xfrm>
          <a:prstGeom prst="rect">
            <a:avLst/>
          </a:prstGeom>
          <a:solidFill>
            <a:srgbClr val="00BFFF"/>
          </a:solidFill>
          <a:ln w="12700">
            <a:solidFill>
              <a:srgbClr val="00BFFF"/>
            </a:solidFill>
            <a:prstDash val="solid"/>
          </a:ln>
        </p:spPr>
        <p:txBody>
          <a:bodyPr/>
          <a:lstStyle/>
          <a:p>
            <a:endParaRPr lang="es-PA"/>
          </a:p>
        </p:txBody>
      </p:sp>
      <p:sp>
        <p:nvSpPr>
          <p:cNvPr id="17" name="Text 15"/>
          <p:cNvSpPr/>
          <p:nvPr/>
        </p:nvSpPr>
        <p:spPr>
          <a:xfrm>
            <a:off x="5760720" y="685800"/>
            <a:ext cx="457200" cy="292608"/>
          </a:xfrm>
          <a:prstGeom prst="rect">
            <a:avLst/>
          </a:prstGeom>
          <a:noFill/>
          <a:ln/>
        </p:spPr>
        <p:txBody>
          <a:bodyPr wrap="square" rtlCol="0" anchor="ctr"/>
          <a:lstStyle/>
          <a:p>
            <a:pPr marL="0" indent="0" algn="ctr">
              <a:buNone/>
            </a:pPr>
            <a:r>
              <a:rPr lang="en-US" sz="850" b="1" dirty="0">
                <a:solidFill>
                  <a:srgbClr val="0D1117"/>
                </a:solidFill>
                <a:latin typeface="Consolas" pitchFamily="34" charset="0"/>
                <a:ea typeface="Consolas" pitchFamily="34" charset="-122"/>
                <a:cs typeface="Consolas" pitchFamily="34" charset="-120"/>
              </a:rPr>
              <a:t>Info</a:t>
            </a:r>
            <a:endParaRPr lang="en-US" sz="850" dirty="0"/>
          </a:p>
        </p:txBody>
      </p:sp>
      <p:sp>
        <p:nvSpPr>
          <p:cNvPr id="18" name="Shape 16"/>
          <p:cNvSpPr/>
          <p:nvPr/>
        </p:nvSpPr>
        <p:spPr>
          <a:xfrm>
            <a:off x="6217920" y="685800"/>
            <a:ext cx="960120" cy="292608"/>
          </a:xfrm>
          <a:prstGeom prst="rect">
            <a:avLst/>
          </a:prstGeom>
          <a:solidFill>
            <a:srgbClr val="00BFFF"/>
          </a:solidFill>
          <a:ln w="12700">
            <a:solidFill>
              <a:srgbClr val="00BFFF"/>
            </a:solidFill>
            <a:prstDash val="solid"/>
          </a:ln>
        </p:spPr>
        <p:txBody>
          <a:bodyPr/>
          <a:lstStyle/>
          <a:p>
            <a:endParaRPr lang="es-PA"/>
          </a:p>
        </p:txBody>
      </p:sp>
      <p:sp>
        <p:nvSpPr>
          <p:cNvPr id="19" name="Text 17"/>
          <p:cNvSpPr/>
          <p:nvPr/>
        </p:nvSpPr>
        <p:spPr>
          <a:xfrm>
            <a:off x="6217920" y="685800"/>
            <a:ext cx="960120" cy="292608"/>
          </a:xfrm>
          <a:prstGeom prst="rect">
            <a:avLst/>
          </a:prstGeom>
          <a:noFill/>
          <a:ln/>
        </p:spPr>
        <p:txBody>
          <a:bodyPr wrap="square" rtlCol="0" anchor="ctr"/>
          <a:lstStyle/>
          <a:p>
            <a:pPr marL="0" indent="0" algn="ctr">
              <a:buNone/>
            </a:pPr>
            <a:r>
              <a:rPr lang="en-US" sz="850" b="1" dirty="0">
                <a:solidFill>
                  <a:srgbClr val="0D1117"/>
                </a:solidFill>
                <a:latin typeface="Consolas" pitchFamily="34" charset="0"/>
                <a:ea typeface="Consolas" pitchFamily="34" charset="-122"/>
                <a:cs typeface="Consolas" pitchFamily="34" charset="-120"/>
              </a:rPr>
              <a:t>Subdominios</a:t>
            </a:r>
            <a:endParaRPr lang="en-US" sz="850" dirty="0"/>
          </a:p>
        </p:txBody>
      </p:sp>
      <p:sp>
        <p:nvSpPr>
          <p:cNvPr id="20" name="Shape 18"/>
          <p:cNvSpPr/>
          <p:nvPr/>
        </p:nvSpPr>
        <p:spPr>
          <a:xfrm>
            <a:off x="7178040" y="685800"/>
            <a:ext cx="1005840" cy="292608"/>
          </a:xfrm>
          <a:prstGeom prst="rect">
            <a:avLst/>
          </a:prstGeom>
          <a:solidFill>
            <a:srgbClr val="00BFFF"/>
          </a:solidFill>
          <a:ln w="12700">
            <a:solidFill>
              <a:srgbClr val="00BFFF"/>
            </a:solidFill>
            <a:prstDash val="solid"/>
          </a:ln>
        </p:spPr>
        <p:txBody>
          <a:bodyPr/>
          <a:lstStyle/>
          <a:p>
            <a:endParaRPr lang="es-PA"/>
          </a:p>
        </p:txBody>
      </p:sp>
      <p:sp>
        <p:nvSpPr>
          <p:cNvPr id="21" name="Text 19"/>
          <p:cNvSpPr/>
          <p:nvPr/>
        </p:nvSpPr>
        <p:spPr>
          <a:xfrm>
            <a:off x="7178040" y="685800"/>
            <a:ext cx="1005840" cy="292608"/>
          </a:xfrm>
          <a:prstGeom prst="rect">
            <a:avLst/>
          </a:prstGeom>
          <a:noFill/>
          <a:ln/>
        </p:spPr>
        <p:txBody>
          <a:bodyPr wrap="square" rtlCol="0" anchor="ctr"/>
          <a:lstStyle/>
          <a:p>
            <a:pPr marL="0" indent="0" algn="ctr">
              <a:buNone/>
            </a:pPr>
            <a:r>
              <a:rPr lang="en-US" sz="850" b="1" dirty="0">
                <a:solidFill>
                  <a:srgbClr val="0D1117"/>
                </a:solidFill>
                <a:latin typeface="Consolas" pitchFamily="34" charset="0"/>
                <a:ea typeface="Consolas" pitchFamily="34" charset="-122"/>
                <a:cs typeface="Consolas" pitchFamily="34" charset="-120"/>
              </a:rPr>
              <a:t>Duración</a:t>
            </a:r>
            <a:endParaRPr lang="en-US" sz="850" dirty="0"/>
          </a:p>
        </p:txBody>
      </p:sp>
      <p:sp>
        <p:nvSpPr>
          <p:cNvPr id="22" name="Shape 20"/>
          <p:cNvSpPr/>
          <p:nvPr/>
        </p:nvSpPr>
        <p:spPr>
          <a:xfrm>
            <a:off x="8183880" y="685800"/>
            <a:ext cx="914400" cy="292608"/>
          </a:xfrm>
          <a:prstGeom prst="rect">
            <a:avLst/>
          </a:prstGeom>
          <a:solidFill>
            <a:srgbClr val="00BFFF"/>
          </a:solidFill>
          <a:ln w="12700">
            <a:solidFill>
              <a:srgbClr val="00BFFF"/>
            </a:solidFill>
            <a:prstDash val="solid"/>
          </a:ln>
        </p:spPr>
        <p:txBody>
          <a:bodyPr/>
          <a:lstStyle/>
          <a:p>
            <a:endParaRPr lang="es-PA"/>
          </a:p>
        </p:txBody>
      </p:sp>
      <p:sp>
        <p:nvSpPr>
          <p:cNvPr id="23" name="Text 21"/>
          <p:cNvSpPr/>
          <p:nvPr/>
        </p:nvSpPr>
        <p:spPr>
          <a:xfrm>
            <a:off x="8183880" y="685800"/>
            <a:ext cx="914400" cy="292608"/>
          </a:xfrm>
          <a:prstGeom prst="rect">
            <a:avLst/>
          </a:prstGeom>
          <a:noFill/>
          <a:ln/>
        </p:spPr>
        <p:txBody>
          <a:bodyPr wrap="square" rtlCol="0" anchor="ctr"/>
          <a:lstStyle/>
          <a:p>
            <a:pPr marL="0" indent="0" algn="ctr">
              <a:buNone/>
            </a:pPr>
            <a:r>
              <a:rPr lang="en-US" sz="850" b="1" dirty="0">
                <a:solidFill>
                  <a:srgbClr val="0D1117"/>
                </a:solidFill>
                <a:latin typeface="Consolas" pitchFamily="34" charset="0"/>
                <a:ea typeface="Consolas" pitchFamily="34" charset="-122"/>
                <a:cs typeface="Consolas" pitchFamily="34" charset="-120"/>
              </a:rPr>
              <a:t>Puertos</a:t>
            </a:r>
            <a:endParaRPr lang="en-US" sz="850" dirty="0"/>
          </a:p>
        </p:txBody>
      </p:sp>
      <p:sp>
        <p:nvSpPr>
          <p:cNvPr id="24" name="Shape 22"/>
          <p:cNvSpPr/>
          <p:nvPr/>
        </p:nvSpPr>
        <p:spPr>
          <a:xfrm>
            <a:off x="137160" y="1005840"/>
            <a:ext cx="8961120" cy="365760"/>
          </a:xfrm>
          <a:prstGeom prst="rect">
            <a:avLst/>
          </a:prstGeom>
          <a:solidFill>
            <a:srgbClr val="21262D"/>
          </a:solidFill>
          <a:ln w="12700">
            <a:solidFill>
              <a:srgbClr val="21262D"/>
            </a:solidFill>
            <a:prstDash val="solid"/>
          </a:ln>
        </p:spPr>
        <p:txBody>
          <a:bodyPr/>
          <a:lstStyle/>
          <a:p>
            <a:endParaRPr lang="es-PA"/>
          </a:p>
        </p:txBody>
      </p:sp>
      <p:sp>
        <p:nvSpPr>
          <p:cNvPr id="25" name="Text 23"/>
          <p:cNvSpPr/>
          <p:nvPr/>
        </p:nvSpPr>
        <p:spPr>
          <a:xfrm>
            <a:off x="137160" y="1024128"/>
            <a:ext cx="228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1</a:t>
            </a:r>
            <a:endParaRPr lang="en-US" sz="800" dirty="0"/>
          </a:p>
        </p:txBody>
      </p:sp>
      <p:sp>
        <p:nvSpPr>
          <p:cNvPr id="26" name="Text 24"/>
          <p:cNvSpPr/>
          <p:nvPr/>
        </p:nvSpPr>
        <p:spPr>
          <a:xfrm>
            <a:off x="365760" y="1024128"/>
            <a:ext cx="210312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panasonic.com/pa</a:t>
            </a:r>
            <a:endParaRPr lang="en-US" sz="800" dirty="0"/>
          </a:p>
        </p:txBody>
      </p:sp>
      <p:sp>
        <p:nvSpPr>
          <p:cNvPr id="27" name="Text 25"/>
          <p:cNvSpPr/>
          <p:nvPr/>
        </p:nvSpPr>
        <p:spPr>
          <a:xfrm>
            <a:off x="2468880" y="1024128"/>
            <a:ext cx="1371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172.232.211.44</a:t>
            </a:r>
            <a:endParaRPr lang="en-US" sz="800" dirty="0"/>
          </a:p>
        </p:txBody>
      </p:sp>
      <p:sp>
        <p:nvSpPr>
          <p:cNvPr id="28" name="Text 26"/>
          <p:cNvSpPr/>
          <p:nvPr/>
        </p:nvSpPr>
        <p:spPr>
          <a:xfrm>
            <a:off x="3840480" y="1024128"/>
            <a:ext cx="822960" cy="329184"/>
          </a:xfrm>
          <a:prstGeom prst="rect">
            <a:avLst/>
          </a:prstGeom>
          <a:noFill/>
          <a:ln/>
        </p:spPr>
        <p:txBody>
          <a:bodyPr wrap="square" rtlCol="0" anchor="ctr"/>
          <a:lstStyle/>
          <a:p>
            <a:pPr marL="0" indent="0" algn="ctr">
              <a:buNone/>
            </a:pPr>
            <a:r>
              <a:rPr lang="en-US" sz="800" b="1" dirty="0">
                <a:solidFill>
                  <a:srgbClr val="F0883E"/>
                </a:solidFill>
                <a:latin typeface="Consolas" pitchFamily="34" charset="0"/>
                <a:ea typeface="Consolas" pitchFamily="34" charset="-122"/>
                <a:cs typeface="Consolas" pitchFamily="34" charset="-120"/>
              </a:rPr>
              <a:t>Medio</a:t>
            </a:r>
            <a:endParaRPr lang="en-US" sz="800" dirty="0"/>
          </a:p>
        </p:txBody>
      </p:sp>
      <p:sp>
        <p:nvSpPr>
          <p:cNvPr id="29" name="Text 27"/>
          <p:cNvSpPr/>
          <p:nvPr/>
        </p:nvSpPr>
        <p:spPr>
          <a:xfrm>
            <a:off x="4663440" y="1024128"/>
            <a:ext cx="548640" cy="329184"/>
          </a:xfrm>
          <a:prstGeom prst="rect">
            <a:avLst/>
          </a:prstGeom>
          <a:noFill/>
          <a:ln/>
        </p:spPr>
        <p:txBody>
          <a:bodyPr wrap="square" rtlCol="0" anchor="ctr"/>
          <a:lstStyle/>
          <a:p>
            <a:pPr marL="0" indent="0" algn="ctr">
              <a:buNone/>
            </a:pPr>
            <a:r>
              <a:rPr lang="en-US" sz="800" dirty="0">
                <a:solidFill>
                  <a:srgbClr val="F0883E"/>
                </a:solidFill>
                <a:latin typeface="Consolas" pitchFamily="34" charset="0"/>
                <a:ea typeface="Consolas" pitchFamily="34" charset="-122"/>
                <a:cs typeface="Consolas" pitchFamily="34" charset="-120"/>
              </a:rPr>
              <a:t>1</a:t>
            </a:r>
            <a:endParaRPr lang="en-US" sz="800" dirty="0"/>
          </a:p>
        </p:txBody>
      </p:sp>
      <p:sp>
        <p:nvSpPr>
          <p:cNvPr id="30" name="Text 28"/>
          <p:cNvSpPr/>
          <p:nvPr/>
        </p:nvSpPr>
        <p:spPr>
          <a:xfrm>
            <a:off x="5212080" y="1024128"/>
            <a:ext cx="5486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1</a:t>
            </a:r>
            <a:endParaRPr lang="en-US" sz="800" dirty="0"/>
          </a:p>
        </p:txBody>
      </p:sp>
      <p:sp>
        <p:nvSpPr>
          <p:cNvPr id="31" name="Text 29"/>
          <p:cNvSpPr/>
          <p:nvPr/>
        </p:nvSpPr>
        <p:spPr>
          <a:xfrm>
            <a:off x="5760720" y="1024128"/>
            <a:ext cx="4572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1</a:t>
            </a:r>
            <a:endParaRPr lang="en-US" sz="800" dirty="0"/>
          </a:p>
        </p:txBody>
      </p:sp>
      <p:sp>
        <p:nvSpPr>
          <p:cNvPr id="32" name="Text 30"/>
          <p:cNvSpPr/>
          <p:nvPr/>
        </p:nvSpPr>
        <p:spPr>
          <a:xfrm>
            <a:off x="6217920" y="1024128"/>
            <a:ext cx="960120" cy="329184"/>
          </a:xfrm>
          <a:prstGeom prst="rect">
            <a:avLst/>
          </a:prstGeom>
          <a:noFill/>
          <a:ln/>
        </p:spPr>
        <p:txBody>
          <a:bodyPr wrap="square" rtlCol="0" anchor="ctr"/>
          <a:lstStyle/>
          <a:p>
            <a:pPr marL="0" indent="0" algn="ctr">
              <a:buNone/>
            </a:pPr>
            <a:r>
              <a:rPr lang="en-US" sz="800" dirty="0">
                <a:solidFill>
                  <a:srgbClr val="39D353"/>
                </a:solidFill>
                <a:latin typeface="Consolas" pitchFamily="34" charset="0"/>
                <a:ea typeface="Consolas" pitchFamily="34" charset="-122"/>
                <a:cs typeface="Consolas" pitchFamily="34" charset="-120"/>
              </a:rPr>
              <a:t>3</a:t>
            </a:r>
            <a:endParaRPr lang="en-US" sz="800" dirty="0"/>
          </a:p>
        </p:txBody>
      </p:sp>
      <p:sp>
        <p:nvSpPr>
          <p:cNvPr id="33" name="Text 31"/>
          <p:cNvSpPr/>
          <p:nvPr/>
        </p:nvSpPr>
        <p:spPr>
          <a:xfrm>
            <a:off x="7178040" y="1024128"/>
            <a:ext cx="10058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50 seg</a:t>
            </a:r>
            <a:endParaRPr lang="en-US" sz="800" dirty="0"/>
          </a:p>
        </p:txBody>
      </p:sp>
      <p:sp>
        <p:nvSpPr>
          <p:cNvPr id="34" name="Text 32"/>
          <p:cNvSpPr/>
          <p:nvPr/>
        </p:nvSpPr>
        <p:spPr>
          <a:xfrm>
            <a:off x="8183880" y="1024128"/>
            <a:ext cx="9144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80, 8080</a:t>
            </a:r>
            <a:endParaRPr lang="en-US" sz="800" dirty="0"/>
          </a:p>
        </p:txBody>
      </p:sp>
      <p:sp>
        <p:nvSpPr>
          <p:cNvPr id="35" name="Shape 33"/>
          <p:cNvSpPr/>
          <p:nvPr/>
        </p:nvSpPr>
        <p:spPr>
          <a:xfrm>
            <a:off x="137160" y="1389888"/>
            <a:ext cx="8961120" cy="365760"/>
          </a:xfrm>
          <a:prstGeom prst="rect">
            <a:avLst/>
          </a:prstGeom>
          <a:solidFill>
            <a:srgbClr val="161B22"/>
          </a:solidFill>
          <a:ln w="12700">
            <a:solidFill>
              <a:srgbClr val="161B22"/>
            </a:solidFill>
            <a:prstDash val="solid"/>
          </a:ln>
        </p:spPr>
        <p:txBody>
          <a:bodyPr/>
          <a:lstStyle/>
          <a:p>
            <a:endParaRPr lang="es-PA"/>
          </a:p>
        </p:txBody>
      </p:sp>
      <p:sp>
        <p:nvSpPr>
          <p:cNvPr id="36" name="Text 34"/>
          <p:cNvSpPr/>
          <p:nvPr/>
        </p:nvSpPr>
        <p:spPr>
          <a:xfrm>
            <a:off x="137160" y="1408176"/>
            <a:ext cx="228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2</a:t>
            </a:r>
            <a:endParaRPr lang="en-US" sz="800" dirty="0"/>
          </a:p>
        </p:txBody>
      </p:sp>
      <p:sp>
        <p:nvSpPr>
          <p:cNvPr id="37" name="Text 35"/>
          <p:cNvSpPr/>
          <p:nvPr/>
        </p:nvSpPr>
        <p:spPr>
          <a:xfrm>
            <a:off x="365760" y="1408176"/>
            <a:ext cx="210312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panafoto.com</a:t>
            </a:r>
            <a:endParaRPr lang="en-US" sz="800" dirty="0"/>
          </a:p>
        </p:txBody>
      </p:sp>
      <p:sp>
        <p:nvSpPr>
          <p:cNvPr id="38" name="Text 36"/>
          <p:cNvSpPr/>
          <p:nvPr/>
        </p:nvSpPr>
        <p:spPr>
          <a:xfrm>
            <a:off x="2468880" y="1408176"/>
            <a:ext cx="1371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172.232.197.234</a:t>
            </a:r>
            <a:endParaRPr lang="en-US" sz="800" dirty="0"/>
          </a:p>
        </p:txBody>
      </p:sp>
      <p:sp>
        <p:nvSpPr>
          <p:cNvPr id="39" name="Text 37"/>
          <p:cNvSpPr/>
          <p:nvPr/>
        </p:nvSpPr>
        <p:spPr>
          <a:xfrm>
            <a:off x="3840480" y="1408176"/>
            <a:ext cx="822960" cy="329184"/>
          </a:xfrm>
          <a:prstGeom prst="rect">
            <a:avLst/>
          </a:prstGeom>
          <a:noFill/>
          <a:ln/>
        </p:spPr>
        <p:txBody>
          <a:bodyPr wrap="square" rtlCol="0" anchor="ctr"/>
          <a:lstStyle/>
          <a:p>
            <a:pPr marL="0" indent="0" algn="ctr">
              <a:buNone/>
            </a:pPr>
            <a:r>
              <a:rPr lang="en-US" sz="800" b="1" dirty="0">
                <a:solidFill>
                  <a:srgbClr val="00BFFF"/>
                </a:solidFill>
                <a:latin typeface="Consolas" pitchFamily="34" charset="0"/>
                <a:ea typeface="Consolas" pitchFamily="34" charset="-122"/>
                <a:cs typeface="Consolas" pitchFamily="34" charset="-120"/>
              </a:rPr>
              <a:t>Bajo</a:t>
            </a:r>
            <a:endParaRPr lang="en-US" sz="800" dirty="0"/>
          </a:p>
        </p:txBody>
      </p:sp>
      <p:sp>
        <p:nvSpPr>
          <p:cNvPr id="40" name="Text 38"/>
          <p:cNvSpPr/>
          <p:nvPr/>
        </p:nvSpPr>
        <p:spPr>
          <a:xfrm>
            <a:off x="4663440" y="1408176"/>
            <a:ext cx="548640" cy="329184"/>
          </a:xfrm>
          <a:prstGeom prst="rect">
            <a:avLst/>
          </a:prstGeom>
          <a:noFill/>
          <a:ln/>
        </p:spPr>
        <p:txBody>
          <a:bodyPr wrap="square" rtlCol="0" anchor="ctr"/>
          <a:lstStyle/>
          <a:p>
            <a:pPr marL="0" indent="0" algn="ctr">
              <a:buNone/>
            </a:pPr>
            <a:r>
              <a:rPr lang="en-US" sz="800" dirty="0">
                <a:solidFill>
                  <a:srgbClr val="8B949E"/>
                </a:solidFill>
                <a:latin typeface="Consolas" pitchFamily="34" charset="0"/>
                <a:ea typeface="Consolas" pitchFamily="34" charset="-122"/>
                <a:cs typeface="Consolas" pitchFamily="34" charset="-120"/>
              </a:rPr>
              <a:t>0</a:t>
            </a:r>
            <a:endParaRPr lang="en-US" sz="800" dirty="0"/>
          </a:p>
        </p:txBody>
      </p:sp>
      <p:sp>
        <p:nvSpPr>
          <p:cNvPr id="41" name="Text 39"/>
          <p:cNvSpPr/>
          <p:nvPr/>
        </p:nvSpPr>
        <p:spPr>
          <a:xfrm>
            <a:off x="5212080" y="1408176"/>
            <a:ext cx="5486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4</a:t>
            </a:r>
            <a:endParaRPr lang="en-US" sz="800" dirty="0"/>
          </a:p>
        </p:txBody>
      </p:sp>
      <p:sp>
        <p:nvSpPr>
          <p:cNvPr id="42" name="Text 40"/>
          <p:cNvSpPr/>
          <p:nvPr/>
        </p:nvSpPr>
        <p:spPr>
          <a:xfrm>
            <a:off x="5760720" y="1408176"/>
            <a:ext cx="4572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2</a:t>
            </a:r>
            <a:endParaRPr lang="en-US" sz="800" dirty="0"/>
          </a:p>
        </p:txBody>
      </p:sp>
      <p:sp>
        <p:nvSpPr>
          <p:cNvPr id="43" name="Text 41"/>
          <p:cNvSpPr/>
          <p:nvPr/>
        </p:nvSpPr>
        <p:spPr>
          <a:xfrm>
            <a:off x="6217920" y="1408176"/>
            <a:ext cx="960120" cy="329184"/>
          </a:xfrm>
          <a:prstGeom prst="rect">
            <a:avLst/>
          </a:prstGeom>
          <a:noFill/>
          <a:ln/>
        </p:spPr>
        <p:txBody>
          <a:bodyPr wrap="square" rtlCol="0" anchor="ctr"/>
          <a:lstStyle/>
          <a:p>
            <a:pPr marL="0" indent="0" algn="ctr">
              <a:buNone/>
            </a:pPr>
            <a:r>
              <a:rPr lang="en-US" sz="800" dirty="0">
                <a:solidFill>
                  <a:srgbClr val="8B949E"/>
                </a:solidFill>
                <a:latin typeface="Consolas" pitchFamily="34" charset="0"/>
                <a:ea typeface="Consolas" pitchFamily="34" charset="-122"/>
                <a:cs typeface="Consolas" pitchFamily="34" charset="-120"/>
              </a:rPr>
              <a:t>0</a:t>
            </a:r>
            <a:endParaRPr lang="en-US" sz="800" dirty="0"/>
          </a:p>
        </p:txBody>
      </p:sp>
      <p:sp>
        <p:nvSpPr>
          <p:cNvPr id="44" name="Text 42"/>
          <p:cNvSpPr/>
          <p:nvPr/>
        </p:nvSpPr>
        <p:spPr>
          <a:xfrm>
            <a:off x="7178040" y="1408176"/>
            <a:ext cx="10058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3m 15s</a:t>
            </a:r>
            <a:endParaRPr lang="en-US" sz="800" dirty="0"/>
          </a:p>
        </p:txBody>
      </p:sp>
      <p:sp>
        <p:nvSpPr>
          <p:cNvPr id="45" name="Text 43"/>
          <p:cNvSpPr/>
          <p:nvPr/>
        </p:nvSpPr>
        <p:spPr>
          <a:xfrm>
            <a:off x="8183880" y="1408176"/>
            <a:ext cx="9144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80, 8080</a:t>
            </a:r>
            <a:endParaRPr lang="en-US" sz="800" dirty="0"/>
          </a:p>
        </p:txBody>
      </p:sp>
      <p:sp>
        <p:nvSpPr>
          <p:cNvPr id="46" name="Shape 44"/>
          <p:cNvSpPr/>
          <p:nvPr/>
        </p:nvSpPr>
        <p:spPr>
          <a:xfrm>
            <a:off x="137160" y="1773936"/>
            <a:ext cx="8961120" cy="365760"/>
          </a:xfrm>
          <a:prstGeom prst="rect">
            <a:avLst/>
          </a:prstGeom>
          <a:solidFill>
            <a:srgbClr val="21262D"/>
          </a:solidFill>
          <a:ln w="12700">
            <a:solidFill>
              <a:srgbClr val="21262D"/>
            </a:solidFill>
            <a:prstDash val="solid"/>
          </a:ln>
        </p:spPr>
        <p:txBody>
          <a:bodyPr/>
          <a:lstStyle/>
          <a:p>
            <a:endParaRPr lang="es-PA"/>
          </a:p>
        </p:txBody>
      </p:sp>
      <p:sp>
        <p:nvSpPr>
          <p:cNvPr id="47" name="Text 45"/>
          <p:cNvSpPr/>
          <p:nvPr/>
        </p:nvSpPr>
        <p:spPr>
          <a:xfrm>
            <a:off x="137160" y="1792224"/>
            <a:ext cx="228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3</a:t>
            </a:r>
            <a:endParaRPr lang="en-US" sz="800" dirty="0"/>
          </a:p>
        </p:txBody>
      </p:sp>
      <p:sp>
        <p:nvSpPr>
          <p:cNvPr id="48" name="Text 46"/>
          <p:cNvSpPr/>
          <p:nvPr/>
        </p:nvSpPr>
        <p:spPr>
          <a:xfrm>
            <a:off x="365760" y="1792224"/>
            <a:ext cx="210312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titan.com.pa</a:t>
            </a:r>
            <a:endParaRPr lang="en-US" sz="800" dirty="0"/>
          </a:p>
        </p:txBody>
      </p:sp>
      <p:sp>
        <p:nvSpPr>
          <p:cNvPr id="49" name="Text 47"/>
          <p:cNvSpPr/>
          <p:nvPr/>
        </p:nvSpPr>
        <p:spPr>
          <a:xfrm>
            <a:off x="2468880" y="1792224"/>
            <a:ext cx="1371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172.236.25.241</a:t>
            </a:r>
            <a:endParaRPr lang="en-US" sz="800" dirty="0"/>
          </a:p>
        </p:txBody>
      </p:sp>
      <p:sp>
        <p:nvSpPr>
          <p:cNvPr id="50" name="Text 48"/>
          <p:cNvSpPr/>
          <p:nvPr/>
        </p:nvSpPr>
        <p:spPr>
          <a:xfrm>
            <a:off x="3840480" y="1792224"/>
            <a:ext cx="822960" cy="329184"/>
          </a:xfrm>
          <a:prstGeom prst="rect">
            <a:avLst/>
          </a:prstGeom>
          <a:noFill/>
          <a:ln/>
        </p:spPr>
        <p:txBody>
          <a:bodyPr wrap="square" rtlCol="0" anchor="ctr"/>
          <a:lstStyle/>
          <a:p>
            <a:pPr marL="0" indent="0" algn="ctr">
              <a:buNone/>
            </a:pPr>
            <a:r>
              <a:rPr lang="en-US" sz="800" b="1" dirty="0">
                <a:solidFill>
                  <a:srgbClr val="F0883E"/>
                </a:solidFill>
                <a:latin typeface="Consolas" pitchFamily="34" charset="0"/>
                <a:ea typeface="Consolas" pitchFamily="34" charset="-122"/>
                <a:cs typeface="Consolas" pitchFamily="34" charset="-120"/>
              </a:rPr>
              <a:t>Medio</a:t>
            </a:r>
            <a:endParaRPr lang="en-US" sz="800" dirty="0"/>
          </a:p>
        </p:txBody>
      </p:sp>
      <p:sp>
        <p:nvSpPr>
          <p:cNvPr id="51" name="Text 49"/>
          <p:cNvSpPr/>
          <p:nvPr/>
        </p:nvSpPr>
        <p:spPr>
          <a:xfrm>
            <a:off x="4663440" y="1792224"/>
            <a:ext cx="548640" cy="329184"/>
          </a:xfrm>
          <a:prstGeom prst="rect">
            <a:avLst/>
          </a:prstGeom>
          <a:noFill/>
          <a:ln/>
        </p:spPr>
        <p:txBody>
          <a:bodyPr wrap="square" rtlCol="0" anchor="ctr"/>
          <a:lstStyle/>
          <a:p>
            <a:pPr marL="0" indent="0" algn="ctr">
              <a:buNone/>
            </a:pPr>
            <a:r>
              <a:rPr lang="en-US" sz="800" dirty="0">
                <a:solidFill>
                  <a:srgbClr val="F0883E"/>
                </a:solidFill>
                <a:latin typeface="Consolas" pitchFamily="34" charset="0"/>
                <a:ea typeface="Consolas" pitchFamily="34" charset="-122"/>
                <a:cs typeface="Consolas" pitchFamily="34" charset="-120"/>
              </a:rPr>
              <a:t>2</a:t>
            </a:r>
            <a:endParaRPr lang="en-US" sz="800" dirty="0"/>
          </a:p>
        </p:txBody>
      </p:sp>
      <p:sp>
        <p:nvSpPr>
          <p:cNvPr id="52" name="Text 50"/>
          <p:cNvSpPr/>
          <p:nvPr/>
        </p:nvSpPr>
        <p:spPr>
          <a:xfrm>
            <a:off x="5212080" y="1792224"/>
            <a:ext cx="5486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4</a:t>
            </a:r>
            <a:endParaRPr lang="en-US" sz="800" dirty="0"/>
          </a:p>
        </p:txBody>
      </p:sp>
      <p:sp>
        <p:nvSpPr>
          <p:cNvPr id="53" name="Text 51"/>
          <p:cNvSpPr/>
          <p:nvPr/>
        </p:nvSpPr>
        <p:spPr>
          <a:xfrm>
            <a:off x="5760720" y="1792224"/>
            <a:ext cx="4572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2</a:t>
            </a:r>
            <a:endParaRPr lang="en-US" sz="800" dirty="0"/>
          </a:p>
        </p:txBody>
      </p:sp>
      <p:sp>
        <p:nvSpPr>
          <p:cNvPr id="54" name="Text 52"/>
          <p:cNvSpPr/>
          <p:nvPr/>
        </p:nvSpPr>
        <p:spPr>
          <a:xfrm>
            <a:off x="6217920" y="1792224"/>
            <a:ext cx="960120" cy="329184"/>
          </a:xfrm>
          <a:prstGeom prst="rect">
            <a:avLst/>
          </a:prstGeom>
          <a:noFill/>
          <a:ln/>
        </p:spPr>
        <p:txBody>
          <a:bodyPr wrap="square" rtlCol="0" anchor="ctr"/>
          <a:lstStyle/>
          <a:p>
            <a:pPr marL="0" indent="0" algn="ctr">
              <a:buNone/>
            </a:pPr>
            <a:r>
              <a:rPr lang="en-US" sz="800" dirty="0">
                <a:solidFill>
                  <a:srgbClr val="39D353"/>
                </a:solidFill>
                <a:latin typeface="Consolas" pitchFamily="34" charset="0"/>
                <a:ea typeface="Consolas" pitchFamily="34" charset="-122"/>
                <a:cs typeface="Consolas" pitchFamily="34" charset="-120"/>
              </a:rPr>
              <a:t>23</a:t>
            </a:r>
            <a:endParaRPr lang="en-US" sz="800" dirty="0"/>
          </a:p>
        </p:txBody>
      </p:sp>
      <p:sp>
        <p:nvSpPr>
          <p:cNvPr id="55" name="Text 53"/>
          <p:cNvSpPr/>
          <p:nvPr/>
        </p:nvSpPr>
        <p:spPr>
          <a:xfrm>
            <a:off x="7178040" y="1792224"/>
            <a:ext cx="10058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1m 20s</a:t>
            </a:r>
            <a:endParaRPr lang="en-US" sz="800" dirty="0"/>
          </a:p>
        </p:txBody>
      </p:sp>
      <p:sp>
        <p:nvSpPr>
          <p:cNvPr id="56" name="Text 54"/>
          <p:cNvSpPr/>
          <p:nvPr/>
        </p:nvSpPr>
        <p:spPr>
          <a:xfrm>
            <a:off x="8183880" y="1792224"/>
            <a:ext cx="9144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80, 8080</a:t>
            </a:r>
            <a:endParaRPr lang="en-US" sz="800" dirty="0"/>
          </a:p>
        </p:txBody>
      </p:sp>
      <p:sp>
        <p:nvSpPr>
          <p:cNvPr id="57" name="Shape 55"/>
          <p:cNvSpPr/>
          <p:nvPr/>
        </p:nvSpPr>
        <p:spPr>
          <a:xfrm>
            <a:off x="137160" y="2157984"/>
            <a:ext cx="8961120" cy="365760"/>
          </a:xfrm>
          <a:prstGeom prst="rect">
            <a:avLst/>
          </a:prstGeom>
          <a:solidFill>
            <a:srgbClr val="161B22"/>
          </a:solidFill>
          <a:ln w="12700">
            <a:solidFill>
              <a:srgbClr val="161B22"/>
            </a:solidFill>
            <a:prstDash val="solid"/>
          </a:ln>
        </p:spPr>
        <p:txBody>
          <a:bodyPr/>
          <a:lstStyle/>
          <a:p>
            <a:endParaRPr lang="es-PA"/>
          </a:p>
        </p:txBody>
      </p:sp>
      <p:sp>
        <p:nvSpPr>
          <p:cNvPr id="58" name="Text 56"/>
          <p:cNvSpPr/>
          <p:nvPr/>
        </p:nvSpPr>
        <p:spPr>
          <a:xfrm>
            <a:off x="137160" y="2176272"/>
            <a:ext cx="228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4</a:t>
            </a:r>
            <a:endParaRPr lang="en-US" sz="800" dirty="0"/>
          </a:p>
        </p:txBody>
      </p:sp>
      <p:sp>
        <p:nvSpPr>
          <p:cNvPr id="59" name="Text 57"/>
          <p:cNvSpPr/>
          <p:nvPr/>
        </p:nvSpPr>
        <p:spPr>
          <a:xfrm>
            <a:off x="365760" y="2176272"/>
            <a:ext cx="210312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dominospanama.com</a:t>
            </a:r>
            <a:endParaRPr lang="en-US" sz="800" dirty="0"/>
          </a:p>
        </p:txBody>
      </p:sp>
      <p:sp>
        <p:nvSpPr>
          <p:cNvPr id="60" name="Text 58"/>
          <p:cNvSpPr/>
          <p:nvPr/>
        </p:nvSpPr>
        <p:spPr>
          <a:xfrm>
            <a:off x="2468880" y="2176272"/>
            <a:ext cx="1371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172.238.118.X</a:t>
            </a:r>
            <a:endParaRPr lang="en-US" sz="800" dirty="0"/>
          </a:p>
        </p:txBody>
      </p:sp>
      <p:sp>
        <p:nvSpPr>
          <p:cNvPr id="61" name="Text 59"/>
          <p:cNvSpPr/>
          <p:nvPr/>
        </p:nvSpPr>
        <p:spPr>
          <a:xfrm>
            <a:off x="3840480" y="2176272"/>
            <a:ext cx="822960" cy="329184"/>
          </a:xfrm>
          <a:prstGeom prst="rect">
            <a:avLst/>
          </a:prstGeom>
          <a:noFill/>
          <a:ln/>
        </p:spPr>
        <p:txBody>
          <a:bodyPr wrap="square" rtlCol="0" anchor="ctr"/>
          <a:lstStyle/>
          <a:p>
            <a:pPr marL="0" indent="0" algn="ctr">
              <a:buNone/>
            </a:pPr>
            <a:r>
              <a:rPr lang="en-US" sz="800" b="1" dirty="0">
                <a:solidFill>
                  <a:srgbClr val="F0883E"/>
                </a:solidFill>
                <a:latin typeface="Consolas" pitchFamily="34" charset="0"/>
                <a:ea typeface="Consolas" pitchFamily="34" charset="-122"/>
                <a:cs typeface="Consolas" pitchFamily="34" charset="-120"/>
              </a:rPr>
              <a:t>Medio</a:t>
            </a:r>
            <a:endParaRPr lang="en-US" sz="800" dirty="0"/>
          </a:p>
        </p:txBody>
      </p:sp>
      <p:sp>
        <p:nvSpPr>
          <p:cNvPr id="62" name="Text 60"/>
          <p:cNvSpPr/>
          <p:nvPr/>
        </p:nvSpPr>
        <p:spPr>
          <a:xfrm>
            <a:off x="4663440" y="2176272"/>
            <a:ext cx="548640" cy="329184"/>
          </a:xfrm>
          <a:prstGeom prst="rect">
            <a:avLst/>
          </a:prstGeom>
          <a:noFill/>
          <a:ln/>
        </p:spPr>
        <p:txBody>
          <a:bodyPr wrap="square" rtlCol="0" anchor="ctr"/>
          <a:lstStyle/>
          <a:p>
            <a:pPr marL="0" indent="0" algn="ctr">
              <a:buNone/>
            </a:pPr>
            <a:r>
              <a:rPr lang="en-US" sz="800" dirty="0">
                <a:solidFill>
                  <a:srgbClr val="F0883E"/>
                </a:solidFill>
                <a:latin typeface="Consolas" pitchFamily="34" charset="0"/>
                <a:ea typeface="Consolas" pitchFamily="34" charset="-122"/>
                <a:cs typeface="Consolas" pitchFamily="34" charset="-120"/>
              </a:rPr>
              <a:t>1</a:t>
            </a:r>
            <a:endParaRPr lang="en-US" sz="800" dirty="0"/>
          </a:p>
        </p:txBody>
      </p:sp>
      <p:sp>
        <p:nvSpPr>
          <p:cNvPr id="63" name="Text 61"/>
          <p:cNvSpPr/>
          <p:nvPr/>
        </p:nvSpPr>
        <p:spPr>
          <a:xfrm>
            <a:off x="5212080" y="2176272"/>
            <a:ext cx="5486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6</a:t>
            </a:r>
            <a:endParaRPr lang="en-US" sz="800" dirty="0"/>
          </a:p>
        </p:txBody>
      </p:sp>
      <p:sp>
        <p:nvSpPr>
          <p:cNvPr id="64" name="Text 62"/>
          <p:cNvSpPr/>
          <p:nvPr/>
        </p:nvSpPr>
        <p:spPr>
          <a:xfrm>
            <a:off x="5760720" y="2176272"/>
            <a:ext cx="4572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2</a:t>
            </a:r>
            <a:endParaRPr lang="en-US" sz="800" dirty="0"/>
          </a:p>
        </p:txBody>
      </p:sp>
      <p:sp>
        <p:nvSpPr>
          <p:cNvPr id="65" name="Text 63"/>
          <p:cNvSpPr/>
          <p:nvPr/>
        </p:nvSpPr>
        <p:spPr>
          <a:xfrm>
            <a:off x="6217920" y="2176272"/>
            <a:ext cx="960120" cy="329184"/>
          </a:xfrm>
          <a:prstGeom prst="rect">
            <a:avLst/>
          </a:prstGeom>
          <a:noFill/>
          <a:ln/>
        </p:spPr>
        <p:txBody>
          <a:bodyPr wrap="square" rtlCol="0" anchor="ctr"/>
          <a:lstStyle/>
          <a:p>
            <a:pPr marL="0" indent="0" algn="ctr">
              <a:buNone/>
            </a:pPr>
            <a:r>
              <a:rPr lang="en-US" sz="800" dirty="0">
                <a:solidFill>
                  <a:srgbClr val="8B949E"/>
                </a:solidFill>
                <a:latin typeface="Consolas" pitchFamily="34" charset="0"/>
                <a:ea typeface="Consolas" pitchFamily="34" charset="-122"/>
                <a:cs typeface="Consolas" pitchFamily="34" charset="-120"/>
              </a:rPr>
              <a:t>N/A</a:t>
            </a:r>
            <a:endParaRPr lang="en-US" sz="800" dirty="0"/>
          </a:p>
        </p:txBody>
      </p:sp>
      <p:sp>
        <p:nvSpPr>
          <p:cNvPr id="66" name="Text 64"/>
          <p:cNvSpPr/>
          <p:nvPr/>
        </p:nvSpPr>
        <p:spPr>
          <a:xfrm>
            <a:off x="7178040" y="2176272"/>
            <a:ext cx="10058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23 seg</a:t>
            </a:r>
            <a:endParaRPr lang="en-US" sz="800" dirty="0"/>
          </a:p>
        </p:txBody>
      </p:sp>
      <p:sp>
        <p:nvSpPr>
          <p:cNvPr id="67" name="Text 65"/>
          <p:cNvSpPr/>
          <p:nvPr/>
        </p:nvSpPr>
        <p:spPr>
          <a:xfrm>
            <a:off x="8183880" y="2176272"/>
            <a:ext cx="9144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N/A</a:t>
            </a:r>
            <a:endParaRPr lang="en-US" sz="800" dirty="0"/>
          </a:p>
        </p:txBody>
      </p:sp>
      <p:sp>
        <p:nvSpPr>
          <p:cNvPr id="68" name="Shape 66"/>
          <p:cNvSpPr/>
          <p:nvPr/>
        </p:nvSpPr>
        <p:spPr>
          <a:xfrm>
            <a:off x="137160" y="2542032"/>
            <a:ext cx="8961120" cy="365760"/>
          </a:xfrm>
          <a:prstGeom prst="rect">
            <a:avLst/>
          </a:prstGeom>
          <a:solidFill>
            <a:srgbClr val="21262D"/>
          </a:solidFill>
          <a:ln w="12700">
            <a:solidFill>
              <a:srgbClr val="21262D"/>
            </a:solidFill>
            <a:prstDash val="solid"/>
          </a:ln>
        </p:spPr>
        <p:txBody>
          <a:bodyPr/>
          <a:lstStyle/>
          <a:p>
            <a:endParaRPr lang="es-PA"/>
          </a:p>
        </p:txBody>
      </p:sp>
      <p:sp>
        <p:nvSpPr>
          <p:cNvPr id="69" name="Text 67"/>
          <p:cNvSpPr/>
          <p:nvPr/>
        </p:nvSpPr>
        <p:spPr>
          <a:xfrm>
            <a:off x="137160" y="2560320"/>
            <a:ext cx="228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5</a:t>
            </a:r>
            <a:endParaRPr lang="en-US" sz="800" dirty="0"/>
          </a:p>
        </p:txBody>
      </p:sp>
      <p:sp>
        <p:nvSpPr>
          <p:cNvPr id="70" name="Text 68"/>
          <p:cNvSpPr/>
          <p:nvPr/>
        </p:nvSpPr>
        <p:spPr>
          <a:xfrm>
            <a:off x="365760" y="2560320"/>
            <a:ext cx="210312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futbollibretv.su</a:t>
            </a:r>
            <a:endParaRPr lang="en-US" sz="800" dirty="0"/>
          </a:p>
        </p:txBody>
      </p:sp>
      <p:sp>
        <p:nvSpPr>
          <p:cNvPr id="71" name="Text 69"/>
          <p:cNvSpPr/>
          <p:nvPr/>
        </p:nvSpPr>
        <p:spPr>
          <a:xfrm>
            <a:off x="2468880" y="2560320"/>
            <a:ext cx="1371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172.238.118.169</a:t>
            </a:r>
            <a:endParaRPr lang="en-US" sz="800" dirty="0"/>
          </a:p>
        </p:txBody>
      </p:sp>
      <p:sp>
        <p:nvSpPr>
          <p:cNvPr id="72" name="Text 70"/>
          <p:cNvSpPr/>
          <p:nvPr/>
        </p:nvSpPr>
        <p:spPr>
          <a:xfrm>
            <a:off x="3840480" y="2560320"/>
            <a:ext cx="822960" cy="329184"/>
          </a:xfrm>
          <a:prstGeom prst="rect">
            <a:avLst/>
          </a:prstGeom>
          <a:noFill/>
          <a:ln/>
        </p:spPr>
        <p:txBody>
          <a:bodyPr wrap="square" rtlCol="0" anchor="ctr"/>
          <a:lstStyle/>
          <a:p>
            <a:pPr marL="0" indent="0" algn="ctr">
              <a:buNone/>
            </a:pPr>
            <a:r>
              <a:rPr lang="en-US" sz="800" b="1" dirty="0">
                <a:solidFill>
                  <a:srgbClr val="00BFFF"/>
                </a:solidFill>
                <a:latin typeface="Consolas" pitchFamily="34" charset="0"/>
                <a:ea typeface="Consolas" pitchFamily="34" charset="-122"/>
                <a:cs typeface="Consolas" pitchFamily="34" charset="-120"/>
              </a:rPr>
              <a:t>Bajo</a:t>
            </a:r>
            <a:endParaRPr lang="en-US" sz="800" dirty="0"/>
          </a:p>
        </p:txBody>
      </p:sp>
      <p:sp>
        <p:nvSpPr>
          <p:cNvPr id="73" name="Text 71"/>
          <p:cNvSpPr/>
          <p:nvPr/>
        </p:nvSpPr>
        <p:spPr>
          <a:xfrm>
            <a:off x="4663440" y="2560320"/>
            <a:ext cx="548640" cy="329184"/>
          </a:xfrm>
          <a:prstGeom prst="rect">
            <a:avLst/>
          </a:prstGeom>
          <a:noFill/>
          <a:ln/>
        </p:spPr>
        <p:txBody>
          <a:bodyPr wrap="square" rtlCol="0" anchor="ctr"/>
          <a:lstStyle/>
          <a:p>
            <a:pPr marL="0" indent="0" algn="ctr">
              <a:buNone/>
            </a:pPr>
            <a:r>
              <a:rPr lang="en-US" sz="800" dirty="0">
                <a:solidFill>
                  <a:srgbClr val="8B949E"/>
                </a:solidFill>
                <a:latin typeface="Consolas" pitchFamily="34" charset="0"/>
                <a:ea typeface="Consolas" pitchFamily="34" charset="-122"/>
                <a:cs typeface="Consolas" pitchFamily="34" charset="-120"/>
              </a:rPr>
              <a:t>0</a:t>
            </a:r>
            <a:endParaRPr lang="en-US" sz="800" dirty="0"/>
          </a:p>
        </p:txBody>
      </p:sp>
      <p:sp>
        <p:nvSpPr>
          <p:cNvPr id="74" name="Text 72"/>
          <p:cNvSpPr/>
          <p:nvPr/>
        </p:nvSpPr>
        <p:spPr>
          <a:xfrm>
            <a:off x="5212080" y="2560320"/>
            <a:ext cx="5486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6</a:t>
            </a:r>
            <a:endParaRPr lang="en-US" sz="800" dirty="0"/>
          </a:p>
        </p:txBody>
      </p:sp>
      <p:sp>
        <p:nvSpPr>
          <p:cNvPr id="75" name="Text 73"/>
          <p:cNvSpPr/>
          <p:nvPr/>
        </p:nvSpPr>
        <p:spPr>
          <a:xfrm>
            <a:off x="5760720" y="2560320"/>
            <a:ext cx="4572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3</a:t>
            </a:r>
            <a:endParaRPr lang="en-US" sz="800" dirty="0"/>
          </a:p>
        </p:txBody>
      </p:sp>
      <p:sp>
        <p:nvSpPr>
          <p:cNvPr id="76" name="Text 74"/>
          <p:cNvSpPr/>
          <p:nvPr/>
        </p:nvSpPr>
        <p:spPr>
          <a:xfrm>
            <a:off x="6217920" y="2560320"/>
            <a:ext cx="960120" cy="329184"/>
          </a:xfrm>
          <a:prstGeom prst="rect">
            <a:avLst/>
          </a:prstGeom>
          <a:noFill/>
          <a:ln/>
        </p:spPr>
        <p:txBody>
          <a:bodyPr wrap="square" rtlCol="0" anchor="ctr"/>
          <a:lstStyle/>
          <a:p>
            <a:pPr marL="0" indent="0" algn="ctr">
              <a:buNone/>
            </a:pPr>
            <a:r>
              <a:rPr lang="en-US" sz="800" dirty="0">
                <a:solidFill>
                  <a:srgbClr val="8B949E"/>
                </a:solidFill>
                <a:latin typeface="Consolas" pitchFamily="34" charset="0"/>
                <a:ea typeface="Consolas" pitchFamily="34" charset="-122"/>
                <a:cs typeface="Consolas" pitchFamily="34" charset="-120"/>
              </a:rPr>
              <a:t>N/A</a:t>
            </a:r>
            <a:endParaRPr lang="en-US" sz="800" dirty="0"/>
          </a:p>
        </p:txBody>
      </p:sp>
      <p:sp>
        <p:nvSpPr>
          <p:cNvPr id="77" name="Text 75"/>
          <p:cNvSpPr/>
          <p:nvPr/>
        </p:nvSpPr>
        <p:spPr>
          <a:xfrm>
            <a:off x="7178040" y="2560320"/>
            <a:ext cx="10058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35 seg</a:t>
            </a:r>
            <a:endParaRPr lang="en-US" sz="800" dirty="0"/>
          </a:p>
        </p:txBody>
      </p:sp>
      <p:sp>
        <p:nvSpPr>
          <p:cNvPr id="78" name="Text 76"/>
          <p:cNvSpPr/>
          <p:nvPr/>
        </p:nvSpPr>
        <p:spPr>
          <a:xfrm>
            <a:off x="8183880" y="2560320"/>
            <a:ext cx="9144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N/A</a:t>
            </a:r>
            <a:endParaRPr lang="en-US" sz="800" dirty="0"/>
          </a:p>
        </p:txBody>
      </p:sp>
      <p:sp>
        <p:nvSpPr>
          <p:cNvPr id="79" name="Shape 77"/>
          <p:cNvSpPr/>
          <p:nvPr/>
        </p:nvSpPr>
        <p:spPr>
          <a:xfrm>
            <a:off x="137160" y="2926080"/>
            <a:ext cx="8961120" cy="365760"/>
          </a:xfrm>
          <a:prstGeom prst="rect">
            <a:avLst/>
          </a:prstGeom>
          <a:solidFill>
            <a:srgbClr val="161B22"/>
          </a:solidFill>
          <a:ln w="12700">
            <a:solidFill>
              <a:srgbClr val="161B22"/>
            </a:solidFill>
            <a:prstDash val="solid"/>
          </a:ln>
        </p:spPr>
        <p:txBody>
          <a:bodyPr/>
          <a:lstStyle/>
          <a:p>
            <a:endParaRPr lang="es-PA"/>
          </a:p>
        </p:txBody>
      </p:sp>
      <p:sp>
        <p:nvSpPr>
          <p:cNvPr id="80" name="Text 78"/>
          <p:cNvSpPr/>
          <p:nvPr/>
        </p:nvSpPr>
        <p:spPr>
          <a:xfrm>
            <a:off x="137160" y="2944368"/>
            <a:ext cx="228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6</a:t>
            </a:r>
            <a:endParaRPr lang="en-US" sz="800" dirty="0"/>
          </a:p>
        </p:txBody>
      </p:sp>
      <p:sp>
        <p:nvSpPr>
          <p:cNvPr id="81" name="Text 79"/>
          <p:cNvSpPr/>
          <p:nvPr/>
        </p:nvSpPr>
        <p:spPr>
          <a:xfrm>
            <a:off x="365760" y="2944368"/>
            <a:ext cx="210312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elcampeon.com.pa</a:t>
            </a:r>
            <a:endParaRPr lang="en-US" sz="800" dirty="0"/>
          </a:p>
        </p:txBody>
      </p:sp>
      <p:sp>
        <p:nvSpPr>
          <p:cNvPr id="82" name="Text 80"/>
          <p:cNvSpPr/>
          <p:nvPr/>
        </p:nvSpPr>
        <p:spPr>
          <a:xfrm>
            <a:off x="2468880" y="2944368"/>
            <a:ext cx="1371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172.236.25.85</a:t>
            </a:r>
            <a:endParaRPr lang="en-US" sz="800" dirty="0"/>
          </a:p>
        </p:txBody>
      </p:sp>
      <p:sp>
        <p:nvSpPr>
          <p:cNvPr id="83" name="Text 81"/>
          <p:cNvSpPr/>
          <p:nvPr/>
        </p:nvSpPr>
        <p:spPr>
          <a:xfrm>
            <a:off x="3840480" y="2944368"/>
            <a:ext cx="822960" cy="329184"/>
          </a:xfrm>
          <a:prstGeom prst="rect">
            <a:avLst/>
          </a:prstGeom>
          <a:noFill/>
          <a:ln/>
        </p:spPr>
        <p:txBody>
          <a:bodyPr wrap="square" rtlCol="0" anchor="ctr"/>
          <a:lstStyle/>
          <a:p>
            <a:pPr marL="0" indent="0" algn="ctr">
              <a:buNone/>
            </a:pPr>
            <a:r>
              <a:rPr lang="en-US" sz="800" b="1" dirty="0">
                <a:solidFill>
                  <a:srgbClr val="00BFFF"/>
                </a:solidFill>
                <a:latin typeface="Consolas" pitchFamily="34" charset="0"/>
                <a:ea typeface="Consolas" pitchFamily="34" charset="-122"/>
                <a:cs typeface="Consolas" pitchFamily="34" charset="-120"/>
              </a:rPr>
              <a:t>Bajo</a:t>
            </a:r>
            <a:endParaRPr lang="en-US" sz="800" dirty="0"/>
          </a:p>
        </p:txBody>
      </p:sp>
      <p:sp>
        <p:nvSpPr>
          <p:cNvPr id="84" name="Text 82"/>
          <p:cNvSpPr/>
          <p:nvPr/>
        </p:nvSpPr>
        <p:spPr>
          <a:xfrm>
            <a:off x="4663440" y="2944368"/>
            <a:ext cx="548640" cy="329184"/>
          </a:xfrm>
          <a:prstGeom prst="rect">
            <a:avLst/>
          </a:prstGeom>
          <a:noFill/>
          <a:ln/>
        </p:spPr>
        <p:txBody>
          <a:bodyPr wrap="square" rtlCol="0" anchor="ctr"/>
          <a:lstStyle/>
          <a:p>
            <a:pPr marL="0" indent="0" algn="ctr">
              <a:buNone/>
            </a:pPr>
            <a:r>
              <a:rPr lang="en-US" sz="800" dirty="0">
                <a:solidFill>
                  <a:srgbClr val="8B949E"/>
                </a:solidFill>
                <a:latin typeface="Consolas" pitchFamily="34" charset="0"/>
                <a:ea typeface="Consolas" pitchFamily="34" charset="-122"/>
                <a:cs typeface="Consolas" pitchFamily="34" charset="-120"/>
              </a:rPr>
              <a:t>0</a:t>
            </a:r>
            <a:endParaRPr lang="en-US" sz="800" dirty="0"/>
          </a:p>
        </p:txBody>
      </p:sp>
      <p:sp>
        <p:nvSpPr>
          <p:cNvPr id="85" name="Text 83"/>
          <p:cNvSpPr/>
          <p:nvPr/>
        </p:nvSpPr>
        <p:spPr>
          <a:xfrm>
            <a:off x="5212080" y="2944368"/>
            <a:ext cx="5486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4</a:t>
            </a:r>
            <a:endParaRPr lang="en-US" sz="800" dirty="0"/>
          </a:p>
        </p:txBody>
      </p:sp>
      <p:sp>
        <p:nvSpPr>
          <p:cNvPr id="86" name="Text 84"/>
          <p:cNvSpPr/>
          <p:nvPr/>
        </p:nvSpPr>
        <p:spPr>
          <a:xfrm>
            <a:off x="5760720" y="2944368"/>
            <a:ext cx="4572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1</a:t>
            </a:r>
            <a:endParaRPr lang="en-US" sz="800" dirty="0"/>
          </a:p>
        </p:txBody>
      </p:sp>
      <p:sp>
        <p:nvSpPr>
          <p:cNvPr id="87" name="Text 85"/>
          <p:cNvSpPr/>
          <p:nvPr/>
        </p:nvSpPr>
        <p:spPr>
          <a:xfrm>
            <a:off x="6217920" y="2944368"/>
            <a:ext cx="960120" cy="329184"/>
          </a:xfrm>
          <a:prstGeom prst="rect">
            <a:avLst/>
          </a:prstGeom>
          <a:noFill/>
          <a:ln/>
        </p:spPr>
        <p:txBody>
          <a:bodyPr wrap="square" rtlCol="0" anchor="ctr"/>
          <a:lstStyle/>
          <a:p>
            <a:pPr marL="0" indent="0" algn="ctr">
              <a:buNone/>
            </a:pPr>
            <a:r>
              <a:rPr lang="en-US" sz="800" dirty="0">
                <a:solidFill>
                  <a:srgbClr val="8B949E"/>
                </a:solidFill>
                <a:latin typeface="Consolas" pitchFamily="34" charset="0"/>
                <a:ea typeface="Consolas" pitchFamily="34" charset="-122"/>
                <a:cs typeface="Consolas" pitchFamily="34" charset="-120"/>
              </a:rPr>
              <a:t>N/A</a:t>
            </a:r>
            <a:endParaRPr lang="en-US" sz="800" dirty="0"/>
          </a:p>
        </p:txBody>
      </p:sp>
      <p:sp>
        <p:nvSpPr>
          <p:cNvPr id="88" name="Text 86"/>
          <p:cNvSpPr/>
          <p:nvPr/>
        </p:nvSpPr>
        <p:spPr>
          <a:xfrm>
            <a:off x="7178040" y="2944368"/>
            <a:ext cx="10058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52 seg</a:t>
            </a:r>
            <a:endParaRPr lang="en-US" sz="800" dirty="0"/>
          </a:p>
        </p:txBody>
      </p:sp>
      <p:sp>
        <p:nvSpPr>
          <p:cNvPr id="89" name="Text 87"/>
          <p:cNvSpPr/>
          <p:nvPr/>
        </p:nvSpPr>
        <p:spPr>
          <a:xfrm>
            <a:off x="8183880" y="2944368"/>
            <a:ext cx="9144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N/A</a:t>
            </a:r>
            <a:endParaRPr lang="en-US" sz="800" dirty="0"/>
          </a:p>
        </p:txBody>
      </p:sp>
      <p:sp>
        <p:nvSpPr>
          <p:cNvPr id="90" name="Shape 88"/>
          <p:cNvSpPr/>
          <p:nvPr/>
        </p:nvSpPr>
        <p:spPr>
          <a:xfrm>
            <a:off x="137160" y="3310128"/>
            <a:ext cx="8961120" cy="365760"/>
          </a:xfrm>
          <a:prstGeom prst="rect">
            <a:avLst/>
          </a:prstGeom>
          <a:solidFill>
            <a:srgbClr val="21262D"/>
          </a:solidFill>
          <a:ln w="12700">
            <a:solidFill>
              <a:srgbClr val="21262D"/>
            </a:solidFill>
            <a:prstDash val="solid"/>
          </a:ln>
        </p:spPr>
        <p:txBody>
          <a:bodyPr/>
          <a:lstStyle/>
          <a:p>
            <a:endParaRPr lang="es-PA"/>
          </a:p>
        </p:txBody>
      </p:sp>
      <p:sp>
        <p:nvSpPr>
          <p:cNvPr id="91" name="Text 89"/>
          <p:cNvSpPr/>
          <p:nvPr/>
        </p:nvSpPr>
        <p:spPr>
          <a:xfrm>
            <a:off x="137160" y="3328416"/>
            <a:ext cx="228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7</a:t>
            </a:r>
            <a:endParaRPr lang="en-US" sz="800" dirty="0"/>
          </a:p>
        </p:txBody>
      </p:sp>
      <p:sp>
        <p:nvSpPr>
          <p:cNvPr id="92" name="Text 90"/>
          <p:cNvSpPr/>
          <p:nvPr/>
        </p:nvSpPr>
        <p:spPr>
          <a:xfrm>
            <a:off x="365760" y="3328416"/>
            <a:ext cx="210312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elmachetazo.com</a:t>
            </a:r>
            <a:endParaRPr lang="en-US" sz="800" dirty="0"/>
          </a:p>
        </p:txBody>
      </p:sp>
      <p:sp>
        <p:nvSpPr>
          <p:cNvPr id="93" name="Text 91"/>
          <p:cNvSpPr/>
          <p:nvPr/>
        </p:nvSpPr>
        <p:spPr>
          <a:xfrm>
            <a:off x="2468880" y="3328416"/>
            <a:ext cx="1371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172.238.118.169</a:t>
            </a:r>
            <a:endParaRPr lang="en-US" sz="800" dirty="0"/>
          </a:p>
        </p:txBody>
      </p:sp>
      <p:sp>
        <p:nvSpPr>
          <p:cNvPr id="94" name="Text 92"/>
          <p:cNvSpPr/>
          <p:nvPr/>
        </p:nvSpPr>
        <p:spPr>
          <a:xfrm>
            <a:off x="3840480" y="3328416"/>
            <a:ext cx="822960" cy="329184"/>
          </a:xfrm>
          <a:prstGeom prst="rect">
            <a:avLst/>
          </a:prstGeom>
          <a:noFill/>
          <a:ln/>
        </p:spPr>
        <p:txBody>
          <a:bodyPr wrap="square" rtlCol="0" anchor="ctr"/>
          <a:lstStyle/>
          <a:p>
            <a:pPr marL="0" indent="0" algn="ctr">
              <a:buNone/>
            </a:pPr>
            <a:r>
              <a:rPr lang="en-US" sz="800" b="1" dirty="0">
                <a:solidFill>
                  <a:srgbClr val="00BFFF"/>
                </a:solidFill>
                <a:latin typeface="Consolas" pitchFamily="34" charset="0"/>
                <a:ea typeface="Consolas" pitchFamily="34" charset="-122"/>
                <a:cs typeface="Consolas" pitchFamily="34" charset="-120"/>
              </a:rPr>
              <a:t>Bajo</a:t>
            </a:r>
            <a:endParaRPr lang="en-US" sz="800" dirty="0"/>
          </a:p>
        </p:txBody>
      </p:sp>
      <p:sp>
        <p:nvSpPr>
          <p:cNvPr id="95" name="Text 93"/>
          <p:cNvSpPr/>
          <p:nvPr/>
        </p:nvSpPr>
        <p:spPr>
          <a:xfrm>
            <a:off x="4663440" y="3328416"/>
            <a:ext cx="548640" cy="329184"/>
          </a:xfrm>
          <a:prstGeom prst="rect">
            <a:avLst/>
          </a:prstGeom>
          <a:noFill/>
          <a:ln/>
        </p:spPr>
        <p:txBody>
          <a:bodyPr wrap="square" rtlCol="0" anchor="ctr"/>
          <a:lstStyle/>
          <a:p>
            <a:pPr marL="0" indent="0" algn="ctr">
              <a:buNone/>
            </a:pPr>
            <a:r>
              <a:rPr lang="en-US" sz="800" dirty="0">
                <a:solidFill>
                  <a:srgbClr val="8B949E"/>
                </a:solidFill>
                <a:latin typeface="Consolas" pitchFamily="34" charset="0"/>
                <a:ea typeface="Consolas" pitchFamily="34" charset="-122"/>
                <a:cs typeface="Consolas" pitchFamily="34" charset="-120"/>
              </a:rPr>
              <a:t>0</a:t>
            </a:r>
            <a:endParaRPr lang="en-US" sz="800" dirty="0"/>
          </a:p>
        </p:txBody>
      </p:sp>
      <p:sp>
        <p:nvSpPr>
          <p:cNvPr id="96" name="Text 94"/>
          <p:cNvSpPr/>
          <p:nvPr/>
        </p:nvSpPr>
        <p:spPr>
          <a:xfrm>
            <a:off x="5212080" y="3328416"/>
            <a:ext cx="5486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6</a:t>
            </a:r>
            <a:endParaRPr lang="en-US" sz="800" dirty="0"/>
          </a:p>
        </p:txBody>
      </p:sp>
      <p:sp>
        <p:nvSpPr>
          <p:cNvPr id="97" name="Text 95"/>
          <p:cNvSpPr/>
          <p:nvPr/>
        </p:nvSpPr>
        <p:spPr>
          <a:xfrm>
            <a:off x="5760720" y="3328416"/>
            <a:ext cx="4572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2</a:t>
            </a:r>
            <a:endParaRPr lang="en-US" sz="800" dirty="0"/>
          </a:p>
        </p:txBody>
      </p:sp>
      <p:sp>
        <p:nvSpPr>
          <p:cNvPr id="98" name="Text 96"/>
          <p:cNvSpPr/>
          <p:nvPr/>
        </p:nvSpPr>
        <p:spPr>
          <a:xfrm>
            <a:off x="6217920" y="3328416"/>
            <a:ext cx="960120" cy="329184"/>
          </a:xfrm>
          <a:prstGeom prst="rect">
            <a:avLst/>
          </a:prstGeom>
          <a:noFill/>
          <a:ln/>
        </p:spPr>
        <p:txBody>
          <a:bodyPr wrap="square" rtlCol="0" anchor="ctr"/>
          <a:lstStyle/>
          <a:p>
            <a:pPr marL="0" indent="0" algn="ctr">
              <a:buNone/>
            </a:pPr>
            <a:r>
              <a:rPr lang="en-US" sz="800" dirty="0">
                <a:solidFill>
                  <a:srgbClr val="8B949E"/>
                </a:solidFill>
                <a:latin typeface="Consolas" pitchFamily="34" charset="0"/>
                <a:ea typeface="Consolas" pitchFamily="34" charset="-122"/>
                <a:cs typeface="Consolas" pitchFamily="34" charset="-120"/>
              </a:rPr>
              <a:t>N/A</a:t>
            </a:r>
            <a:endParaRPr lang="en-US" sz="800" dirty="0"/>
          </a:p>
        </p:txBody>
      </p:sp>
      <p:sp>
        <p:nvSpPr>
          <p:cNvPr id="99" name="Text 97"/>
          <p:cNvSpPr/>
          <p:nvPr/>
        </p:nvSpPr>
        <p:spPr>
          <a:xfrm>
            <a:off x="7178040" y="3328416"/>
            <a:ext cx="10058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1m 23s</a:t>
            </a:r>
            <a:endParaRPr lang="en-US" sz="800" dirty="0"/>
          </a:p>
        </p:txBody>
      </p:sp>
      <p:sp>
        <p:nvSpPr>
          <p:cNvPr id="100" name="Text 98"/>
          <p:cNvSpPr/>
          <p:nvPr/>
        </p:nvSpPr>
        <p:spPr>
          <a:xfrm>
            <a:off x="8183880" y="3328416"/>
            <a:ext cx="9144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N/A</a:t>
            </a:r>
            <a:endParaRPr lang="en-US" sz="800" dirty="0"/>
          </a:p>
        </p:txBody>
      </p:sp>
      <p:sp>
        <p:nvSpPr>
          <p:cNvPr id="101" name="Shape 99"/>
          <p:cNvSpPr/>
          <p:nvPr/>
        </p:nvSpPr>
        <p:spPr>
          <a:xfrm>
            <a:off x="137160" y="3694176"/>
            <a:ext cx="8961120" cy="365760"/>
          </a:xfrm>
          <a:prstGeom prst="rect">
            <a:avLst/>
          </a:prstGeom>
          <a:solidFill>
            <a:srgbClr val="161B22"/>
          </a:solidFill>
          <a:ln w="12700">
            <a:solidFill>
              <a:srgbClr val="161B22"/>
            </a:solidFill>
            <a:prstDash val="solid"/>
          </a:ln>
        </p:spPr>
        <p:txBody>
          <a:bodyPr/>
          <a:lstStyle/>
          <a:p>
            <a:endParaRPr lang="es-PA"/>
          </a:p>
        </p:txBody>
      </p:sp>
      <p:sp>
        <p:nvSpPr>
          <p:cNvPr id="102" name="Text 100"/>
          <p:cNvSpPr/>
          <p:nvPr/>
        </p:nvSpPr>
        <p:spPr>
          <a:xfrm>
            <a:off x="137160" y="3712464"/>
            <a:ext cx="228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8</a:t>
            </a:r>
            <a:endParaRPr lang="en-US" sz="800" dirty="0"/>
          </a:p>
        </p:txBody>
      </p:sp>
      <p:sp>
        <p:nvSpPr>
          <p:cNvPr id="103" name="Text 101"/>
          <p:cNvSpPr/>
          <p:nvPr/>
        </p:nvSpPr>
        <p:spPr>
          <a:xfrm>
            <a:off x="365760" y="3712464"/>
            <a:ext cx="210312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doitcenter.com.pa</a:t>
            </a:r>
            <a:endParaRPr lang="en-US" sz="800" dirty="0"/>
          </a:p>
        </p:txBody>
      </p:sp>
      <p:sp>
        <p:nvSpPr>
          <p:cNvPr id="104" name="Text 102"/>
          <p:cNvSpPr/>
          <p:nvPr/>
        </p:nvSpPr>
        <p:spPr>
          <a:xfrm>
            <a:off x="2468880" y="3712464"/>
            <a:ext cx="1371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172.236.X.X</a:t>
            </a:r>
            <a:endParaRPr lang="en-US" sz="800" dirty="0"/>
          </a:p>
        </p:txBody>
      </p:sp>
      <p:sp>
        <p:nvSpPr>
          <p:cNvPr id="105" name="Text 103"/>
          <p:cNvSpPr/>
          <p:nvPr/>
        </p:nvSpPr>
        <p:spPr>
          <a:xfrm>
            <a:off x="3840480" y="3712464"/>
            <a:ext cx="822960" cy="329184"/>
          </a:xfrm>
          <a:prstGeom prst="rect">
            <a:avLst/>
          </a:prstGeom>
          <a:noFill/>
          <a:ln/>
        </p:spPr>
        <p:txBody>
          <a:bodyPr wrap="square" rtlCol="0" anchor="ctr"/>
          <a:lstStyle/>
          <a:p>
            <a:pPr marL="0" indent="0" algn="ctr">
              <a:buNone/>
            </a:pPr>
            <a:r>
              <a:rPr lang="en-US" sz="800" b="1" dirty="0">
                <a:solidFill>
                  <a:srgbClr val="F0883E"/>
                </a:solidFill>
                <a:latin typeface="Consolas" pitchFamily="34" charset="0"/>
                <a:ea typeface="Consolas" pitchFamily="34" charset="-122"/>
                <a:cs typeface="Consolas" pitchFamily="34" charset="-120"/>
              </a:rPr>
              <a:t>Medio</a:t>
            </a:r>
            <a:endParaRPr lang="en-US" sz="800" dirty="0"/>
          </a:p>
        </p:txBody>
      </p:sp>
      <p:sp>
        <p:nvSpPr>
          <p:cNvPr id="106" name="Text 104"/>
          <p:cNvSpPr/>
          <p:nvPr/>
        </p:nvSpPr>
        <p:spPr>
          <a:xfrm>
            <a:off x="4663440" y="3712464"/>
            <a:ext cx="548640" cy="329184"/>
          </a:xfrm>
          <a:prstGeom prst="rect">
            <a:avLst/>
          </a:prstGeom>
          <a:noFill/>
          <a:ln/>
        </p:spPr>
        <p:txBody>
          <a:bodyPr wrap="square" rtlCol="0" anchor="ctr"/>
          <a:lstStyle/>
          <a:p>
            <a:pPr marL="0" indent="0" algn="ctr">
              <a:buNone/>
            </a:pPr>
            <a:r>
              <a:rPr lang="en-US" sz="800" dirty="0">
                <a:solidFill>
                  <a:srgbClr val="F0883E"/>
                </a:solidFill>
                <a:latin typeface="Consolas" pitchFamily="34" charset="0"/>
                <a:ea typeface="Consolas" pitchFamily="34" charset="-122"/>
                <a:cs typeface="Consolas" pitchFamily="34" charset="-120"/>
              </a:rPr>
              <a:t>1</a:t>
            </a:r>
            <a:endParaRPr lang="en-US" sz="800" dirty="0"/>
          </a:p>
        </p:txBody>
      </p:sp>
      <p:sp>
        <p:nvSpPr>
          <p:cNvPr id="107" name="Text 105"/>
          <p:cNvSpPr/>
          <p:nvPr/>
        </p:nvSpPr>
        <p:spPr>
          <a:xfrm>
            <a:off x="5212080" y="3712464"/>
            <a:ext cx="5486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4</a:t>
            </a:r>
            <a:endParaRPr lang="en-US" sz="800" dirty="0"/>
          </a:p>
        </p:txBody>
      </p:sp>
      <p:sp>
        <p:nvSpPr>
          <p:cNvPr id="108" name="Text 106"/>
          <p:cNvSpPr/>
          <p:nvPr/>
        </p:nvSpPr>
        <p:spPr>
          <a:xfrm>
            <a:off x="5760720" y="3712464"/>
            <a:ext cx="4572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2</a:t>
            </a:r>
            <a:endParaRPr lang="en-US" sz="800" dirty="0"/>
          </a:p>
        </p:txBody>
      </p:sp>
      <p:sp>
        <p:nvSpPr>
          <p:cNvPr id="109" name="Text 107"/>
          <p:cNvSpPr/>
          <p:nvPr/>
        </p:nvSpPr>
        <p:spPr>
          <a:xfrm>
            <a:off x="6217920" y="3712464"/>
            <a:ext cx="960120" cy="329184"/>
          </a:xfrm>
          <a:prstGeom prst="rect">
            <a:avLst/>
          </a:prstGeom>
          <a:noFill/>
          <a:ln/>
        </p:spPr>
        <p:txBody>
          <a:bodyPr wrap="square" rtlCol="0" anchor="ctr"/>
          <a:lstStyle/>
          <a:p>
            <a:pPr marL="0" indent="0" algn="ctr">
              <a:buNone/>
            </a:pPr>
            <a:r>
              <a:rPr lang="en-US" sz="800" dirty="0">
                <a:solidFill>
                  <a:srgbClr val="8B949E"/>
                </a:solidFill>
                <a:latin typeface="Consolas" pitchFamily="34" charset="0"/>
                <a:ea typeface="Consolas" pitchFamily="34" charset="-122"/>
                <a:cs typeface="Consolas" pitchFamily="34" charset="-120"/>
              </a:rPr>
              <a:t>N/A</a:t>
            </a:r>
            <a:endParaRPr lang="en-US" sz="800" dirty="0"/>
          </a:p>
        </p:txBody>
      </p:sp>
      <p:sp>
        <p:nvSpPr>
          <p:cNvPr id="110" name="Text 108"/>
          <p:cNvSpPr/>
          <p:nvPr/>
        </p:nvSpPr>
        <p:spPr>
          <a:xfrm>
            <a:off x="7178040" y="3712464"/>
            <a:ext cx="10058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48 seg</a:t>
            </a:r>
            <a:endParaRPr lang="en-US" sz="800" dirty="0"/>
          </a:p>
        </p:txBody>
      </p:sp>
      <p:sp>
        <p:nvSpPr>
          <p:cNvPr id="111" name="Text 109"/>
          <p:cNvSpPr/>
          <p:nvPr/>
        </p:nvSpPr>
        <p:spPr>
          <a:xfrm>
            <a:off x="8183880" y="3712464"/>
            <a:ext cx="9144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N/A</a:t>
            </a:r>
            <a:endParaRPr lang="en-US" sz="800" dirty="0"/>
          </a:p>
        </p:txBody>
      </p:sp>
      <p:sp>
        <p:nvSpPr>
          <p:cNvPr id="112" name="Shape 110"/>
          <p:cNvSpPr/>
          <p:nvPr/>
        </p:nvSpPr>
        <p:spPr>
          <a:xfrm>
            <a:off x="137160" y="4078224"/>
            <a:ext cx="8961120" cy="365760"/>
          </a:xfrm>
          <a:prstGeom prst="rect">
            <a:avLst/>
          </a:prstGeom>
          <a:solidFill>
            <a:srgbClr val="21262D"/>
          </a:solidFill>
          <a:ln w="12700">
            <a:solidFill>
              <a:srgbClr val="21262D"/>
            </a:solidFill>
            <a:prstDash val="solid"/>
          </a:ln>
        </p:spPr>
        <p:txBody>
          <a:bodyPr/>
          <a:lstStyle/>
          <a:p>
            <a:endParaRPr lang="es-PA"/>
          </a:p>
        </p:txBody>
      </p:sp>
      <p:sp>
        <p:nvSpPr>
          <p:cNvPr id="113" name="Text 111"/>
          <p:cNvSpPr/>
          <p:nvPr/>
        </p:nvSpPr>
        <p:spPr>
          <a:xfrm>
            <a:off x="137160" y="4096512"/>
            <a:ext cx="228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9</a:t>
            </a:r>
            <a:endParaRPr lang="en-US" sz="800" dirty="0"/>
          </a:p>
        </p:txBody>
      </p:sp>
      <p:sp>
        <p:nvSpPr>
          <p:cNvPr id="114" name="Text 112"/>
          <p:cNvSpPr/>
          <p:nvPr/>
        </p:nvSpPr>
        <p:spPr>
          <a:xfrm>
            <a:off x="365760" y="4096512"/>
            <a:ext cx="210312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arrocha.com</a:t>
            </a:r>
            <a:endParaRPr lang="en-US" sz="800" dirty="0"/>
          </a:p>
        </p:txBody>
      </p:sp>
      <p:sp>
        <p:nvSpPr>
          <p:cNvPr id="115" name="Text 113"/>
          <p:cNvSpPr/>
          <p:nvPr/>
        </p:nvSpPr>
        <p:spPr>
          <a:xfrm>
            <a:off x="2468880" y="4096512"/>
            <a:ext cx="1371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N/A</a:t>
            </a:r>
            <a:endParaRPr lang="en-US" sz="800" dirty="0"/>
          </a:p>
        </p:txBody>
      </p:sp>
      <p:sp>
        <p:nvSpPr>
          <p:cNvPr id="116" name="Text 114"/>
          <p:cNvSpPr/>
          <p:nvPr/>
        </p:nvSpPr>
        <p:spPr>
          <a:xfrm>
            <a:off x="3840480" y="4096512"/>
            <a:ext cx="822960" cy="329184"/>
          </a:xfrm>
          <a:prstGeom prst="rect">
            <a:avLst/>
          </a:prstGeom>
          <a:noFill/>
          <a:ln/>
        </p:spPr>
        <p:txBody>
          <a:bodyPr wrap="square" rtlCol="0" anchor="ctr"/>
          <a:lstStyle/>
          <a:p>
            <a:pPr marL="0" indent="0" algn="ctr">
              <a:buNone/>
            </a:pPr>
            <a:r>
              <a:rPr lang="en-US" sz="800" b="1" dirty="0">
                <a:solidFill>
                  <a:srgbClr val="F0883E"/>
                </a:solidFill>
                <a:latin typeface="Consolas" pitchFamily="34" charset="0"/>
                <a:ea typeface="Consolas" pitchFamily="34" charset="-122"/>
                <a:cs typeface="Consolas" pitchFamily="34" charset="-120"/>
              </a:rPr>
              <a:t>Medio</a:t>
            </a:r>
            <a:endParaRPr lang="en-US" sz="800" dirty="0"/>
          </a:p>
        </p:txBody>
      </p:sp>
      <p:sp>
        <p:nvSpPr>
          <p:cNvPr id="117" name="Text 115"/>
          <p:cNvSpPr/>
          <p:nvPr/>
        </p:nvSpPr>
        <p:spPr>
          <a:xfrm>
            <a:off x="4663440" y="4096512"/>
            <a:ext cx="548640" cy="329184"/>
          </a:xfrm>
          <a:prstGeom prst="rect">
            <a:avLst/>
          </a:prstGeom>
          <a:noFill/>
          <a:ln/>
        </p:spPr>
        <p:txBody>
          <a:bodyPr wrap="square" rtlCol="0" anchor="ctr"/>
          <a:lstStyle/>
          <a:p>
            <a:pPr marL="0" indent="0" algn="ctr">
              <a:buNone/>
            </a:pPr>
            <a:r>
              <a:rPr lang="en-US" sz="800" dirty="0">
                <a:solidFill>
                  <a:srgbClr val="F0883E"/>
                </a:solidFill>
                <a:latin typeface="Consolas" pitchFamily="34" charset="0"/>
                <a:ea typeface="Consolas" pitchFamily="34" charset="-122"/>
                <a:cs typeface="Consolas" pitchFamily="34" charset="-120"/>
              </a:rPr>
              <a:t>2</a:t>
            </a:r>
            <a:endParaRPr lang="en-US" sz="800" dirty="0"/>
          </a:p>
        </p:txBody>
      </p:sp>
      <p:sp>
        <p:nvSpPr>
          <p:cNvPr id="118" name="Text 116"/>
          <p:cNvSpPr/>
          <p:nvPr/>
        </p:nvSpPr>
        <p:spPr>
          <a:xfrm>
            <a:off x="5212080" y="4096512"/>
            <a:ext cx="5486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4</a:t>
            </a:r>
            <a:endParaRPr lang="en-US" sz="800" dirty="0"/>
          </a:p>
        </p:txBody>
      </p:sp>
      <p:sp>
        <p:nvSpPr>
          <p:cNvPr id="119" name="Text 117"/>
          <p:cNvSpPr/>
          <p:nvPr/>
        </p:nvSpPr>
        <p:spPr>
          <a:xfrm>
            <a:off x="5760720" y="4096512"/>
            <a:ext cx="4572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2</a:t>
            </a:r>
            <a:endParaRPr lang="en-US" sz="800" dirty="0"/>
          </a:p>
        </p:txBody>
      </p:sp>
      <p:sp>
        <p:nvSpPr>
          <p:cNvPr id="120" name="Text 118"/>
          <p:cNvSpPr/>
          <p:nvPr/>
        </p:nvSpPr>
        <p:spPr>
          <a:xfrm>
            <a:off x="6217920" y="4096512"/>
            <a:ext cx="960120" cy="329184"/>
          </a:xfrm>
          <a:prstGeom prst="rect">
            <a:avLst/>
          </a:prstGeom>
          <a:noFill/>
          <a:ln/>
        </p:spPr>
        <p:txBody>
          <a:bodyPr wrap="square" rtlCol="0" anchor="ctr"/>
          <a:lstStyle/>
          <a:p>
            <a:pPr marL="0" indent="0" algn="ctr">
              <a:buNone/>
            </a:pPr>
            <a:r>
              <a:rPr lang="en-US" sz="800" dirty="0">
                <a:solidFill>
                  <a:srgbClr val="8B949E"/>
                </a:solidFill>
                <a:latin typeface="Consolas" pitchFamily="34" charset="0"/>
                <a:ea typeface="Consolas" pitchFamily="34" charset="-122"/>
                <a:cs typeface="Consolas" pitchFamily="34" charset="-120"/>
              </a:rPr>
              <a:t>N/A</a:t>
            </a:r>
            <a:endParaRPr lang="en-US" sz="800" dirty="0"/>
          </a:p>
        </p:txBody>
      </p:sp>
      <p:sp>
        <p:nvSpPr>
          <p:cNvPr id="121" name="Text 119"/>
          <p:cNvSpPr/>
          <p:nvPr/>
        </p:nvSpPr>
        <p:spPr>
          <a:xfrm>
            <a:off x="7178040" y="4096512"/>
            <a:ext cx="10058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59 seg</a:t>
            </a:r>
            <a:endParaRPr lang="en-US" sz="800" dirty="0"/>
          </a:p>
        </p:txBody>
      </p:sp>
      <p:sp>
        <p:nvSpPr>
          <p:cNvPr id="122" name="Text 120"/>
          <p:cNvSpPr/>
          <p:nvPr/>
        </p:nvSpPr>
        <p:spPr>
          <a:xfrm>
            <a:off x="8183880" y="4096512"/>
            <a:ext cx="9144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N/A</a:t>
            </a:r>
            <a:endParaRPr lang="en-US" sz="800" dirty="0"/>
          </a:p>
        </p:txBody>
      </p:sp>
      <p:sp>
        <p:nvSpPr>
          <p:cNvPr id="123" name="Shape 121"/>
          <p:cNvSpPr/>
          <p:nvPr/>
        </p:nvSpPr>
        <p:spPr>
          <a:xfrm>
            <a:off x="137160" y="4462272"/>
            <a:ext cx="8961120" cy="365760"/>
          </a:xfrm>
          <a:prstGeom prst="rect">
            <a:avLst/>
          </a:prstGeom>
          <a:solidFill>
            <a:srgbClr val="161B22"/>
          </a:solidFill>
          <a:ln w="12700">
            <a:solidFill>
              <a:srgbClr val="161B22"/>
            </a:solidFill>
            <a:prstDash val="solid"/>
          </a:ln>
        </p:spPr>
        <p:txBody>
          <a:bodyPr/>
          <a:lstStyle/>
          <a:p>
            <a:endParaRPr lang="es-PA"/>
          </a:p>
        </p:txBody>
      </p:sp>
      <p:sp>
        <p:nvSpPr>
          <p:cNvPr id="124" name="Text 122"/>
          <p:cNvSpPr/>
          <p:nvPr/>
        </p:nvSpPr>
        <p:spPr>
          <a:xfrm>
            <a:off x="137160" y="4480560"/>
            <a:ext cx="228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10</a:t>
            </a:r>
            <a:endParaRPr lang="en-US" sz="800" dirty="0"/>
          </a:p>
        </p:txBody>
      </p:sp>
      <p:sp>
        <p:nvSpPr>
          <p:cNvPr id="125" name="Text 123"/>
          <p:cNvSpPr/>
          <p:nvPr/>
        </p:nvSpPr>
        <p:spPr>
          <a:xfrm>
            <a:off x="365760" y="4480560"/>
            <a:ext cx="210312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grupomelo.com</a:t>
            </a:r>
            <a:endParaRPr lang="en-US" sz="800" dirty="0"/>
          </a:p>
        </p:txBody>
      </p:sp>
      <p:sp>
        <p:nvSpPr>
          <p:cNvPr id="126" name="Text 124"/>
          <p:cNvSpPr/>
          <p:nvPr/>
        </p:nvSpPr>
        <p:spPr>
          <a:xfrm>
            <a:off x="2468880" y="4480560"/>
            <a:ext cx="13716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N/A</a:t>
            </a:r>
            <a:endParaRPr lang="en-US" sz="800" dirty="0"/>
          </a:p>
        </p:txBody>
      </p:sp>
      <p:sp>
        <p:nvSpPr>
          <p:cNvPr id="127" name="Text 125"/>
          <p:cNvSpPr/>
          <p:nvPr/>
        </p:nvSpPr>
        <p:spPr>
          <a:xfrm>
            <a:off x="3840480" y="4480560"/>
            <a:ext cx="822960" cy="329184"/>
          </a:xfrm>
          <a:prstGeom prst="rect">
            <a:avLst/>
          </a:prstGeom>
          <a:noFill/>
          <a:ln/>
        </p:spPr>
        <p:txBody>
          <a:bodyPr wrap="square" rtlCol="0" anchor="ctr"/>
          <a:lstStyle/>
          <a:p>
            <a:pPr marL="0" indent="0" algn="ctr">
              <a:buNone/>
            </a:pPr>
            <a:r>
              <a:rPr lang="en-US" sz="800" b="1" dirty="0">
                <a:solidFill>
                  <a:srgbClr val="F0883E"/>
                </a:solidFill>
                <a:latin typeface="Consolas" pitchFamily="34" charset="0"/>
                <a:ea typeface="Consolas" pitchFamily="34" charset="-122"/>
                <a:cs typeface="Consolas" pitchFamily="34" charset="-120"/>
              </a:rPr>
              <a:t>Medio</a:t>
            </a:r>
            <a:endParaRPr lang="en-US" sz="800" dirty="0"/>
          </a:p>
        </p:txBody>
      </p:sp>
      <p:sp>
        <p:nvSpPr>
          <p:cNvPr id="128" name="Text 126"/>
          <p:cNvSpPr/>
          <p:nvPr/>
        </p:nvSpPr>
        <p:spPr>
          <a:xfrm>
            <a:off x="4663440" y="4480560"/>
            <a:ext cx="548640" cy="329184"/>
          </a:xfrm>
          <a:prstGeom prst="rect">
            <a:avLst/>
          </a:prstGeom>
          <a:noFill/>
          <a:ln/>
        </p:spPr>
        <p:txBody>
          <a:bodyPr wrap="square" rtlCol="0" anchor="ctr"/>
          <a:lstStyle/>
          <a:p>
            <a:pPr marL="0" indent="0" algn="ctr">
              <a:buNone/>
            </a:pPr>
            <a:r>
              <a:rPr lang="en-US" sz="800" dirty="0">
                <a:solidFill>
                  <a:srgbClr val="F0883E"/>
                </a:solidFill>
                <a:latin typeface="Consolas" pitchFamily="34" charset="0"/>
                <a:ea typeface="Consolas" pitchFamily="34" charset="-122"/>
                <a:cs typeface="Consolas" pitchFamily="34" charset="-120"/>
              </a:rPr>
              <a:t>2</a:t>
            </a:r>
            <a:endParaRPr lang="en-US" sz="800" dirty="0"/>
          </a:p>
        </p:txBody>
      </p:sp>
      <p:sp>
        <p:nvSpPr>
          <p:cNvPr id="129" name="Text 127"/>
          <p:cNvSpPr/>
          <p:nvPr/>
        </p:nvSpPr>
        <p:spPr>
          <a:xfrm>
            <a:off x="5212080" y="4480560"/>
            <a:ext cx="5486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4</a:t>
            </a:r>
            <a:endParaRPr lang="en-US" sz="800" dirty="0"/>
          </a:p>
        </p:txBody>
      </p:sp>
      <p:sp>
        <p:nvSpPr>
          <p:cNvPr id="130" name="Text 128"/>
          <p:cNvSpPr/>
          <p:nvPr/>
        </p:nvSpPr>
        <p:spPr>
          <a:xfrm>
            <a:off x="5760720" y="4480560"/>
            <a:ext cx="4572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2</a:t>
            </a:r>
            <a:endParaRPr lang="en-US" sz="800" dirty="0"/>
          </a:p>
        </p:txBody>
      </p:sp>
      <p:sp>
        <p:nvSpPr>
          <p:cNvPr id="131" name="Text 129"/>
          <p:cNvSpPr/>
          <p:nvPr/>
        </p:nvSpPr>
        <p:spPr>
          <a:xfrm>
            <a:off x="6217920" y="4480560"/>
            <a:ext cx="960120" cy="329184"/>
          </a:xfrm>
          <a:prstGeom prst="rect">
            <a:avLst/>
          </a:prstGeom>
          <a:noFill/>
          <a:ln/>
        </p:spPr>
        <p:txBody>
          <a:bodyPr wrap="square" rtlCol="0" anchor="ctr"/>
          <a:lstStyle/>
          <a:p>
            <a:pPr marL="0" indent="0" algn="ctr">
              <a:buNone/>
            </a:pPr>
            <a:r>
              <a:rPr lang="en-US" sz="800" dirty="0">
                <a:solidFill>
                  <a:srgbClr val="8B949E"/>
                </a:solidFill>
                <a:latin typeface="Consolas" pitchFamily="34" charset="0"/>
                <a:ea typeface="Consolas" pitchFamily="34" charset="-122"/>
                <a:cs typeface="Consolas" pitchFamily="34" charset="-120"/>
              </a:rPr>
              <a:t>N/A</a:t>
            </a:r>
            <a:endParaRPr lang="en-US" sz="800" dirty="0"/>
          </a:p>
        </p:txBody>
      </p:sp>
      <p:sp>
        <p:nvSpPr>
          <p:cNvPr id="132" name="Text 130"/>
          <p:cNvSpPr/>
          <p:nvPr/>
        </p:nvSpPr>
        <p:spPr>
          <a:xfrm>
            <a:off x="7178040" y="4480560"/>
            <a:ext cx="100584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33 seg</a:t>
            </a:r>
            <a:endParaRPr lang="en-US" sz="800" dirty="0"/>
          </a:p>
        </p:txBody>
      </p:sp>
      <p:sp>
        <p:nvSpPr>
          <p:cNvPr id="133" name="Text 131"/>
          <p:cNvSpPr/>
          <p:nvPr/>
        </p:nvSpPr>
        <p:spPr>
          <a:xfrm>
            <a:off x="8183880" y="4480560"/>
            <a:ext cx="914400" cy="329184"/>
          </a:xfrm>
          <a:prstGeom prst="rect">
            <a:avLst/>
          </a:prstGeom>
          <a:noFill/>
          <a:ln/>
        </p:spPr>
        <p:txBody>
          <a:bodyPr wrap="square" rtlCol="0" anchor="ctr"/>
          <a:lstStyle/>
          <a:p>
            <a:pPr marL="0" indent="0" algn="ctr">
              <a:buNone/>
            </a:pPr>
            <a:r>
              <a:rPr lang="en-US" sz="800" dirty="0">
                <a:solidFill>
                  <a:srgbClr val="F0F6FC"/>
                </a:solidFill>
                <a:latin typeface="Consolas" pitchFamily="34" charset="0"/>
                <a:ea typeface="Consolas" pitchFamily="34" charset="-122"/>
                <a:cs typeface="Consolas" pitchFamily="34" charset="-120"/>
              </a:rPr>
              <a:t>N/A</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FFF"/>
          </a:solidFill>
          <a:ln w="12700">
            <a:solidFill>
              <a:srgbClr val="00BFFF"/>
            </a:solidFill>
            <a:prstDash val="solid"/>
          </a:ln>
        </p:spPr>
        <p:txBody>
          <a:bodyPr/>
          <a:lstStyle/>
          <a:p>
            <a:endParaRPr lang="es-PA"/>
          </a:p>
        </p:txBody>
      </p:sp>
      <p:sp>
        <p:nvSpPr>
          <p:cNvPr id="3" name="Text 1"/>
          <p:cNvSpPr/>
          <p:nvPr/>
        </p:nvSpPr>
        <p:spPr>
          <a:xfrm>
            <a:off x="365760" y="109728"/>
            <a:ext cx="8229600" cy="548640"/>
          </a:xfrm>
          <a:prstGeom prst="rect">
            <a:avLst/>
          </a:prstGeom>
          <a:noFill/>
          <a:ln/>
        </p:spPr>
        <p:txBody>
          <a:bodyPr wrap="square" rtlCol="0" anchor="ctr"/>
          <a:lstStyle/>
          <a:p>
            <a:pPr marL="0" indent="0">
              <a:buNone/>
            </a:pPr>
            <a:r>
              <a:rPr lang="en-US" sz="2800" b="1" dirty="0">
                <a:solidFill>
                  <a:srgbClr val="F0F6FC"/>
                </a:solidFill>
                <a:latin typeface="Consolas" pitchFamily="34" charset="0"/>
                <a:ea typeface="Consolas" pitchFamily="34" charset="-122"/>
                <a:cs typeface="Consolas" pitchFamily="34" charset="-120"/>
              </a:rPr>
              <a:t>Conclusiones del Análisis</a:t>
            </a:r>
            <a:endParaRPr lang="en-US" sz="2800" dirty="0"/>
          </a:p>
        </p:txBody>
      </p:sp>
      <p:sp>
        <p:nvSpPr>
          <p:cNvPr id="4" name="Shape 2"/>
          <p:cNvSpPr/>
          <p:nvPr/>
        </p:nvSpPr>
        <p:spPr>
          <a:xfrm>
            <a:off x="365760" y="731520"/>
            <a:ext cx="8412480" cy="36576"/>
          </a:xfrm>
          <a:prstGeom prst="rect">
            <a:avLst/>
          </a:prstGeom>
          <a:solidFill>
            <a:srgbClr val="00BFFF"/>
          </a:solidFill>
          <a:ln w="12700">
            <a:solidFill>
              <a:srgbClr val="00BFFF"/>
            </a:solidFill>
            <a:prstDash val="solid"/>
          </a:ln>
        </p:spPr>
        <p:txBody>
          <a:bodyPr/>
          <a:lstStyle/>
          <a:p>
            <a:endParaRPr lang="es-PA"/>
          </a:p>
        </p:txBody>
      </p:sp>
      <p:sp>
        <p:nvSpPr>
          <p:cNvPr id="5" name="Text 3"/>
          <p:cNvSpPr/>
          <p:nvPr/>
        </p:nvSpPr>
        <p:spPr>
          <a:xfrm>
            <a:off x="274320" y="914400"/>
            <a:ext cx="457200" cy="4572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6" name="Shape 4"/>
          <p:cNvSpPr/>
          <p:nvPr/>
        </p:nvSpPr>
        <p:spPr>
          <a:xfrm>
            <a:off x="777240" y="960120"/>
            <a:ext cx="54864" cy="502920"/>
          </a:xfrm>
          <a:prstGeom prst="rect">
            <a:avLst/>
          </a:prstGeom>
          <a:solidFill>
            <a:srgbClr val="39D353"/>
          </a:solidFill>
          <a:ln w="12700">
            <a:solidFill>
              <a:srgbClr val="39D353"/>
            </a:solidFill>
            <a:prstDash val="solid"/>
          </a:ln>
        </p:spPr>
        <p:txBody>
          <a:bodyPr/>
          <a:lstStyle/>
          <a:p>
            <a:endParaRPr lang="es-PA"/>
          </a:p>
        </p:txBody>
      </p:sp>
      <p:sp>
        <p:nvSpPr>
          <p:cNvPr id="7" name="Text 5"/>
          <p:cNvSpPr/>
          <p:nvPr/>
        </p:nvSpPr>
        <p:spPr>
          <a:xfrm>
            <a:off x="914400" y="896112"/>
            <a:ext cx="7955280" cy="274320"/>
          </a:xfrm>
          <a:prstGeom prst="rect">
            <a:avLst/>
          </a:prstGeom>
          <a:noFill/>
          <a:ln/>
        </p:spPr>
        <p:txBody>
          <a:bodyPr wrap="square" rtlCol="0" anchor="ctr"/>
          <a:lstStyle/>
          <a:p>
            <a:pPr marL="0" indent="0">
              <a:buNone/>
            </a:pPr>
            <a:r>
              <a:rPr lang="en-US" sz="1200" b="1" dirty="0">
                <a:solidFill>
                  <a:srgbClr val="39D353"/>
                </a:solidFill>
                <a:latin typeface="Consolas" pitchFamily="34" charset="0"/>
                <a:ea typeface="Consolas" pitchFamily="34" charset="-122"/>
                <a:cs typeface="Consolas" pitchFamily="34" charset="-120"/>
              </a:rPr>
              <a:t>Ningún dominio con riesgo Crítico o Alto</a:t>
            </a:r>
            <a:endParaRPr lang="en-US" sz="1200" dirty="0"/>
          </a:p>
        </p:txBody>
      </p:sp>
      <p:sp>
        <p:nvSpPr>
          <p:cNvPr id="8" name="Text 6"/>
          <p:cNvSpPr/>
          <p:nvPr/>
        </p:nvSpPr>
        <p:spPr>
          <a:xfrm>
            <a:off x="914400" y="1188720"/>
            <a:ext cx="7955280" cy="411480"/>
          </a:xfrm>
          <a:prstGeom prst="rect">
            <a:avLst/>
          </a:prstGeom>
          <a:noFill/>
          <a:ln/>
        </p:spPr>
        <p:txBody>
          <a:bodyPr wrap="square" rtlCol="0" anchor="ctr"/>
          <a:lstStyle/>
          <a:p>
            <a:pPr marL="0" indent="0">
              <a:buNone/>
            </a:pPr>
            <a:r>
              <a:rPr lang="en-US" sz="1050" dirty="0">
                <a:solidFill>
                  <a:srgbClr val="F0F6FC"/>
                </a:solidFill>
                <a:latin typeface="Calibri" pitchFamily="34" charset="0"/>
                <a:ea typeface="Calibri" pitchFamily="34" charset="-122"/>
                <a:cs typeface="Calibri" pitchFamily="34" charset="-120"/>
              </a:rPr>
              <a:t>Los 10 dominios escaneados presentaron únicamente vulnerabilidades de nivel Medio, Bajo e Informativo. Esto sugiere un nivel de seguridad básico razonable, aunque existen mejoras pendientes.</a:t>
            </a:r>
            <a:endParaRPr lang="en-US" sz="1050" dirty="0"/>
          </a:p>
        </p:txBody>
      </p:sp>
      <p:sp>
        <p:nvSpPr>
          <p:cNvPr id="9" name="Text 7"/>
          <p:cNvSpPr/>
          <p:nvPr/>
        </p:nvSpPr>
        <p:spPr>
          <a:xfrm>
            <a:off x="274320" y="1755648"/>
            <a:ext cx="457200" cy="4572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0" name="Shape 8"/>
          <p:cNvSpPr/>
          <p:nvPr/>
        </p:nvSpPr>
        <p:spPr>
          <a:xfrm>
            <a:off x="777240" y="1801368"/>
            <a:ext cx="54864" cy="502920"/>
          </a:xfrm>
          <a:prstGeom prst="rect">
            <a:avLst/>
          </a:prstGeom>
          <a:solidFill>
            <a:srgbClr val="F0883E"/>
          </a:solidFill>
          <a:ln w="12700">
            <a:solidFill>
              <a:srgbClr val="F0883E"/>
            </a:solidFill>
            <a:prstDash val="solid"/>
          </a:ln>
        </p:spPr>
        <p:txBody>
          <a:bodyPr/>
          <a:lstStyle/>
          <a:p>
            <a:endParaRPr lang="es-PA"/>
          </a:p>
        </p:txBody>
      </p:sp>
      <p:sp>
        <p:nvSpPr>
          <p:cNvPr id="11" name="Text 9"/>
          <p:cNvSpPr/>
          <p:nvPr/>
        </p:nvSpPr>
        <p:spPr>
          <a:xfrm>
            <a:off x="914400" y="1737360"/>
            <a:ext cx="7955280" cy="274320"/>
          </a:xfrm>
          <a:prstGeom prst="rect">
            <a:avLst/>
          </a:prstGeom>
          <a:noFill/>
          <a:ln/>
        </p:spPr>
        <p:txBody>
          <a:bodyPr wrap="square" rtlCol="0" anchor="ctr"/>
          <a:lstStyle/>
          <a:p>
            <a:pPr marL="0" indent="0">
              <a:buNone/>
            </a:pPr>
            <a:r>
              <a:rPr lang="en-US" sz="1200" b="1" dirty="0">
                <a:solidFill>
                  <a:srgbClr val="F0883E"/>
                </a:solidFill>
                <a:latin typeface="Consolas" pitchFamily="34" charset="0"/>
                <a:ea typeface="Consolas" pitchFamily="34" charset="-122"/>
                <a:cs typeface="Consolas" pitchFamily="34" charset="-120"/>
              </a:rPr>
              <a:t>Infraestructura compartida en Linode (Akamai)</a:t>
            </a:r>
            <a:endParaRPr lang="en-US" sz="1200" dirty="0"/>
          </a:p>
        </p:txBody>
      </p:sp>
      <p:sp>
        <p:nvSpPr>
          <p:cNvPr id="12" name="Text 10"/>
          <p:cNvSpPr/>
          <p:nvPr/>
        </p:nvSpPr>
        <p:spPr>
          <a:xfrm>
            <a:off x="914400" y="2029968"/>
            <a:ext cx="7955280" cy="411480"/>
          </a:xfrm>
          <a:prstGeom prst="rect">
            <a:avLst/>
          </a:prstGeom>
          <a:noFill/>
          <a:ln/>
        </p:spPr>
        <p:txBody>
          <a:bodyPr wrap="square" rtlCol="0" anchor="ctr"/>
          <a:lstStyle/>
          <a:p>
            <a:pPr marL="0" indent="0">
              <a:buNone/>
            </a:pPr>
            <a:r>
              <a:rPr lang="en-US" sz="1050" dirty="0">
                <a:solidFill>
                  <a:srgbClr val="F0F6FC"/>
                </a:solidFill>
                <a:latin typeface="Calibri" pitchFamily="34" charset="0"/>
                <a:ea typeface="Calibri" pitchFamily="34" charset="-122"/>
                <a:cs typeface="Calibri" pitchFamily="34" charset="-120"/>
              </a:rPr>
              <a:t>La mayoría de dominios resuelven IPs en el rango 172.232.x.x – 172.238.x.x, correspondientes a Linode/Akamai. Esto indica que comparten proveedor de hosting, lo que puede significar vulnerabilidades comunes.</a:t>
            </a:r>
            <a:endParaRPr lang="en-US" sz="1050" dirty="0"/>
          </a:p>
        </p:txBody>
      </p:sp>
      <p:sp>
        <p:nvSpPr>
          <p:cNvPr id="13" name="Text 11"/>
          <p:cNvSpPr/>
          <p:nvPr/>
        </p:nvSpPr>
        <p:spPr>
          <a:xfrm>
            <a:off x="274320" y="2596896"/>
            <a:ext cx="457200" cy="4572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4" name="Shape 12"/>
          <p:cNvSpPr/>
          <p:nvPr/>
        </p:nvSpPr>
        <p:spPr>
          <a:xfrm>
            <a:off x="777240" y="2642616"/>
            <a:ext cx="54864" cy="502920"/>
          </a:xfrm>
          <a:prstGeom prst="rect">
            <a:avLst/>
          </a:prstGeom>
          <a:solidFill>
            <a:srgbClr val="FF6B6B"/>
          </a:solidFill>
          <a:ln w="12700">
            <a:solidFill>
              <a:srgbClr val="FF6B6B"/>
            </a:solidFill>
            <a:prstDash val="solid"/>
          </a:ln>
        </p:spPr>
        <p:txBody>
          <a:bodyPr/>
          <a:lstStyle/>
          <a:p>
            <a:endParaRPr lang="es-PA"/>
          </a:p>
        </p:txBody>
      </p:sp>
      <p:sp>
        <p:nvSpPr>
          <p:cNvPr id="15" name="Text 13"/>
          <p:cNvSpPr/>
          <p:nvPr/>
        </p:nvSpPr>
        <p:spPr>
          <a:xfrm>
            <a:off x="914400" y="2578608"/>
            <a:ext cx="7955280" cy="274320"/>
          </a:xfrm>
          <a:prstGeom prst="rect">
            <a:avLst/>
          </a:prstGeom>
          <a:noFill/>
          <a:ln/>
        </p:spPr>
        <p:txBody>
          <a:bodyPr wrap="square" rtlCol="0" anchor="ctr"/>
          <a:lstStyle/>
          <a:p>
            <a:pPr marL="0" indent="0">
              <a:buNone/>
            </a:pPr>
            <a:r>
              <a:rPr lang="en-US" sz="1200" b="1" dirty="0">
                <a:solidFill>
                  <a:srgbClr val="FF6B6B"/>
                </a:solidFill>
                <a:latin typeface="Consolas" pitchFamily="34" charset="0"/>
                <a:ea typeface="Consolas" pitchFamily="34" charset="-122"/>
                <a:cs typeface="Consolas" pitchFamily="34" charset="-120"/>
              </a:rPr>
              <a:t>Titan destaca con 23 subdominios</a:t>
            </a:r>
            <a:endParaRPr lang="en-US" sz="1200" dirty="0"/>
          </a:p>
        </p:txBody>
      </p:sp>
      <p:sp>
        <p:nvSpPr>
          <p:cNvPr id="16" name="Text 14"/>
          <p:cNvSpPr/>
          <p:nvPr/>
        </p:nvSpPr>
        <p:spPr>
          <a:xfrm>
            <a:off x="914400" y="2871216"/>
            <a:ext cx="7955280" cy="411480"/>
          </a:xfrm>
          <a:prstGeom prst="rect">
            <a:avLst/>
          </a:prstGeom>
          <a:noFill/>
          <a:ln/>
        </p:spPr>
        <p:txBody>
          <a:bodyPr wrap="square" rtlCol="0" anchor="ctr"/>
          <a:lstStyle/>
          <a:p>
            <a:pPr marL="0" indent="0">
              <a:buNone/>
            </a:pPr>
            <a:r>
              <a:rPr lang="en-US" sz="1050" dirty="0">
                <a:solidFill>
                  <a:srgbClr val="F0F6FC"/>
                </a:solidFill>
                <a:latin typeface="Calibri" pitchFamily="34" charset="0"/>
                <a:ea typeface="Calibri" pitchFamily="34" charset="-122"/>
                <a:cs typeface="Calibri" pitchFamily="34" charset="-120"/>
              </a:rPr>
              <a:t>Titan.com.pa fue el dominio con mayor superficie de ataque al exponer 23 subdominios, incluyendo pamserver y jenkins, servicios internos que no deberían ser accesibles públicamente.</a:t>
            </a:r>
            <a:endParaRPr lang="en-US" sz="1050" dirty="0"/>
          </a:p>
        </p:txBody>
      </p:sp>
      <p:sp>
        <p:nvSpPr>
          <p:cNvPr id="17" name="Text 15"/>
          <p:cNvSpPr/>
          <p:nvPr/>
        </p:nvSpPr>
        <p:spPr>
          <a:xfrm>
            <a:off x="274320" y="3438144"/>
            <a:ext cx="457200" cy="4572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8" name="Shape 16"/>
          <p:cNvSpPr/>
          <p:nvPr/>
        </p:nvSpPr>
        <p:spPr>
          <a:xfrm>
            <a:off x="777240" y="3483864"/>
            <a:ext cx="54864" cy="502920"/>
          </a:xfrm>
          <a:prstGeom prst="rect">
            <a:avLst/>
          </a:prstGeom>
          <a:solidFill>
            <a:srgbClr val="00BFFF"/>
          </a:solidFill>
          <a:ln w="12700">
            <a:solidFill>
              <a:srgbClr val="00BFFF"/>
            </a:solidFill>
            <a:prstDash val="solid"/>
          </a:ln>
        </p:spPr>
        <p:txBody>
          <a:bodyPr/>
          <a:lstStyle/>
          <a:p>
            <a:endParaRPr lang="es-PA"/>
          </a:p>
        </p:txBody>
      </p:sp>
      <p:sp>
        <p:nvSpPr>
          <p:cNvPr id="19" name="Text 17"/>
          <p:cNvSpPr/>
          <p:nvPr/>
        </p:nvSpPr>
        <p:spPr>
          <a:xfrm>
            <a:off x="914400" y="3419856"/>
            <a:ext cx="7955280" cy="274320"/>
          </a:xfrm>
          <a:prstGeom prst="rect">
            <a:avLst/>
          </a:prstGeom>
          <a:noFill/>
          <a:ln/>
        </p:spPr>
        <p:txBody>
          <a:bodyPr wrap="square" rtlCol="0" anchor="ctr"/>
          <a:lstStyle/>
          <a:p>
            <a:pPr marL="0" indent="0">
              <a:buNone/>
            </a:pPr>
            <a:r>
              <a:rPr lang="en-US" sz="1200" b="1" dirty="0">
                <a:solidFill>
                  <a:srgbClr val="00BFFF"/>
                </a:solidFill>
                <a:latin typeface="Consolas" pitchFamily="34" charset="0"/>
                <a:ea typeface="Consolas" pitchFamily="34" charset="-122"/>
                <a:cs typeface="Consolas" pitchFamily="34" charset="-120"/>
              </a:rPr>
              <a:t>Puertos 80 y 8080 predominantes</a:t>
            </a:r>
            <a:endParaRPr lang="en-US" sz="1200" dirty="0"/>
          </a:p>
        </p:txBody>
      </p:sp>
      <p:sp>
        <p:nvSpPr>
          <p:cNvPr id="20" name="Text 18"/>
          <p:cNvSpPr/>
          <p:nvPr/>
        </p:nvSpPr>
        <p:spPr>
          <a:xfrm>
            <a:off x="914400" y="3712464"/>
            <a:ext cx="7955280" cy="411480"/>
          </a:xfrm>
          <a:prstGeom prst="rect">
            <a:avLst/>
          </a:prstGeom>
          <a:noFill/>
          <a:ln/>
        </p:spPr>
        <p:txBody>
          <a:bodyPr wrap="square" rtlCol="0" anchor="ctr"/>
          <a:lstStyle/>
          <a:p>
            <a:pPr marL="0" indent="0">
              <a:buNone/>
            </a:pPr>
            <a:r>
              <a:rPr lang="en-US" sz="1050" dirty="0">
                <a:solidFill>
                  <a:srgbClr val="F0F6FC"/>
                </a:solidFill>
                <a:latin typeface="Calibri" pitchFamily="34" charset="0"/>
                <a:ea typeface="Calibri" pitchFamily="34" charset="-122"/>
                <a:cs typeface="Calibri" pitchFamily="34" charset="-120"/>
              </a:rPr>
              <a:t>Los dominios con escaneo Nmap completo mostraron consistentemente los puertos 80 (HTTP) y 8080 (HTTP alternativo) como únicos abiertos, lo que limita la superficie de ataque a nivel de red.</a:t>
            </a:r>
            <a:endParaRPr lang="en-US" sz="1050" dirty="0"/>
          </a:p>
        </p:txBody>
      </p:sp>
      <p:sp>
        <p:nvSpPr>
          <p:cNvPr id="21" name="Text 19"/>
          <p:cNvSpPr/>
          <p:nvPr/>
        </p:nvSpPr>
        <p:spPr>
          <a:xfrm>
            <a:off x="274320" y="4279392"/>
            <a:ext cx="457200" cy="4572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2" name="Shape 20"/>
          <p:cNvSpPr/>
          <p:nvPr/>
        </p:nvSpPr>
        <p:spPr>
          <a:xfrm>
            <a:off x="777240" y="4325112"/>
            <a:ext cx="54864" cy="502920"/>
          </a:xfrm>
          <a:prstGeom prst="rect">
            <a:avLst/>
          </a:prstGeom>
          <a:solidFill>
            <a:srgbClr val="F0883E"/>
          </a:solidFill>
          <a:ln w="12700">
            <a:solidFill>
              <a:srgbClr val="F0883E"/>
            </a:solidFill>
            <a:prstDash val="solid"/>
          </a:ln>
        </p:spPr>
        <p:txBody>
          <a:bodyPr/>
          <a:lstStyle/>
          <a:p>
            <a:endParaRPr lang="es-PA"/>
          </a:p>
        </p:txBody>
      </p:sp>
      <p:sp>
        <p:nvSpPr>
          <p:cNvPr id="23" name="Text 21"/>
          <p:cNvSpPr/>
          <p:nvPr/>
        </p:nvSpPr>
        <p:spPr>
          <a:xfrm>
            <a:off x="914400" y="4261104"/>
            <a:ext cx="7955280" cy="274320"/>
          </a:xfrm>
          <a:prstGeom prst="rect">
            <a:avLst/>
          </a:prstGeom>
          <a:noFill/>
          <a:ln/>
        </p:spPr>
        <p:txBody>
          <a:bodyPr wrap="square" rtlCol="0" anchor="ctr"/>
          <a:lstStyle/>
          <a:p>
            <a:pPr marL="0" indent="0">
              <a:buNone/>
            </a:pPr>
            <a:r>
              <a:rPr lang="en-US" sz="1200" b="1" dirty="0">
                <a:solidFill>
                  <a:srgbClr val="F0883E"/>
                </a:solidFill>
                <a:latin typeface="Consolas" pitchFamily="34" charset="0"/>
                <a:ea typeface="Consolas" pitchFamily="34" charset="-122"/>
                <a:cs typeface="Consolas" pitchFamily="34" charset="-120"/>
              </a:rPr>
              <a:t>WordPress detectado en FutbolLibreTV</a:t>
            </a:r>
            <a:endParaRPr lang="en-US" sz="1200" dirty="0"/>
          </a:p>
        </p:txBody>
      </p:sp>
      <p:sp>
        <p:nvSpPr>
          <p:cNvPr id="24" name="Text 22"/>
          <p:cNvSpPr/>
          <p:nvPr/>
        </p:nvSpPr>
        <p:spPr>
          <a:xfrm>
            <a:off x="914400" y="4553712"/>
            <a:ext cx="7955280" cy="411480"/>
          </a:xfrm>
          <a:prstGeom prst="rect">
            <a:avLst/>
          </a:prstGeom>
          <a:noFill/>
          <a:ln/>
        </p:spPr>
        <p:txBody>
          <a:bodyPr wrap="square" rtlCol="0" anchor="ctr"/>
          <a:lstStyle/>
          <a:p>
            <a:pPr marL="0" indent="0">
              <a:buNone/>
            </a:pPr>
            <a:r>
              <a:rPr lang="en-US" sz="1050" dirty="0">
                <a:solidFill>
                  <a:srgbClr val="F0F6FC"/>
                </a:solidFill>
                <a:latin typeface="Calibri" pitchFamily="34" charset="0"/>
                <a:ea typeface="Calibri" pitchFamily="34" charset="-122"/>
                <a:cs typeface="Calibri" pitchFamily="34" charset="-120"/>
              </a:rPr>
              <a:t>Pentest Tools detectó WordPress en futbollibretv.su y recomendó un escaneo específico para CMS. Los sitios WordPress tienen vectores de ataque adicionales (plugins, temas) que requieren revisión especial.</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FFF"/>
          </a:solidFill>
          <a:ln w="12700">
            <a:solidFill>
              <a:srgbClr val="00BFFF"/>
            </a:solidFill>
            <a:prstDash val="solid"/>
          </a:ln>
        </p:spPr>
        <p:txBody>
          <a:bodyPr/>
          <a:lstStyle/>
          <a:p>
            <a:endParaRPr lang="es-PA"/>
          </a:p>
        </p:txBody>
      </p:sp>
      <p:sp>
        <p:nvSpPr>
          <p:cNvPr id="3" name="Text 1"/>
          <p:cNvSpPr/>
          <p:nvPr/>
        </p:nvSpPr>
        <p:spPr>
          <a:xfrm>
            <a:off x="457200" y="1280160"/>
            <a:ext cx="8229600" cy="731520"/>
          </a:xfrm>
          <a:prstGeom prst="rect">
            <a:avLst/>
          </a:prstGeom>
          <a:noFill/>
          <a:ln/>
        </p:spPr>
        <p:txBody>
          <a:bodyPr wrap="square" rtlCol="0" anchor="ctr"/>
          <a:lstStyle/>
          <a:p>
            <a:pPr marL="0" indent="0" algn="ctr">
              <a:buNone/>
            </a:pPr>
            <a:r>
              <a:rPr lang="en-US" sz="3800" b="1" dirty="0">
                <a:solidFill>
                  <a:srgbClr val="F0F6FC"/>
                </a:solidFill>
                <a:latin typeface="Consolas" pitchFamily="34" charset="0"/>
                <a:ea typeface="Consolas" pitchFamily="34" charset="-122"/>
                <a:cs typeface="Consolas" pitchFamily="34" charset="-120"/>
              </a:rPr>
              <a:t>Fin de la Presentación</a:t>
            </a:r>
            <a:endParaRPr lang="en-US" sz="3800" dirty="0"/>
          </a:p>
        </p:txBody>
      </p:sp>
      <p:sp>
        <p:nvSpPr>
          <p:cNvPr id="4" name="Shape 2"/>
          <p:cNvSpPr/>
          <p:nvPr/>
        </p:nvSpPr>
        <p:spPr>
          <a:xfrm>
            <a:off x="2743200" y="2148840"/>
            <a:ext cx="3657600" cy="36576"/>
          </a:xfrm>
          <a:prstGeom prst="rect">
            <a:avLst/>
          </a:prstGeom>
          <a:solidFill>
            <a:srgbClr val="00BFFF"/>
          </a:solidFill>
          <a:ln w="12700">
            <a:solidFill>
              <a:srgbClr val="00BFFF"/>
            </a:solidFill>
            <a:prstDash val="solid"/>
          </a:ln>
        </p:spPr>
        <p:txBody>
          <a:bodyPr/>
          <a:lstStyle/>
          <a:p>
            <a:endParaRPr lang="es-PA"/>
          </a:p>
        </p:txBody>
      </p:sp>
      <p:sp>
        <p:nvSpPr>
          <p:cNvPr id="5" name="Text 3"/>
          <p:cNvSpPr/>
          <p:nvPr/>
        </p:nvSpPr>
        <p:spPr>
          <a:xfrm>
            <a:off x="457200" y="2286000"/>
            <a:ext cx="8229600" cy="365760"/>
          </a:xfrm>
          <a:prstGeom prst="rect">
            <a:avLst/>
          </a:prstGeom>
          <a:noFill/>
          <a:ln/>
        </p:spPr>
        <p:txBody>
          <a:bodyPr wrap="square" rtlCol="0" anchor="ctr"/>
          <a:lstStyle/>
          <a:p>
            <a:pPr marL="0" indent="0" algn="ctr">
              <a:buNone/>
            </a:pPr>
            <a:r>
              <a:rPr lang="en-US" sz="1300" dirty="0">
                <a:solidFill>
                  <a:srgbClr val="8B949E"/>
                </a:solidFill>
                <a:latin typeface="Consolas" pitchFamily="34" charset="0"/>
                <a:ea typeface="Consolas" pitchFamily="34" charset="-122"/>
                <a:cs typeface="Consolas" pitchFamily="34" charset="-120"/>
              </a:rPr>
              <a:t>Herramientas utilizadas: Nmap 7.99  •  Zenmap  •  Pentest Tools</a:t>
            </a:r>
            <a:endParaRPr lang="en-US" sz="1300" dirty="0"/>
          </a:p>
        </p:txBody>
      </p:sp>
      <p:sp>
        <p:nvSpPr>
          <p:cNvPr id="6" name="Text 4"/>
          <p:cNvSpPr/>
          <p:nvPr/>
        </p:nvSpPr>
        <p:spPr>
          <a:xfrm>
            <a:off x="457200" y="2743200"/>
            <a:ext cx="8229600" cy="365760"/>
          </a:xfrm>
          <a:prstGeom prst="rect">
            <a:avLst/>
          </a:prstGeom>
          <a:noFill/>
          <a:ln/>
        </p:spPr>
        <p:txBody>
          <a:bodyPr wrap="square" rtlCol="0" anchor="ctr"/>
          <a:lstStyle/>
          <a:p>
            <a:pPr marL="0" indent="0" algn="ctr">
              <a:buNone/>
            </a:pPr>
            <a:r>
              <a:rPr lang="en-US" sz="1200" dirty="0">
                <a:solidFill>
                  <a:srgbClr val="8B949E"/>
                </a:solidFill>
                <a:latin typeface="Calibri" pitchFamily="34" charset="0"/>
                <a:ea typeface="Calibri" pitchFamily="34" charset="-122"/>
                <a:cs typeface="Calibri" pitchFamily="34" charset="-120"/>
              </a:rPr>
              <a:t>10 dominios analizados  •  24 de abril de 2026  •  Panamá</a:t>
            </a:r>
            <a:endParaRPr lang="en-US" sz="1200" dirty="0"/>
          </a:p>
        </p:txBody>
      </p:sp>
      <p:sp>
        <p:nvSpPr>
          <p:cNvPr id="7" name="Shape 5"/>
          <p:cNvSpPr/>
          <p:nvPr/>
        </p:nvSpPr>
        <p:spPr>
          <a:xfrm>
            <a:off x="731520" y="3383280"/>
            <a:ext cx="1828800" cy="1371600"/>
          </a:xfrm>
          <a:prstGeom prst="roundRect">
            <a:avLst>
              <a:gd name="adj" fmla="val 5333"/>
            </a:avLst>
          </a:prstGeom>
          <a:solidFill>
            <a:srgbClr val="21262D"/>
          </a:solidFill>
          <a:ln w="12700">
            <a:solidFill>
              <a:srgbClr val="00BFFF"/>
            </a:solidFill>
            <a:prstDash val="solid"/>
          </a:ln>
        </p:spPr>
        <p:txBody>
          <a:bodyPr/>
          <a:lstStyle/>
          <a:p>
            <a:endParaRPr lang="es-PA"/>
          </a:p>
        </p:txBody>
      </p:sp>
      <p:sp>
        <p:nvSpPr>
          <p:cNvPr id="8" name="Text 6"/>
          <p:cNvSpPr/>
          <p:nvPr/>
        </p:nvSpPr>
        <p:spPr>
          <a:xfrm>
            <a:off x="731520" y="3429000"/>
            <a:ext cx="1828800" cy="685800"/>
          </a:xfrm>
          <a:prstGeom prst="rect">
            <a:avLst/>
          </a:prstGeom>
          <a:noFill/>
          <a:ln/>
        </p:spPr>
        <p:txBody>
          <a:bodyPr wrap="square" rtlCol="0" anchor="ctr"/>
          <a:lstStyle/>
          <a:p>
            <a:pPr marL="0" indent="0" algn="ctr">
              <a:buNone/>
            </a:pPr>
            <a:r>
              <a:rPr lang="en-US" sz="3600" b="1" dirty="0">
                <a:solidFill>
                  <a:srgbClr val="00BFFF"/>
                </a:solidFill>
                <a:latin typeface="Consolas" pitchFamily="34" charset="0"/>
                <a:ea typeface="Consolas" pitchFamily="34" charset="-122"/>
                <a:cs typeface="Consolas" pitchFamily="34" charset="-120"/>
              </a:rPr>
              <a:t>10</a:t>
            </a:r>
            <a:endParaRPr lang="en-US" sz="3600" dirty="0"/>
          </a:p>
        </p:txBody>
      </p:sp>
      <p:sp>
        <p:nvSpPr>
          <p:cNvPr id="9" name="Text 7"/>
          <p:cNvSpPr/>
          <p:nvPr/>
        </p:nvSpPr>
        <p:spPr>
          <a:xfrm>
            <a:off x="731520" y="4160520"/>
            <a:ext cx="1828800" cy="548640"/>
          </a:xfrm>
          <a:prstGeom prst="rect">
            <a:avLst/>
          </a:prstGeom>
          <a:noFill/>
          <a:ln/>
        </p:spPr>
        <p:txBody>
          <a:bodyPr wrap="square" rtlCol="0" anchor="ctr"/>
          <a:lstStyle/>
          <a:p>
            <a:pPr marL="0" indent="0" algn="ctr">
              <a:buNone/>
            </a:pPr>
            <a:r>
              <a:rPr lang="en-US" sz="1000" dirty="0">
                <a:solidFill>
                  <a:srgbClr val="8B949E"/>
                </a:solidFill>
                <a:latin typeface="Calibri" pitchFamily="34" charset="0"/>
                <a:ea typeface="Calibri" pitchFamily="34" charset="-122"/>
                <a:cs typeface="Calibri" pitchFamily="34" charset="-120"/>
              </a:rPr>
              <a:t>Dominios</a:t>
            </a:r>
            <a:endParaRPr lang="en-US" sz="1000" dirty="0"/>
          </a:p>
          <a:p>
            <a:pPr marL="0" indent="0" algn="ctr">
              <a:buNone/>
            </a:pPr>
            <a:r>
              <a:rPr lang="en-US" sz="1000" dirty="0">
                <a:solidFill>
                  <a:srgbClr val="8B949E"/>
                </a:solidFill>
                <a:latin typeface="Calibri" pitchFamily="34" charset="0"/>
                <a:ea typeface="Calibri" pitchFamily="34" charset="-122"/>
                <a:cs typeface="Calibri" pitchFamily="34" charset="-120"/>
              </a:rPr>
              <a:t>escanados</a:t>
            </a:r>
            <a:endParaRPr lang="en-US" sz="1000" dirty="0"/>
          </a:p>
        </p:txBody>
      </p:sp>
      <p:sp>
        <p:nvSpPr>
          <p:cNvPr id="10" name="Shape 8"/>
          <p:cNvSpPr/>
          <p:nvPr/>
        </p:nvSpPr>
        <p:spPr>
          <a:xfrm>
            <a:off x="2834640" y="3383280"/>
            <a:ext cx="1828800" cy="1371600"/>
          </a:xfrm>
          <a:prstGeom prst="roundRect">
            <a:avLst>
              <a:gd name="adj" fmla="val 5333"/>
            </a:avLst>
          </a:prstGeom>
          <a:solidFill>
            <a:srgbClr val="21262D"/>
          </a:solidFill>
          <a:ln w="12700">
            <a:solidFill>
              <a:srgbClr val="39D353"/>
            </a:solidFill>
            <a:prstDash val="solid"/>
          </a:ln>
        </p:spPr>
        <p:txBody>
          <a:bodyPr/>
          <a:lstStyle/>
          <a:p>
            <a:endParaRPr lang="es-PA"/>
          </a:p>
        </p:txBody>
      </p:sp>
      <p:sp>
        <p:nvSpPr>
          <p:cNvPr id="11" name="Text 9"/>
          <p:cNvSpPr/>
          <p:nvPr/>
        </p:nvSpPr>
        <p:spPr>
          <a:xfrm>
            <a:off x="2834640" y="3429000"/>
            <a:ext cx="1828800" cy="685800"/>
          </a:xfrm>
          <a:prstGeom prst="rect">
            <a:avLst/>
          </a:prstGeom>
          <a:noFill/>
          <a:ln/>
        </p:spPr>
        <p:txBody>
          <a:bodyPr wrap="square" rtlCol="0" anchor="ctr"/>
          <a:lstStyle/>
          <a:p>
            <a:pPr marL="0" indent="0" algn="ctr">
              <a:buNone/>
            </a:pPr>
            <a:r>
              <a:rPr lang="en-US" sz="3600" b="1" dirty="0">
                <a:solidFill>
                  <a:srgbClr val="39D353"/>
                </a:solidFill>
                <a:latin typeface="Consolas" pitchFamily="34" charset="0"/>
                <a:ea typeface="Consolas" pitchFamily="34" charset="-122"/>
                <a:cs typeface="Consolas" pitchFamily="34" charset="-120"/>
              </a:rPr>
              <a:t>0</a:t>
            </a:r>
            <a:endParaRPr lang="en-US" sz="3600" dirty="0"/>
          </a:p>
        </p:txBody>
      </p:sp>
      <p:sp>
        <p:nvSpPr>
          <p:cNvPr id="12" name="Text 10"/>
          <p:cNvSpPr/>
          <p:nvPr/>
        </p:nvSpPr>
        <p:spPr>
          <a:xfrm>
            <a:off x="2834640" y="4160520"/>
            <a:ext cx="1828800" cy="548640"/>
          </a:xfrm>
          <a:prstGeom prst="rect">
            <a:avLst/>
          </a:prstGeom>
          <a:noFill/>
          <a:ln/>
        </p:spPr>
        <p:txBody>
          <a:bodyPr wrap="square" rtlCol="0" anchor="ctr"/>
          <a:lstStyle/>
          <a:p>
            <a:pPr marL="0" indent="0" algn="ctr">
              <a:buNone/>
            </a:pPr>
            <a:r>
              <a:rPr lang="en-US" sz="1000" dirty="0">
                <a:solidFill>
                  <a:srgbClr val="8B949E"/>
                </a:solidFill>
                <a:latin typeface="Calibri" pitchFamily="34" charset="0"/>
                <a:ea typeface="Calibri" pitchFamily="34" charset="-122"/>
                <a:cs typeface="Calibri" pitchFamily="34" charset="-120"/>
              </a:rPr>
              <a:t>Riesgo</a:t>
            </a:r>
            <a:endParaRPr lang="en-US" sz="1000" dirty="0"/>
          </a:p>
          <a:p>
            <a:pPr marL="0" indent="0" algn="ctr">
              <a:buNone/>
            </a:pPr>
            <a:r>
              <a:rPr lang="en-US" sz="1000" dirty="0">
                <a:solidFill>
                  <a:srgbClr val="8B949E"/>
                </a:solidFill>
                <a:latin typeface="Calibri" pitchFamily="34" charset="0"/>
                <a:ea typeface="Calibri" pitchFamily="34" charset="-122"/>
                <a:cs typeface="Calibri" pitchFamily="34" charset="-120"/>
              </a:rPr>
              <a:t>Crítico/Alto</a:t>
            </a:r>
            <a:endParaRPr lang="en-US" sz="1000" dirty="0"/>
          </a:p>
        </p:txBody>
      </p:sp>
      <p:sp>
        <p:nvSpPr>
          <p:cNvPr id="13" name="Shape 11"/>
          <p:cNvSpPr/>
          <p:nvPr/>
        </p:nvSpPr>
        <p:spPr>
          <a:xfrm>
            <a:off x="4937760" y="3383280"/>
            <a:ext cx="1828800" cy="1371600"/>
          </a:xfrm>
          <a:prstGeom prst="roundRect">
            <a:avLst>
              <a:gd name="adj" fmla="val 5333"/>
            </a:avLst>
          </a:prstGeom>
          <a:solidFill>
            <a:srgbClr val="21262D"/>
          </a:solidFill>
          <a:ln w="12700">
            <a:solidFill>
              <a:srgbClr val="F0883E"/>
            </a:solidFill>
            <a:prstDash val="solid"/>
          </a:ln>
        </p:spPr>
        <p:txBody>
          <a:bodyPr/>
          <a:lstStyle/>
          <a:p>
            <a:endParaRPr lang="es-PA"/>
          </a:p>
        </p:txBody>
      </p:sp>
      <p:sp>
        <p:nvSpPr>
          <p:cNvPr id="14" name="Text 12"/>
          <p:cNvSpPr/>
          <p:nvPr/>
        </p:nvSpPr>
        <p:spPr>
          <a:xfrm>
            <a:off x="4937760" y="3429000"/>
            <a:ext cx="1828800" cy="685800"/>
          </a:xfrm>
          <a:prstGeom prst="rect">
            <a:avLst/>
          </a:prstGeom>
          <a:noFill/>
          <a:ln/>
        </p:spPr>
        <p:txBody>
          <a:bodyPr wrap="square" rtlCol="0" anchor="ctr"/>
          <a:lstStyle/>
          <a:p>
            <a:pPr marL="0" indent="0" algn="ctr">
              <a:buNone/>
            </a:pPr>
            <a:r>
              <a:rPr lang="en-US" sz="3600" b="1" dirty="0">
                <a:solidFill>
                  <a:srgbClr val="F0883E"/>
                </a:solidFill>
                <a:latin typeface="Consolas" pitchFamily="34" charset="0"/>
                <a:ea typeface="Consolas" pitchFamily="34" charset="-122"/>
                <a:cs typeface="Consolas" pitchFamily="34" charset="-120"/>
              </a:rPr>
              <a:t>6</a:t>
            </a:r>
            <a:endParaRPr lang="en-US" sz="3600" dirty="0"/>
          </a:p>
        </p:txBody>
      </p:sp>
      <p:sp>
        <p:nvSpPr>
          <p:cNvPr id="15" name="Text 13"/>
          <p:cNvSpPr/>
          <p:nvPr/>
        </p:nvSpPr>
        <p:spPr>
          <a:xfrm>
            <a:off x="4937760" y="4160520"/>
            <a:ext cx="1828800" cy="548640"/>
          </a:xfrm>
          <a:prstGeom prst="rect">
            <a:avLst/>
          </a:prstGeom>
          <a:noFill/>
          <a:ln/>
        </p:spPr>
        <p:txBody>
          <a:bodyPr wrap="square" rtlCol="0" anchor="ctr"/>
          <a:lstStyle/>
          <a:p>
            <a:pPr marL="0" indent="0" algn="ctr">
              <a:buNone/>
            </a:pPr>
            <a:r>
              <a:rPr lang="en-US" sz="1000" dirty="0">
                <a:solidFill>
                  <a:srgbClr val="8B949E"/>
                </a:solidFill>
                <a:latin typeface="Calibri" pitchFamily="34" charset="0"/>
                <a:ea typeface="Calibri" pitchFamily="34" charset="-122"/>
                <a:cs typeface="Calibri" pitchFamily="34" charset="-120"/>
              </a:rPr>
              <a:t>Dominios con</a:t>
            </a:r>
            <a:endParaRPr lang="en-US" sz="1000" dirty="0"/>
          </a:p>
          <a:p>
            <a:pPr marL="0" indent="0" algn="ctr">
              <a:buNone/>
            </a:pPr>
            <a:r>
              <a:rPr lang="en-US" sz="1000" dirty="0">
                <a:solidFill>
                  <a:srgbClr val="8B949E"/>
                </a:solidFill>
                <a:latin typeface="Calibri" pitchFamily="34" charset="0"/>
                <a:ea typeface="Calibri" pitchFamily="34" charset="-122"/>
                <a:cs typeface="Calibri" pitchFamily="34" charset="-120"/>
              </a:rPr>
              <a:t>Riesgo Medio</a:t>
            </a:r>
            <a:endParaRPr lang="en-US" sz="1000" dirty="0"/>
          </a:p>
        </p:txBody>
      </p:sp>
      <p:sp>
        <p:nvSpPr>
          <p:cNvPr id="16" name="Shape 14"/>
          <p:cNvSpPr/>
          <p:nvPr/>
        </p:nvSpPr>
        <p:spPr>
          <a:xfrm>
            <a:off x="7040880" y="3383280"/>
            <a:ext cx="1828800" cy="1371600"/>
          </a:xfrm>
          <a:prstGeom prst="roundRect">
            <a:avLst>
              <a:gd name="adj" fmla="val 5333"/>
            </a:avLst>
          </a:prstGeom>
          <a:solidFill>
            <a:srgbClr val="21262D"/>
          </a:solidFill>
          <a:ln w="12700">
            <a:solidFill>
              <a:srgbClr val="FF6B6B"/>
            </a:solidFill>
            <a:prstDash val="solid"/>
          </a:ln>
        </p:spPr>
        <p:txBody>
          <a:bodyPr/>
          <a:lstStyle/>
          <a:p>
            <a:endParaRPr lang="es-PA"/>
          </a:p>
        </p:txBody>
      </p:sp>
      <p:sp>
        <p:nvSpPr>
          <p:cNvPr id="17" name="Text 15"/>
          <p:cNvSpPr/>
          <p:nvPr/>
        </p:nvSpPr>
        <p:spPr>
          <a:xfrm>
            <a:off x="7040880" y="3429000"/>
            <a:ext cx="1828800" cy="685800"/>
          </a:xfrm>
          <a:prstGeom prst="rect">
            <a:avLst/>
          </a:prstGeom>
          <a:noFill/>
          <a:ln/>
        </p:spPr>
        <p:txBody>
          <a:bodyPr wrap="square" rtlCol="0" anchor="ctr"/>
          <a:lstStyle/>
          <a:p>
            <a:pPr marL="0" indent="0" algn="ctr">
              <a:buNone/>
            </a:pPr>
            <a:r>
              <a:rPr lang="en-US" sz="3600" b="1" dirty="0">
                <a:solidFill>
                  <a:srgbClr val="FF6B6B"/>
                </a:solidFill>
                <a:latin typeface="Consolas" pitchFamily="34" charset="0"/>
                <a:ea typeface="Consolas" pitchFamily="34" charset="-122"/>
                <a:cs typeface="Consolas" pitchFamily="34" charset="-120"/>
              </a:rPr>
              <a:t>23</a:t>
            </a:r>
            <a:endParaRPr lang="en-US" sz="3600" dirty="0"/>
          </a:p>
        </p:txBody>
      </p:sp>
      <p:sp>
        <p:nvSpPr>
          <p:cNvPr id="18" name="Text 16"/>
          <p:cNvSpPr/>
          <p:nvPr/>
        </p:nvSpPr>
        <p:spPr>
          <a:xfrm>
            <a:off x="7040880" y="4160520"/>
            <a:ext cx="1828800" cy="548640"/>
          </a:xfrm>
          <a:prstGeom prst="rect">
            <a:avLst/>
          </a:prstGeom>
          <a:noFill/>
          <a:ln/>
        </p:spPr>
        <p:txBody>
          <a:bodyPr wrap="square" rtlCol="0" anchor="ctr"/>
          <a:lstStyle/>
          <a:p>
            <a:pPr marL="0" indent="0" algn="ctr">
              <a:buNone/>
            </a:pPr>
            <a:r>
              <a:rPr lang="en-US" sz="1000" dirty="0">
                <a:solidFill>
                  <a:srgbClr val="8B949E"/>
                </a:solidFill>
                <a:latin typeface="Calibri" pitchFamily="34" charset="0"/>
                <a:ea typeface="Calibri" pitchFamily="34" charset="-122"/>
                <a:cs typeface="Calibri" pitchFamily="34" charset="-120"/>
              </a:rPr>
              <a:t>Subdominios</a:t>
            </a:r>
            <a:endParaRPr lang="en-US" sz="1000" dirty="0"/>
          </a:p>
          <a:p>
            <a:pPr marL="0" indent="0" algn="ctr">
              <a:buNone/>
            </a:pPr>
            <a:r>
              <a:rPr lang="en-US" sz="1000" dirty="0">
                <a:solidFill>
                  <a:srgbClr val="8B949E"/>
                </a:solidFill>
                <a:latin typeface="Calibri" pitchFamily="34" charset="0"/>
                <a:ea typeface="Calibri" pitchFamily="34" charset="-122"/>
                <a:cs typeface="Calibri" pitchFamily="34" charset="-120"/>
              </a:rPr>
              <a:t>(Titan)</a:t>
            </a:r>
            <a:endParaRPr lang="en-US" sz="1000" dirty="0"/>
          </a:p>
        </p:txBody>
      </p:sp>
      <p:sp>
        <p:nvSpPr>
          <p:cNvPr id="19" name="Shape 17"/>
          <p:cNvSpPr/>
          <p:nvPr/>
        </p:nvSpPr>
        <p:spPr>
          <a:xfrm>
            <a:off x="0" y="5029200"/>
            <a:ext cx="9144000" cy="114300"/>
          </a:xfrm>
          <a:prstGeom prst="rect">
            <a:avLst/>
          </a:prstGeom>
          <a:solidFill>
            <a:srgbClr val="161B22"/>
          </a:solidFill>
          <a:ln w="12700">
            <a:solidFill>
              <a:srgbClr val="161B22"/>
            </a:solidFill>
            <a:prstDash val="solid"/>
          </a:ln>
        </p:spPr>
        <p:txBody>
          <a:bodyPr/>
          <a:lstStyle/>
          <a:p>
            <a:endParaRPr lang="es-PA"/>
          </a:p>
        </p:txBody>
      </p:sp>
      <p:sp>
        <p:nvSpPr>
          <p:cNvPr id="20" name="Text 18"/>
          <p:cNvSpPr/>
          <p:nvPr/>
        </p:nvSpPr>
        <p:spPr>
          <a:xfrm>
            <a:off x="0" y="5047488"/>
            <a:ext cx="9144000" cy="91440"/>
          </a:xfrm>
          <a:prstGeom prst="rect">
            <a:avLst/>
          </a:prstGeom>
          <a:noFill/>
          <a:ln/>
        </p:spPr>
        <p:txBody>
          <a:bodyPr wrap="square" rtlCol="0" anchor="ctr"/>
          <a:lstStyle/>
          <a:p>
            <a:pPr marL="0" indent="0" algn="ctr">
              <a:buNone/>
            </a:pPr>
            <a:r>
              <a:rPr lang="en-US" sz="700" dirty="0">
                <a:solidFill>
                  <a:srgbClr val="00BFFF"/>
                </a:solidFill>
                <a:latin typeface="Consolas" pitchFamily="34" charset="0"/>
                <a:ea typeface="Consolas" pitchFamily="34" charset="-122"/>
                <a:cs typeface="Consolas" pitchFamily="34" charset="-120"/>
              </a:rPr>
              <a:t>SEGURIDAD INFORMÁTICA  •  RECONOCIMIENTO DE RED  •  ANÁLISIS DE VULNERABILIDADES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2337</Words>
  <Application>Microsoft Office PowerPoint</Application>
  <PresentationFormat>Presentación en pantalla (16:9)</PresentationFormat>
  <Paragraphs>275</Paragraphs>
  <Slides>18</Slides>
  <Notes>18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Aptos Display</vt: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Escaneo de Dominios con Nmap y Pentest Tools</dc:title>
  <dc:subject>PptxGenJS Presentation</dc:subject>
  <dc:creator>PptxGenJS</dc:creator>
  <cp:lastModifiedBy>Itmar Castillo</cp:lastModifiedBy>
  <cp:revision>3</cp:revision>
  <dcterms:created xsi:type="dcterms:W3CDTF">2026-04-25T03:55:57Z</dcterms:created>
  <dcterms:modified xsi:type="dcterms:W3CDTF">2026-04-25T05:11:13Z</dcterms:modified>
</cp:coreProperties>
</file>